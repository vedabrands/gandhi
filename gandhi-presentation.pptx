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582B-A542-AE62-9A54-9F8202A96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A7B8D-3EBC-EF8B-AF19-8449F838A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E6E51-8963-5C55-FF7A-52D1EEC69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D0F1C-9086-C680-B742-1DD62B37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0AC35-99E5-1013-C6A0-66EFEEAE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173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A2D8-9365-FDBD-16E1-6F13B71C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58DFA-48CA-7DDC-BC05-6E83804EA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E769-52C3-8E43-E6C8-3DC29D91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7F83-44A5-CBF4-57BB-79A59ED8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76CEC-64A0-CEA5-717E-95A14A6B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3459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C6C6-2FD0-F8D1-3E6A-16F6BB55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95C89-E355-04B9-ADD1-07F87BDCB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77DC2-0DF1-AEA0-B1D3-C24A2B7B1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011EB-8BCD-4F99-62AF-5D3E1560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564C6-73A5-57A2-DA39-F761FB30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444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E478-BA4B-BF60-E56D-46F5C931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FACAD-70B9-EBF9-D58F-0FD065903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9D059-A1F2-5AEE-A20A-69EE542A9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97B8E-3DEF-287E-FD7D-2E46A788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E8CE7-9B27-88F5-DBCF-7FDE800B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B9F9C-E0F2-8FCA-E3BE-0F71C079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3456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83CB-4B84-2B5F-06DF-869E9BEDF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7BEC4-91AE-62BC-281E-72E8ED59C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256B8-B520-3C66-DF9B-EDA57132E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F874E-B8DB-CB53-9F95-BCED84E5B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FD31C-9E96-F66E-7BB0-41F26EFDA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51C3A4-2AF5-7D27-326F-0DC93C7F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641E8-B6C7-6263-689F-8346EBC5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2E0A6-6169-35FC-7F9E-D1082B2D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911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5056-787F-53A8-8576-4C844A7C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CAE80-E95D-EA67-1723-50E6D871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B20A3-89FE-AEDE-1DEF-A8BAC9CD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717CA-C5BD-B965-3360-3105EA66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674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D29F0-6672-95AF-920C-C72F3BBA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AF4C0-EDB5-EF16-8770-6F324C1F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6B4AF-ADE1-81CF-E760-A1F12902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532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28D6-10DB-107F-060C-BA6E1D00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853AA-59FA-B3E8-E0D4-CA5E3F850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468EB-D75F-E601-11B6-95F2A16BC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CF3A0-9879-817C-1F19-4080BF49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C8B7C-764D-7CBE-0FA1-50EFD3FB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FEC01-C389-1325-A288-5A545E2B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388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FA26-15F1-F68A-2BBE-05E34589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404587-75FA-F9E8-072B-2DB0ADDE4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09789-3C28-B0FA-C886-017D05166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85ADE-1D6C-8DA0-7E9A-0C17D532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7A68C-C413-ADD1-D2F2-AB4BC870F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0D09A-0413-00A7-3E75-D30E07786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523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E8E0-252D-F4D5-2BD5-AFE443A4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B2386-393B-9B95-6DEC-F1E42259B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0239D-5A78-1A0A-2409-63C5A0A9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1F14-7B6F-837B-D116-5CFE9812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1F601-CAE2-E874-FC97-09ECE909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255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3F9DC-D299-93F2-1985-314D7A683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548F0-DAD9-9DB0-B79B-E7004D5A7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6EA93-88BB-FB20-DBC3-071FD692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4D6D2-580F-0A69-A832-5B798006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B5137-0EC5-DE61-69E9-F0DC3A0A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79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7C3F3-F938-F365-54C5-5CD180DA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BB018-337C-EB93-76EA-EE1D16714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7D4E3-55F9-A0AA-1450-E1B3FB6A3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CEBF9-7057-4F18-9884-6A642D3B3D67}" type="datetimeFigureOut">
              <a:rPr lang="en-ID" smtClean="0"/>
              <a:t>30/09/2026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BD0A5-0E74-5ED0-C2AC-76B257AF4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D3AA4-4F1D-3609-584F-251CE2526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1C156-570F-4AF2-839B-8A2692BCD67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937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A21AC8-B85F-AC23-84D4-F7DA5E0A09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A35423-B7F2-162D-C60A-34E6876F67B1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FC3BA6C5-3849-724D-D7B2-3D5251367EA7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C903-F07D-F74D-D1F4-709F144F5051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3B4E2-5651-D745-AFC4-5CC3A1190549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6EB39-E7CA-001A-EE6F-3D091FC87C2D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8B1E0A-2D38-4414-7CA1-921CAB1356B6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557EB-5875-CCB5-FEC0-889F72D3E219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I • 21ST CENTURY INQUIRY</a:t>
            </a:r>
            <a:endParaRPr lang="en-ID" sz="950" b="1">
              <a:solidFill>
                <a:srgbClr val="7A1F1F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C677A4-BCD9-4CB2-1F35-549539CB069F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I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3A4FF6-FBA8-9030-E020-11BDE973F74C}"/>
              </a:ext>
            </a:extLst>
          </p:cNvPr>
          <p:cNvSpPr txBox="1"/>
          <p:nvPr/>
        </p:nvSpPr>
        <p:spPr>
          <a:xfrm>
            <a:off x="635000" y="685800"/>
            <a:ext cx="1092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2A1A0E"/>
                </a:solidFill>
                <a:latin typeface="Georgia" panose="02040502050405020303" pitchFamily="18" charset="0"/>
              </a:rPr>
              <a:t>IS GANDHIAN PHILOSOPHY STILL RELEVANT IN THE 21ST CENTURY?</a:t>
            </a:r>
            <a:endParaRPr lang="en-ID" sz="1600" b="1">
              <a:solidFill>
                <a:srgbClr val="2A1A0E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B34FBD-74D7-430A-002A-20898D1A09AB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D5F719-2DE9-5ADE-DD9C-5C072AC895EF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An Exploration of Truth, Non-Violence, and Moral Courage in the Modern Age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04A5943-583E-B3A1-DE55-F06F7CC3AE0C}"/>
              </a:ext>
            </a:extLst>
          </p:cNvPr>
          <p:cNvSpPr/>
          <p:nvPr/>
        </p:nvSpPr>
        <p:spPr>
          <a:xfrm>
            <a:off x="74295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B526BE1A-8C5B-C39B-C5A7-F8DF54B879DB}"/>
              </a:ext>
            </a:extLst>
          </p:cNvPr>
          <p:cNvSpPr/>
          <p:nvPr/>
        </p:nvSpPr>
        <p:spPr>
          <a:xfrm>
            <a:off x="75057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A7CFEAEE-C755-6FAC-CBED-303A3E6DB573}"/>
              </a:ext>
            </a:extLst>
          </p:cNvPr>
          <p:cNvSpPr/>
          <p:nvPr/>
        </p:nvSpPr>
        <p:spPr>
          <a:xfrm>
            <a:off x="113919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D26CF084-FAF8-2B8B-C946-B1220E533EC4}"/>
              </a:ext>
            </a:extLst>
          </p:cNvPr>
          <p:cNvSpPr/>
          <p:nvPr/>
        </p:nvSpPr>
        <p:spPr>
          <a:xfrm>
            <a:off x="75057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387C733C-7C5A-B63B-E928-EF185E78A539}"/>
              </a:ext>
            </a:extLst>
          </p:cNvPr>
          <p:cNvSpPr/>
          <p:nvPr/>
        </p:nvSpPr>
        <p:spPr>
          <a:xfrm>
            <a:off x="113919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6D73CF-90F2-8E97-FBB0-980185C779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F0F9E2A-BA37-56AA-CCE1-271247B7D509}"/>
              </a:ext>
            </a:extLst>
          </p:cNvPr>
          <p:cNvSpPr/>
          <p:nvPr/>
        </p:nvSpPr>
        <p:spPr>
          <a:xfrm>
            <a:off x="76327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F9E3E2-D332-4C82-D260-89FD6C6DB411}"/>
              </a:ext>
            </a:extLst>
          </p:cNvPr>
          <p:cNvSpPr txBox="1"/>
          <p:nvPr/>
        </p:nvSpPr>
        <p:spPr>
          <a:xfrm>
            <a:off x="7556500" y="3733800"/>
            <a:ext cx="387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i="1">
                <a:solidFill>
                  <a:srgbClr val="FAF4E6"/>
                </a:solidFill>
                <a:latin typeface="Georgia" panose="02040502050405020303" pitchFamily="18" charset="0"/>
              </a:rPr>
              <a:t>Mohandas Karamchand Gandhi (1869–1948) — Father of the Nation and apostle of non-violence.</a:t>
            </a:r>
            <a:endParaRPr lang="en-ID" sz="900" i="1">
              <a:solidFill>
                <a:srgbClr val="FAF4E6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B6C225F-3B1A-1092-8DBB-5DB03E4B81E6}"/>
              </a:ext>
            </a:extLst>
          </p:cNvPr>
          <p:cNvSpPr/>
          <p:nvPr/>
        </p:nvSpPr>
        <p:spPr>
          <a:xfrm>
            <a:off x="75565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"My life is my message."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F441C23-BAC2-17B6-5099-65881532FCED}"/>
              </a:ext>
            </a:extLst>
          </p:cNvPr>
          <p:cNvGrpSpPr/>
          <p:nvPr/>
        </p:nvGrpSpPr>
        <p:grpSpPr>
          <a:xfrm>
            <a:off x="635000" y="1498600"/>
            <a:ext cx="6540500" cy="736600"/>
            <a:chOff x="635000" y="1498600"/>
            <a:chExt cx="6540500" cy="7366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2491F14-BBA7-C888-0FA0-5C33FFFDF4DD}"/>
                </a:ext>
              </a:extLst>
            </p:cNvPr>
            <p:cNvSpPr/>
            <p:nvPr/>
          </p:nvSpPr>
          <p:spPr>
            <a:xfrm>
              <a:off x="635000" y="14986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ED0DB05-374E-B3B5-D792-0209212AF00F}"/>
                </a:ext>
              </a:extLst>
            </p:cNvPr>
            <p:cNvSpPr/>
            <p:nvPr/>
          </p:nvSpPr>
          <p:spPr>
            <a:xfrm>
              <a:off x="787400" y="17145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32DD63-1D6A-C196-765F-4F2F4E21DB19}"/>
                </a:ext>
              </a:extLst>
            </p:cNvPr>
            <p:cNvSpPr txBox="1"/>
            <p:nvPr/>
          </p:nvSpPr>
          <p:spPr>
            <a:xfrm>
              <a:off x="1244600" y="1498600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Gandhi Jayanti, 2 October — Commemorating the global heritage of peace and truth.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2F7959D-0E34-EF7C-883D-F7164F6AE066}"/>
              </a:ext>
            </a:extLst>
          </p:cNvPr>
          <p:cNvGrpSpPr/>
          <p:nvPr/>
        </p:nvGrpSpPr>
        <p:grpSpPr>
          <a:xfrm>
            <a:off x="635000" y="2412999"/>
            <a:ext cx="6540500" cy="736601"/>
            <a:chOff x="635000" y="2412999"/>
            <a:chExt cx="6540500" cy="73660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AC5C8A05-B7C0-AED5-E5BB-658C340691B3}"/>
                </a:ext>
              </a:extLst>
            </p:cNvPr>
            <p:cNvSpPr/>
            <p:nvPr/>
          </p:nvSpPr>
          <p:spPr>
            <a:xfrm>
              <a:off x="635000" y="24130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82CD146-BB72-21C0-6D02-9F3608CA0D12}"/>
                </a:ext>
              </a:extLst>
            </p:cNvPr>
            <p:cNvSpPr/>
            <p:nvPr/>
          </p:nvSpPr>
          <p:spPr>
            <a:xfrm>
              <a:off x="787400" y="26289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78661D6-DEA4-C83B-5CF8-3B6A400F1F7B}"/>
                </a:ext>
              </a:extLst>
            </p:cNvPr>
            <p:cNvSpPr txBox="1"/>
            <p:nvPr/>
          </p:nvSpPr>
          <p:spPr>
            <a:xfrm>
              <a:off x="1244600" y="2412999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Mohandas Karamchand Gandhi, 1869–1948 — Leader of India's non-violent freedom movement.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C1DA14F-01B3-87BB-BB6F-6B1F1938D1D7}"/>
              </a:ext>
            </a:extLst>
          </p:cNvPr>
          <p:cNvGrpSpPr/>
          <p:nvPr/>
        </p:nvGrpSpPr>
        <p:grpSpPr>
          <a:xfrm>
            <a:off x="635000" y="3327399"/>
            <a:ext cx="6540500" cy="736601"/>
            <a:chOff x="635000" y="3327399"/>
            <a:chExt cx="6540500" cy="736601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C0CE70D-1852-2C09-BBFC-472579CC87F9}"/>
                </a:ext>
              </a:extLst>
            </p:cNvPr>
            <p:cNvSpPr/>
            <p:nvPr/>
          </p:nvSpPr>
          <p:spPr>
            <a:xfrm>
              <a:off x="635000" y="33274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E837833-07A3-8353-CD3A-1B0F5578B5D6}"/>
                </a:ext>
              </a:extLst>
            </p:cNvPr>
            <p:cNvSpPr/>
            <p:nvPr/>
          </p:nvSpPr>
          <p:spPr>
            <a:xfrm>
              <a:off x="787400" y="35433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126444-6867-DCD6-FD85-F235C3E8F413}"/>
                </a:ext>
              </a:extLst>
            </p:cNvPr>
            <p:cNvSpPr txBox="1"/>
            <p:nvPr/>
          </p:nvSpPr>
          <p:spPr>
            <a:xfrm>
              <a:off x="1244600" y="3327399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Presented by [Your Name] — Examining the enduring relevance of Gandhian ideals today.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518157D-D892-BCE0-5FF0-482A2D0EE73E}"/>
              </a:ext>
            </a:extLst>
          </p:cNvPr>
          <p:cNvSpPr/>
          <p:nvPr/>
        </p:nvSpPr>
        <p:spPr>
          <a:xfrm>
            <a:off x="635000" y="5384800"/>
            <a:ext cx="6540500" cy="4826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50" b="1">
                <a:solidFill>
                  <a:srgbClr val="D4AF37"/>
                </a:solidFill>
                <a:latin typeface="Georgia" panose="02040502050405020303" pitchFamily="18" charset="0"/>
              </a:rPr>
              <a:t>❖   PRESENTED BY [YOUR NAME]       —       IN MEMORIAM MAHATMA GANDHI</a:t>
            </a:r>
            <a:endParaRPr lang="en-ID" sz="950" b="1">
              <a:solidFill>
                <a:srgbClr val="D4AF37"/>
              </a:solidFill>
              <a:latin typeface="Georgia" panose="02040502050405020303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2DBDBC-AEC5-D2EE-5B81-8A8DC6852FDB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3F9799-D9C0-FEF9-E7C7-23B808CCE4DA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791C1D-1A20-FCE4-91B1-4E652EE6FF6E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364BB3-FA59-901B-405C-8972F5E0E38B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I / X  ❖</a:t>
            </a:r>
          </a:p>
        </p:txBody>
      </p:sp>
    </p:spTree>
    <p:extLst>
      <p:ext uri="{BB962C8B-B14F-4D97-AF65-F5344CB8AC3E}">
        <p14:creationId xmlns:p14="http://schemas.microsoft.com/office/powerpoint/2010/main" val="151426260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F73EC9-49A2-FE71-B21D-7D764CF3BC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0A0EC0-00D9-0586-2FD8-794D6B8FC458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84EEAEA7-6CC2-64EB-4B6F-2CF9A2DB7FE7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D3153-2C85-027D-19AA-AACE5EF7818C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B0E80-4BE7-3E64-C064-EA87BD23F301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B15EB-6375-F6BC-8F25-015483FE5A3C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E1B05-CEE8-E537-CAE4-D35B2F26B3A1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F0A45-E7E9-492D-C692-0B6AC729E204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II • IDENTITY &amp; LEGACY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603F7D-F6ED-852E-F957-C5B715C26504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II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B69D8A-8A8C-BE08-2FBC-E643B5E11CD0}"/>
              </a:ext>
            </a:extLst>
          </p:cNvPr>
          <p:cNvSpPr txBox="1"/>
          <p:nvPr/>
        </p:nvSpPr>
        <p:spPr>
          <a:xfrm>
            <a:off x="635000" y="685800"/>
            <a:ext cx="1092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2A1A0E"/>
                </a:solidFill>
                <a:latin typeface="Georgia" panose="02040502050405020303" pitchFamily="18" charset="0"/>
              </a:rPr>
              <a:t>WHO WAS GANDHI?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6B86DB-6972-1FB2-65DC-6A5F5118043C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71AA8E-AF4B-7F91-9194-D1158A79AD1F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From a Young Barrister in London to the Leader of a Global Movement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8D7EB1-635B-3E2A-963A-39F168227930}"/>
              </a:ext>
            </a:extLst>
          </p:cNvPr>
          <p:cNvSpPr/>
          <p:nvPr/>
        </p:nvSpPr>
        <p:spPr>
          <a:xfrm>
            <a:off x="6350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4B3ECCAC-3301-E6A1-7700-F5F54D5C7D90}"/>
              </a:ext>
            </a:extLst>
          </p:cNvPr>
          <p:cNvSpPr/>
          <p:nvPr/>
        </p:nvSpPr>
        <p:spPr>
          <a:xfrm>
            <a:off x="7112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5FED1501-DA35-92B5-CDF4-77076D54FEEB}"/>
              </a:ext>
            </a:extLst>
          </p:cNvPr>
          <p:cNvSpPr/>
          <p:nvPr/>
        </p:nvSpPr>
        <p:spPr>
          <a:xfrm>
            <a:off x="45974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E94E4938-4FE1-2422-C1EE-16BDD3DF623D}"/>
              </a:ext>
            </a:extLst>
          </p:cNvPr>
          <p:cNvSpPr/>
          <p:nvPr/>
        </p:nvSpPr>
        <p:spPr>
          <a:xfrm>
            <a:off x="7112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3E0656E3-5947-9706-1C7C-78D33CF80F3A}"/>
              </a:ext>
            </a:extLst>
          </p:cNvPr>
          <p:cNvSpPr/>
          <p:nvPr/>
        </p:nvSpPr>
        <p:spPr>
          <a:xfrm>
            <a:off x="45974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6647B09-EA21-2321-04EE-1AB7374D0E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C55C12-56AB-E23A-02D2-9E1C89D87857}"/>
              </a:ext>
            </a:extLst>
          </p:cNvPr>
          <p:cNvSpPr/>
          <p:nvPr/>
        </p:nvSpPr>
        <p:spPr>
          <a:xfrm>
            <a:off x="8382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II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C3224B-6261-C5AB-CFEF-05E061662D08}"/>
              </a:ext>
            </a:extLst>
          </p:cNvPr>
          <p:cNvSpPr txBox="1"/>
          <p:nvPr/>
        </p:nvSpPr>
        <p:spPr>
          <a:xfrm>
            <a:off x="762000" y="3733800"/>
            <a:ext cx="387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 i="1">
                <a:solidFill>
                  <a:srgbClr val="FAF4E6"/>
                </a:solidFill>
                <a:latin typeface="Georgia" panose="02040502050405020303" pitchFamily="18" charset="0"/>
              </a:rPr>
              <a:t>Gandhi, London, 1931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0AF19B7-8994-3723-8A35-346A5C0BFB63}"/>
              </a:ext>
            </a:extLst>
          </p:cNvPr>
          <p:cNvSpPr/>
          <p:nvPr/>
        </p:nvSpPr>
        <p:spPr>
          <a:xfrm>
            <a:off x="7620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"In a gentle way, you can shake the world."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33FA48-85D8-CCB6-0BC4-56EBCE4AEED7}"/>
              </a:ext>
            </a:extLst>
          </p:cNvPr>
          <p:cNvGrpSpPr/>
          <p:nvPr/>
        </p:nvGrpSpPr>
        <p:grpSpPr>
          <a:xfrm>
            <a:off x="5016500" y="1498599"/>
            <a:ext cx="6540500" cy="584201"/>
            <a:chOff x="5016500" y="1498599"/>
            <a:chExt cx="6540500" cy="58420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AF1C371-6C78-2E92-BFE6-4C7C529DF2E8}"/>
                </a:ext>
              </a:extLst>
            </p:cNvPr>
            <p:cNvSpPr/>
            <p:nvPr/>
          </p:nvSpPr>
          <p:spPr>
            <a:xfrm>
              <a:off x="5016500" y="1498600"/>
              <a:ext cx="6540500" cy="5842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E666244-EF4B-1C3C-B4A2-0DF92EAF682A}"/>
                </a:ext>
              </a:extLst>
            </p:cNvPr>
            <p:cNvSpPr/>
            <p:nvPr/>
          </p:nvSpPr>
          <p:spPr>
            <a:xfrm>
              <a:off x="5168900" y="16383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0CCA74-BA37-A524-903D-769BD137BF5F}"/>
                </a:ext>
              </a:extLst>
            </p:cNvPr>
            <p:cNvSpPr txBox="1"/>
            <p:nvPr/>
          </p:nvSpPr>
          <p:spPr>
            <a:xfrm>
              <a:off x="5626100" y="1498599"/>
              <a:ext cx="5778500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ID" sz="1050">
                  <a:solidFill>
                    <a:srgbClr val="2A1A0E"/>
                  </a:solidFill>
                  <a:latin typeface="Georgia" panose="02040502050405020303" pitchFamily="18" charset="0"/>
                </a:rPr>
                <a:t>Born 2 October 1869 in Porbandar, Gujarat, India.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DB0E235-FB73-1B74-1A16-D6E182FFE770}"/>
              </a:ext>
            </a:extLst>
          </p:cNvPr>
          <p:cNvGrpSpPr/>
          <p:nvPr/>
        </p:nvGrpSpPr>
        <p:grpSpPr>
          <a:xfrm>
            <a:off x="5016500" y="2184399"/>
            <a:ext cx="6540500" cy="584201"/>
            <a:chOff x="5016500" y="2184399"/>
            <a:chExt cx="6540500" cy="58420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5A1F829-5034-3BC8-E667-A6384FD77026}"/>
                </a:ext>
              </a:extLst>
            </p:cNvPr>
            <p:cNvSpPr/>
            <p:nvPr/>
          </p:nvSpPr>
          <p:spPr>
            <a:xfrm>
              <a:off x="5016500" y="2184400"/>
              <a:ext cx="6540500" cy="5842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D0683E6-4969-C69D-1F5E-F2512D2CA832}"/>
                </a:ext>
              </a:extLst>
            </p:cNvPr>
            <p:cNvSpPr/>
            <p:nvPr/>
          </p:nvSpPr>
          <p:spPr>
            <a:xfrm>
              <a:off x="5168900" y="23241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C099200-AEDE-CD88-1136-E039B4B757A2}"/>
                </a:ext>
              </a:extLst>
            </p:cNvPr>
            <p:cNvSpPr txBox="1"/>
            <p:nvPr/>
          </p:nvSpPr>
          <p:spPr>
            <a:xfrm>
              <a:off x="5626100" y="2184399"/>
              <a:ext cx="5778500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050">
                  <a:solidFill>
                    <a:srgbClr val="2A1A0E"/>
                  </a:solidFill>
                  <a:latin typeface="Georgia" panose="02040502050405020303" pitchFamily="18" charset="0"/>
                </a:rPr>
                <a:t>Trained as a lawyer in London at the Inner Temple.</a:t>
              </a:r>
              <a:endParaRPr lang="en-ID" sz="10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DDEA789-F869-91C3-AFAB-CB910099D53F}"/>
              </a:ext>
            </a:extLst>
          </p:cNvPr>
          <p:cNvGrpSpPr/>
          <p:nvPr/>
        </p:nvGrpSpPr>
        <p:grpSpPr>
          <a:xfrm>
            <a:off x="5016500" y="2870199"/>
            <a:ext cx="6540500" cy="584201"/>
            <a:chOff x="5016500" y="2870199"/>
            <a:chExt cx="6540500" cy="584201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51771B4-C015-FF75-998F-FA6DAFC7F01C}"/>
                </a:ext>
              </a:extLst>
            </p:cNvPr>
            <p:cNvSpPr/>
            <p:nvPr/>
          </p:nvSpPr>
          <p:spPr>
            <a:xfrm>
              <a:off x="5016500" y="2870200"/>
              <a:ext cx="6540500" cy="5842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BE92D9F-6446-674F-6B88-2B8F404D330B}"/>
                </a:ext>
              </a:extLst>
            </p:cNvPr>
            <p:cNvSpPr/>
            <p:nvPr/>
          </p:nvSpPr>
          <p:spPr>
            <a:xfrm>
              <a:off x="5168900" y="30099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2F8B322-6752-FC7D-8C86-620CC38B7080}"/>
                </a:ext>
              </a:extLst>
            </p:cNvPr>
            <p:cNvSpPr txBox="1"/>
            <p:nvPr/>
          </p:nvSpPr>
          <p:spPr>
            <a:xfrm>
              <a:off x="5626100" y="2870199"/>
              <a:ext cx="5778500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050">
                  <a:solidFill>
                    <a:srgbClr val="2A1A0E"/>
                  </a:solidFill>
                  <a:latin typeface="Georgia" panose="02040502050405020303" pitchFamily="18" charset="0"/>
                </a:rPr>
                <a:t>Led India's historic non-violent freedom struggle against colonial rule.</a:t>
              </a:r>
              <a:endParaRPr lang="en-ID" sz="10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566B2DE-BB74-D8A9-9821-14C6C3B0879E}"/>
              </a:ext>
            </a:extLst>
          </p:cNvPr>
          <p:cNvGrpSpPr/>
          <p:nvPr/>
        </p:nvGrpSpPr>
        <p:grpSpPr>
          <a:xfrm>
            <a:off x="5016500" y="3555999"/>
            <a:ext cx="6540500" cy="584201"/>
            <a:chOff x="5016500" y="3555999"/>
            <a:chExt cx="6540500" cy="584201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78D1239-57AA-9D3D-162E-98742AB488FB}"/>
                </a:ext>
              </a:extLst>
            </p:cNvPr>
            <p:cNvSpPr/>
            <p:nvPr/>
          </p:nvSpPr>
          <p:spPr>
            <a:xfrm>
              <a:off x="5016500" y="3556000"/>
              <a:ext cx="6540500" cy="5842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72DAB4C-797A-1C46-CF6C-19085B82698D}"/>
                </a:ext>
              </a:extLst>
            </p:cNvPr>
            <p:cNvSpPr/>
            <p:nvPr/>
          </p:nvSpPr>
          <p:spPr>
            <a:xfrm>
              <a:off x="5168900" y="36957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171988D-656B-7796-617E-379B8524A54D}"/>
                </a:ext>
              </a:extLst>
            </p:cNvPr>
            <p:cNvSpPr txBox="1"/>
            <p:nvPr/>
          </p:nvSpPr>
          <p:spPr>
            <a:xfrm>
              <a:off x="5626100" y="3555999"/>
              <a:ext cx="5778500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050">
                  <a:solidFill>
                    <a:srgbClr val="2A1A0E"/>
                  </a:solidFill>
                  <a:latin typeface="Georgia" panose="02040502050405020303" pitchFamily="18" charset="0"/>
                </a:rPr>
                <a:t>Called Mahatma ('Great Soul') and affectionately revered as Bapu ('Father').</a:t>
              </a:r>
              <a:endParaRPr lang="en-ID" sz="10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86A5DC0-987E-61F0-8F6A-CBF78F265509}"/>
              </a:ext>
            </a:extLst>
          </p:cNvPr>
          <p:cNvGrpSpPr/>
          <p:nvPr/>
        </p:nvGrpSpPr>
        <p:grpSpPr>
          <a:xfrm>
            <a:off x="5016500" y="4241799"/>
            <a:ext cx="6540500" cy="584201"/>
            <a:chOff x="5016500" y="4241799"/>
            <a:chExt cx="6540500" cy="584201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2F3D266-DB5E-53F3-DACB-62ED1E0B5BF3}"/>
                </a:ext>
              </a:extLst>
            </p:cNvPr>
            <p:cNvSpPr/>
            <p:nvPr/>
          </p:nvSpPr>
          <p:spPr>
            <a:xfrm>
              <a:off x="5016500" y="4241800"/>
              <a:ext cx="6540500" cy="5842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27EFEA0-9651-7750-E69F-37F8675BA9A5}"/>
                </a:ext>
              </a:extLst>
            </p:cNvPr>
            <p:cNvSpPr/>
            <p:nvPr/>
          </p:nvSpPr>
          <p:spPr>
            <a:xfrm>
              <a:off x="5168900" y="43815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5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B95ACD-2F32-6638-B758-7DB3B7806F95}"/>
                </a:ext>
              </a:extLst>
            </p:cNvPr>
            <p:cNvSpPr txBox="1"/>
            <p:nvPr/>
          </p:nvSpPr>
          <p:spPr>
            <a:xfrm>
              <a:off x="5626100" y="4241799"/>
              <a:ext cx="5778500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050">
                  <a:solidFill>
                    <a:srgbClr val="2A1A0E"/>
                  </a:solidFill>
                  <a:latin typeface="Georgia" panose="02040502050405020303" pitchFamily="18" charset="0"/>
                </a:rPr>
                <a:t>The central question: do his ideas and methods still work in today's complex world?</a:t>
              </a:r>
              <a:endParaRPr lang="en-ID" sz="10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1865BCDE-DDDD-9BFC-5B1B-C4EE85878581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65A821-0608-73FF-1A5D-E068E6924A07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1CEA50-6165-3A7D-FF0B-0FC02A4050BD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B604A8-95B6-5652-5892-8F84AC947F68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II / X  ❖</a:t>
            </a:r>
          </a:p>
        </p:txBody>
      </p:sp>
    </p:spTree>
    <p:extLst>
      <p:ext uri="{BB962C8B-B14F-4D97-AF65-F5344CB8AC3E}">
        <p14:creationId xmlns:p14="http://schemas.microsoft.com/office/powerpoint/2010/main" val="3219504872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88CF81-2DD2-2EF4-D6A5-75F2D97FC8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963810-946D-B606-AC92-A8627A9AB55E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568016FC-3539-F662-77DC-E8BBA9A6A16E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FE1E9-4751-8D2C-6917-EB6D8362F910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0C9B7-6E50-E67A-7489-057CB6812146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28989-6123-5F63-77EE-B756C684475F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4947A-64D0-0E8D-140C-AEECEA2756EE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7B8CF-D790-9B19-318D-D68A79641B9B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III • PHILOSOPHICAL PILLARS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AEC387-D568-BBEB-06D7-73D2900D9314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III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71F144-00D2-2968-C759-D9998133AEB4}"/>
              </a:ext>
            </a:extLst>
          </p:cNvPr>
          <p:cNvSpPr txBox="1"/>
          <p:nvPr/>
        </p:nvSpPr>
        <p:spPr>
          <a:xfrm>
            <a:off x="635000" y="685800"/>
            <a:ext cx="1092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2A1A0E"/>
                </a:solidFill>
                <a:latin typeface="Georgia" panose="02040502050405020303" pitchFamily="18" charset="0"/>
              </a:rPr>
              <a:t>THE CORE IDEAS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5C3509-4C83-2E40-098F-2016F4D56449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A526A-B775-90D4-CBE7-8709D1FBDCD8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The Timeless Foundations of Gandhian Philosophy and Ethics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AC9734-7540-EDD4-A89D-7FF1678616D6}"/>
              </a:ext>
            </a:extLst>
          </p:cNvPr>
          <p:cNvSpPr/>
          <p:nvPr/>
        </p:nvSpPr>
        <p:spPr>
          <a:xfrm>
            <a:off x="74295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BFD444ED-61C7-82F4-428C-DC1C9BC241E4}"/>
              </a:ext>
            </a:extLst>
          </p:cNvPr>
          <p:cNvSpPr/>
          <p:nvPr/>
        </p:nvSpPr>
        <p:spPr>
          <a:xfrm>
            <a:off x="75057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83C56216-7F04-A920-79D7-6B66C67C3ACB}"/>
              </a:ext>
            </a:extLst>
          </p:cNvPr>
          <p:cNvSpPr/>
          <p:nvPr/>
        </p:nvSpPr>
        <p:spPr>
          <a:xfrm>
            <a:off x="113919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9CB19560-BBDE-39A3-7206-457443E89351}"/>
              </a:ext>
            </a:extLst>
          </p:cNvPr>
          <p:cNvSpPr/>
          <p:nvPr/>
        </p:nvSpPr>
        <p:spPr>
          <a:xfrm>
            <a:off x="75057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84A8063F-40AA-6894-9613-B4038DA4AF2F}"/>
              </a:ext>
            </a:extLst>
          </p:cNvPr>
          <p:cNvSpPr/>
          <p:nvPr/>
        </p:nvSpPr>
        <p:spPr>
          <a:xfrm>
            <a:off x="113919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97C77D-DD6A-A79D-6EC4-B49A4A6EBA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EC8ABED-5B15-7C9D-6A3C-6A43DFA43981}"/>
              </a:ext>
            </a:extLst>
          </p:cNvPr>
          <p:cNvSpPr/>
          <p:nvPr/>
        </p:nvSpPr>
        <p:spPr>
          <a:xfrm>
            <a:off x="76327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III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016DB8-838E-2047-240E-08A5C951BD0C}"/>
              </a:ext>
            </a:extLst>
          </p:cNvPr>
          <p:cNvSpPr txBox="1"/>
          <p:nvPr/>
        </p:nvSpPr>
        <p:spPr>
          <a:xfrm>
            <a:off x="7556500" y="3733800"/>
            <a:ext cx="387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i="1">
                <a:solidFill>
                  <a:srgbClr val="FAF4E6"/>
                </a:solidFill>
                <a:latin typeface="Georgia" panose="02040502050405020303" pitchFamily="18" charset="0"/>
              </a:rPr>
              <a:t>Gandhi and Kasturba, South Africa, 1902</a:t>
            </a:r>
            <a:endParaRPr lang="en-ID" sz="900" i="1">
              <a:solidFill>
                <a:srgbClr val="FAF4E6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ADA421-B77B-C8DF-0278-1FFA38550C9D}"/>
              </a:ext>
            </a:extLst>
          </p:cNvPr>
          <p:cNvSpPr/>
          <p:nvPr/>
        </p:nvSpPr>
        <p:spPr>
          <a:xfrm>
            <a:off x="75565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"Truth is the sovereign principle, which includes numerous other principles."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5E8E06-DC9A-D58A-3B23-A8CBC9881A4A}"/>
              </a:ext>
            </a:extLst>
          </p:cNvPr>
          <p:cNvGrpSpPr/>
          <p:nvPr/>
        </p:nvGrpSpPr>
        <p:grpSpPr>
          <a:xfrm>
            <a:off x="635000" y="1498600"/>
            <a:ext cx="6540500" cy="533400"/>
            <a:chOff x="635000" y="1498600"/>
            <a:chExt cx="6540500" cy="5334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C78E3A1-ACEE-E6C6-AD49-ABAAC485C30C}"/>
                </a:ext>
              </a:extLst>
            </p:cNvPr>
            <p:cNvSpPr/>
            <p:nvPr/>
          </p:nvSpPr>
          <p:spPr>
            <a:xfrm>
              <a:off x="635000" y="14986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32A37EF-D8C0-73D6-EA3C-BA22AD71C127}"/>
                </a:ext>
              </a:extLst>
            </p:cNvPr>
            <p:cNvSpPr/>
            <p:nvPr/>
          </p:nvSpPr>
          <p:spPr>
            <a:xfrm>
              <a:off x="787400" y="16129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266377C-1A16-B8B6-D521-4852ACECBB0E}"/>
                </a:ext>
              </a:extLst>
            </p:cNvPr>
            <p:cNvSpPr txBox="1"/>
            <p:nvPr/>
          </p:nvSpPr>
          <p:spPr>
            <a:xfrm>
              <a:off x="1244600" y="14986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Satya (Truth) — Absolute adherence to truth and honesty in thought, word, and deed.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9C3FF40-51F8-D7F6-73D2-D3A2B648F620}"/>
              </a:ext>
            </a:extLst>
          </p:cNvPr>
          <p:cNvGrpSpPr/>
          <p:nvPr/>
        </p:nvGrpSpPr>
        <p:grpSpPr>
          <a:xfrm>
            <a:off x="635000" y="2108200"/>
            <a:ext cx="6540500" cy="533400"/>
            <a:chOff x="635000" y="2108200"/>
            <a:chExt cx="6540500" cy="53340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12B15AF-57A8-A9CA-AC30-B9EF33FE9981}"/>
                </a:ext>
              </a:extLst>
            </p:cNvPr>
            <p:cNvSpPr/>
            <p:nvPr/>
          </p:nvSpPr>
          <p:spPr>
            <a:xfrm>
              <a:off x="635000" y="21082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986C629-B94E-4245-53A6-F45D72863A01}"/>
                </a:ext>
              </a:extLst>
            </p:cNvPr>
            <p:cNvSpPr/>
            <p:nvPr/>
          </p:nvSpPr>
          <p:spPr>
            <a:xfrm>
              <a:off x="787400" y="22225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D55AAD6-8DEF-1231-CBA7-AF1D608E63C6}"/>
                </a:ext>
              </a:extLst>
            </p:cNvPr>
            <p:cNvSpPr txBox="1"/>
            <p:nvPr/>
          </p:nvSpPr>
          <p:spPr>
            <a:xfrm>
              <a:off x="1244600" y="21082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Ahimsa (Non-violence) — Active love, compassion, and refraining from harm against any living being.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4AC76CF-552B-4D32-1F85-3AA0A709C6FF}"/>
              </a:ext>
            </a:extLst>
          </p:cNvPr>
          <p:cNvGrpSpPr/>
          <p:nvPr/>
        </p:nvGrpSpPr>
        <p:grpSpPr>
          <a:xfrm>
            <a:off x="635000" y="2717800"/>
            <a:ext cx="6540500" cy="533400"/>
            <a:chOff x="635000" y="2717800"/>
            <a:chExt cx="6540500" cy="5334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A17E8A2-7311-8194-4122-86E56E9B8B2A}"/>
                </a:ext>
              </a:extLst>
            </p:cNvPr>
            <p:cNvSpPr/>
            <p:nvPr/>
          </p:nvSpPr>
          <p:spPr>
            <a:xfrm>
              <a:off x="635000" y="27178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F87301FF-BAB2-6486-994D-90C5BD5D0101}"/>
                </a:ext>
              </a:extLst>
            </p:cNvPr>
            <p:cNvSpPr/>
            <p:nvPr/>
          </p:nvSpPr>
          <p:spPr>
            <a:xfrm>
              <a:off x="787400" y="28321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CD1303-10C4-3CAB-235A-2F13FF779CBE}"/>
                </a:ext>
              </a:extLst>
            </p:cNvPr>
            <p:cNvSpPr txBox="1"/>
            <p:nvPr/>
          </p:nvSpPr>
          <p:spPr>
            <a:xfrm>
              <a:off x="1244600" y="27178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Satyagraha (Peaceful resistance) — Fearless soul-force standing firm against injustice without malice.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3A65C59-2145-0E15-2020-3F5FEB9EBBD5}"/>
              </a:ext>
            </a:extLst>
          </p:cNvPr>
          <p:cNvGrpSpPr/>
          <p:nvPr/>
        </p:nvGrpSpPr>
        <p:grpSpPr>
          <a:xfrm>
            <a:off x="635000" y="3327400"/>
            <a:ext cx="6540500" cy="533400"/>
            <a:chOff x="635000" y="3327400"/>
            <a:chExt cx="6540500" cy="5334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D4AB9B5-5D5D-4891-B741-103D4DEFE086}"/>
                </a:ext>
              </a:extLst>
            </p:cNvPr>
            <p:cNvSpPr/>
            <p:nvPr/>
          </p:nvSpPr>
          <p:spPr>
            <a:xfrm>
              <a:off x="635000" y="33274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EAF17C17-1FAE-8E2E-9BA1-1CF52A033F00}"/>
                </a:ext>
              </a:extLst>
            </p:cNvPr>
            <p:cNvSpPr/>
            <p:nvPr/>
          </p:nvSpPr>
          <p:spPr>
            <a:xfrm>
              <a:off x="787400" y="34417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F15F3B8-F18C-FDF1-AE19-68EA1F30D871}"/>
                </a:ext>
              </a:extLst>
            </p:cNvPr>
            <p:cNvSpPr txBox="1"/>
            <p:nvPr/>
          </p:nvSpPr>
          <p:spPr>
            <a:xfrm>
              <a:off x="1244600" y="33274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Sarvodaya (Welfare of all) — Universal upliftment prioritizing the most vulnerable and marginalized.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8326BA-2A77-5A1B-AB17-2AC14C682F7C}"/>
              </a:ext>
            </a:extLst>
          </p:cNvPr>
          <p:cNvGrpSpPr/>
          <p:nvPr/>
        </p:nvGrpSpPr>
        <p:grpSpPr>
          <a:xfrm>
            <a:off x="635000" y="3937000"/>
            <a:ext cx="6540500" cy="533400"/>
            <a:chOff x="635000" y="3937000"/>
            <a:chExt cx="6540500" cy="5334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7DD514A-D69E-A66D-E52A-387616F09A2E}"/>
                </a:ext>
              </a:extLst>
            </p:cNvPr>
            <p:cNvSpPr/>
            <p:nvPr/>
          </p:nvSpPr>
          <p:spPr>
            <a:xfrm>
              <a:off x="635000" y="39370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FB427FF-D407-1534-0E0F-5F040EDE15A8}"/>
                </a:ext>
              </a:extLst>
            </p:cNvPr>
            <p:cNvSpPr/>
            <p:nvPr/>
          </p:nvSpPr>
          <p:spPr>
            <a:xfrm>
              <a:off x="787400" y="40513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5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765F25F-4E11-2F4C-2C73-2AA8C661F044}"/>
                </a:ext>
              </a:extLst>
            </p:cNvPr>
            <p:cNvSpPr txBox="1"/>
            <p:nvPr/>
          </p:nvSpPr>
          <p:spPr>
            <a:xfrm>
              <a:off x="1244600" y="39370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Swadeshi (Self-reliance) — Fostering local production, community strength, and economic independence.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A763F3-04D4-F6A8-EDCA-9D51AFF7CFF1}"/>
              </a:ext>
            </a:extLst>
          </p:cNvPr>
          <p:cNvGrpSpPr/>
          <p:nvPr/>
        </p:nvGrpSpPr>
        <p:grpSpPr>
          <a:xfrm>
            <a:off x="635000" y="4546600"/>
            <a:ext cx="6540500" cy="533400"/>
            <a:chOff x="635000" y="4546600"/>
            <a:chExt cx="6540500" cy="53340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43009195-C052-21F0-3B82-B8BE90E3CF7D}"/>
                </a:ext>
              </a:extLst>
            </p:cNvPr>
            <p:cNvSpPr/>
            <p:nvPr/>
          </p:nvSpPr>
          <p:spPr>
            <a:xfrm>
              <a:off x="635000" y="45466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B791BFE-8AE3-4EF4-8838-B37F1490106A}"/>
                </a:ext>
              </a:extLst>
            </p:cNvPr>
            <p:cNvSpPr/>
            <p:nvPr/>
          </p:nvSpPr>
          <p:spPr>
            <a:xfrm>
              <a:off x="787400" y="46609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6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9A93FEE-8DD8-0A6D-1862-102BBD7CAA95}"/>
                </a:ext>
              </a:extLst>
            </p:cNvPr>
            <p:cNvSpPr txBox="1"/>
            <p:nvPr/>
          </p:nvSpPr>
          <p:spPr>
            <a:xfrm>
              <a:off x="1244600" y="45466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Simple living — Voluntary simplicity, mindful consumption, and harmony with the natural world.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3C9B792-2BC8-C372-BA43-D1460962EC37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380DFC-C186-8887-A767-D3D2B9EBD179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7B20B7-B7F3-479E-DEF5-0F584DEF9572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A072D7-E828-A3DD-E00F-BFE15395B3EF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III / X  ❖</a:t>
            </a:r>
          </a:p>
        </p:txBody>
      </p:sp>
    </p:spTree>
    <p:extLst>
      <p:ext uri="{BB962C8B-B14F-4D97-AF65-F5344CB8AC3E}">
        <p14:creationId xmlns:p14="http://schemas.microsoft.com/office/powerpoint/2010/main" val="3863621763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6133E1-5FB1-40E8-9BA8-CE90ADF863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56D48F-B636-2982-5E6E-410F1E228183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8091F2F2-ABC6-6D8F-61D5-21F5F2CA96A8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82585-3B83-AE73-F281-E66FBD46D118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878F1-CACD-FDB7-6292-3EAFBA935A13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18DA60-9273-BA36-C539-8F98E6F24DE9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108EF4-4DAB-8580-52AE-8A803B7C3F7E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3AD69-84D6-726C-C928-93026426D64A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IV • 21ST CENTURY REALITIES</a:t>
            </a:r>
            <a:endParaRPr lang="en-ID" sz="950" b="1">
              <a:solidFill>
                <a:srgbClr val="7A1F1F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90CD39-BF27-636F-ED15-EE214CCAA809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IV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465D47-5E4C-909E-ECB5-9813A70666EF}"/>
              </a:ext>
            </a:extLst>
          </p:cNvPr>
          <p:cNvSpPr txBox="1"/>
          <p:nvPr/>
        </p:nvSpPr>
        <p:spPr>
          <a:xfrm>
            <a:off x="635000" y="685800"/>
            <a:ext cx="1092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2A1A0E"/>
                </a:solidFill>
                <a:latin typeface="Georgia" panose="02040502050405020303" pitchFamily="18" charset="0"/>
              </a:rPr>
              <a:t>THE WORLD WE LIVE IN</a:t>
            </a:r>
            <a:endParaRPr lang="en-ID" sz="2000" b="1">
              <a:solidFill>
                <a:srgbClr val="2A1A0E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2645C8-E1F6-9217-88AF-19C8D6C9BF87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3FCFA4-C24C-3DF0-9B24-D81A25CFE95C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The Urgent Humanitarian, Social, and Ecological Crises of Our Era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A2CE5E-2350-014C-EB8D-15E2A92D7864}"/>
              </a:ext>
            </a:extLst>
          </p:cNvPr>
          <p:cNvSpPr/>
          <p:nvPr/>
        </p:nvSpPr>
        <p:spPr>
          <a:xfrm>
            <a:off x="6350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A98773C1-0BAF-813B-343F-46AA1D5C3A66}"/>
              </a:ext>
            </a:extLst>
          </p:cNvPr>
          <p:cNvSpPr/>
          <p:nvPr/>
        </p:nvSpPr>
        <p:spPr>
          <a:xfrm>
            <a:off x="7112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9D273440-7F74-E427-7CB6-6BEE18E70F64}"/>
              </a:ext>
            </a:extLst>
          </p:cNvPr>
          <p:cNvSpPr/>
          <p:nvPr/>
        </p:nvSpPr>
        <p:spPr>
          <a:xfrm>
            <a:off x="45974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70BD3DAD-75B4-02E9-2BB9-33E9CFEBD05D}"/>
              </a:ext>
            </a:extLst>
          </p:cNvPr>
          <p:cNvSpPr/>
          <p:nvPr/>
        </p:nvSpPr>
        <p:spPr>
          <a:xfrm>
            <a:off x="7112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D60D3B36-AC37-F693-54C0-5DAB5D8FDDAC}"/>
              </a:ext>
            </a:extLst>
          </p:cNvPr>
          <p:cNvSpPr/>
          <p:nvPr/>
        </p:nvSpPr>
        <p:spPr>
          <a:xfrm>
            <a:off x="45974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85B78E-59C1-704B-A8B1-D427226A76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EA4210-8FA5-E4A5-C031-3A563554BDB1}"/>
              </a:ext>
            </a:extLst>
          </p:cNvPr>
          <p:cNvSpPr/>
          <p:nvPr/>
        </p:nvSpPr>
        <p:spPr>
          <a:xfrm>
            <a:off x="8382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IV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6669A7-314E-7BA5-E10F-0A8C1469EC55}"/>
              </a:ext>
            </a:extLst>
          </p:cNvPr>
          <p:cNvSpPr txBox="1"/>
          <p:nvPr/>
        </p:nvSpPr>
        <p:spPr>
          <a:xfrm>
            <a:off x="762000" y="3733800"/>
            <a:ext cx="387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i="1">
                <a:solidFill>
                  <a:srgbClr val="FAF4E6"/>
                </a:solidFill>
                <a:latin typeface="Georgia" panose="02040502050405020303" pitchFamily="18" charset="0"/>
              </a:rPr>
              <a:t>Gandhi and Nehru, Mumbai, 1946</a:t>
            </a:r>
            <a:endParaRPr lang="en-ID" sz="900" i="1">
              <a:solidFill>
                <a:srgbClr val="FAF4E6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1B575DD-B0DB-7AAB-1A02-A734BD2B65E4}"/>
              </a:ext>
            </a:extLst>
          </p:cNvPr>
          <p:cNvSpPr/>
          <p:nvPr/>
        </p:nvSpPr>
        <p:spPr>
          <a:xfrm>
            <a:off x="7620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"The world will live in peace only when the individuals composing it make up their minds to do so."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30CD96-600B-3730-29E3-ACBEDFFE0218}"/>
              </a:ext>
            </a:extLst>
          </p:cNvPr>
          <p:cNvGrpSpPr/>
          <p:nvPr/>
        </p:nvGrpSpPr>
        <p:grpSpPr>
          <a:xfrm>
            <a:off x="5016500" y="1498600"/>
            <a:ext cx="6540500" cy="533400"/>
            <a:chOff x="5016500" y="1498600"/>
            <a:chExt cx="6540500" cy="5334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F2CDD60-356D-12EA-BEE2-9EC17519548F}"/>
                </a:ext>
              </a:extLst>
            </p:cNvPr>
            <p:cNvSpPr/>
            <p:nvPr/>
          </p:nvSpPr>
          <p:spPr>
            <a:xfrm>
              <a:off x="5016500" y="14986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BE25EAE-2EE6-ABDF-2EE7-6068DE508A3E}"/>
                </a:ext>
              </a:extLst>
            </p:cNvPr>
            <p:cNvSpPr/>
            <p:nvPr/>
          </p:nvSpPr>
          <p:spPr>
            <a:xfrm>
              <a:off x="5168900" y="16129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8DD59C-D050-991C-22EA-F4D92E7248CE}"/>
                </a:ext>
              </a:extLst>
            </p:cNvPr>
            <p:cNvSpPr txBox="1"/>
            <p:nvPr/>
          </p:nvSpPr>
          <p:spPr>
            <a:xfrm>
              <a:off x="5626100" y="14986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Wars and conflict: Escalating geopolitical hostilities, armed warfare, and global instability.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A894A3-35A2-D81E-3ED9-733443AAC708}"/>
              </a:ext>
            </a:extLst>
          </p:cNvPr>
          <p:cNvGrpSpPr/>
          <p:nvPr/>
        </p:nvGrpSpPr>
        <p:grpSpPr>
          <a:xfrm>
            <a:off x="5016500" y="2108200"/>
            <a:ext cx="6540500" cy="533400"/>
            <a:chOff x="5016500" y="2108200"/>
            <a:chExt cx="6540500" cy="53340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9D4155C-8778-DFCD-7E6D-D2F416933C2F}"/>
                </a:ext>
              </a:extLst>
            </p:cNvPr>
            <p:cNvSpPr/>
            <p:nvPr/>
          </p:nvSpPr>
          <p:spPr>
            <a:xfrm>
              <a:off x="5016500" y="21082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4646672-0CD3-2225-FC9B-2C9C6DB7DF33}"/>
                </a:ext>
              </a:extLst>
            </p:cNvPr>
            <p:cNvSpPr/>
            <p:nvPr/>
          </p:nvSpPr>
          <p:spPr>
            <a:xfrm>
              <a:off x="5168900" y="22225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48EB11A-82DC-FA54-4264-49A042B715EA}"/>
                </a:ext>
              </a:extLst>
            </p:cNvPr>
            <p:cNvSpPr txBox="1"/>
            <p:nvPr/>
          </p:nvSpPr>
          <p:spPr>
            <a:xfrm>
              <a:off x="5626100" y="21082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Polarisation and hate online: Digital echo chambers, social fragmentation, and rising hostility.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0931437-5B82-1608-2310-DD490763F24E}"/>
              </a:ext>
            </a:extLst>
          </p:cNvPr>
          <p:cNvGrpSpPr/>
          <p:nvPr/>
        </p:nvGrpSpPr>
        <p:grpSpPr>
          <a:xfrm>
            <a:off x="5016500" y="2717800"/>
            <a:ext cx="6540500" cy="533400"/>
            <a:chOff x="5016500" y="2717800"/>
            <a:chExt cx="6540500" cy="5334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1A7D4D8-8C32-0D15-72B1-0AA1357CCBC3}"/>
                </a:ext>
              </a:extLst>
            </p:cNvPr>
            <p:cNvSpPr/>
            <p:nvPr/>
          </p:nvSpPr>
          <p:spPr>
            <a:xfrm>
              <a:off x="5016500" y="27178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E54D85A-3BAE-838C-0E46-2AE945DCA1BD}"/>
                </a:ext>
              </a:extLst>
            </p:cNvPr>
            <p:cNvSpPr/>
            <p:nvPr/>
          </p:nvSpPr>
          <p:spPr>
            <a:xfrm>
              <a:off x="5168900" y="28321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909A0D2-64DA-BE1B-1277-95FDBCB28C29}"/>
                </a:ext>
              </a:extLst>
            </p:cNvPr>
            <p:cNvSpPr txBox="1"/>
            <p:nvPr/>
          </p:nvSpPr>
          <p:spPr>
            <a:xfrm>
              <a:off x="5626100" y="27178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Climate crisis: Global environmental degradation, extreme weather, and resource depletion.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CB7D8BE-CEC9-5E23-051A-65E391A64A4F}"/>
              </a:ext>
            </a:extLst>
          </p:cNvPr>
          <p:cNvGrpSpPr/>
          <p:nvPr/>
        </p:nvGrpSpPr>
        <p:grpSpPr>
          <a:xfrm>
            <a:off x="5016500" y="3327400"/>
            <a:ext cx="6540500" cy="533400"/>
            <a:chOff x="5016500" y="3327400"/>
            <a:chExt cx="6540500" cy="5334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D93EA6AB-44A5-8FDC-B223-F395EB32487E}"/>
                </a:ext>
              </a:extLst>
            </p:cNvPr>
            <p:cNvSpPr/>
            <p:nvPr/>
          </p:nvSpPr>
          <p:spPr>
            <a:xfrm>
              <a:off x="5016500" y="33274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B7AAAD3-4F49-A2EF-694B-E5BF15AE2801}"/>
                </a:ext>
              </a:extLst>
            </p:cNvPr>
            <p:cNvSpPr/>
            <p:nvPr/>
          </p:nvSpPr>
          <p:spPr>
            <a:xfrm>
              <a:off x="5168900" y="34417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2E5CAB1-DCD5-FEE0-E456-C3F6DE6B61F1}"/>
                </a:ext>
              </a:extLst>
            </p:cNvPr>
            <p:cNvSpPr txBox="1"/>
            <p:nvPr/>
          </p:nvSpPr>
          <p:spPr>
            <a:xfrm>
              <a:off x="5626100" y="33274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Inequality: Widening socio-economic divides and unequal access to essential opportunities.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7742980-8BFE-047C-95B7-9300319FA63D}"/>
              </a:ext>
            </a:extLst>
          </p:cNvPr>
          <p:cNvGrpSpPr/>
          <p:nvPr/>
        </p:nvGrpSpPr>
        <p:grpSpPr>
          <a:xfrm>
            <a:off x="5016500" y="3937000"/>
            <a:ext cx="6540500" cy="533400"/>
            <a:chOff x="5016500" y="3937000"/>
            <a:chExt cx="6540500" cy="5334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8B03BA9-40A8-18FA-4BA5-D0765A48D228}"/>
                </a:ext>
              </a:extLst>
            </p:cNvPr>
            <p:cNvSpPr/>
            <p:nvPr/>
          </p:nvSpPr>
          <p:spPr>
            <a:xfrm>
              <a:off x="5016500" y="39370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66B67CD1-BA2E-42EC-B700-A1F407F4C84B}"/>
                </a:ext>
              </a:extLst>
            </p:cNvPr>
            <p:cNvSpPr/>
            <p:nvPr/>
          </p:nvSpPr>
          <p:spPr>
            <a:xfrm>
              <a:off x="5168900" y="40513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5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8E9D315-C19D-2D83-53B0-5656DAEB6D40}"/>
                </a:ext>
              </a:extLst>
            </p:cNvPr>
            <p:cNvSpPr txBox="1"/>
            <p:nvPr/>
          </p:nvSpPr>
          <p:spPr>
            <a:xfrm>
              <a:off x="5626100" y="39370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Misinformation: Rapid algorithmic dissemination of falsehoods eroding public trust.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A07DB0B-22E0-AF4C-B04F-7E52D0651B6C}"/>
              </a:ext>
            </a:extLst>
          </p:cNvPr>
          <p:cNvGrpSpPr/>
          <p:nvPr/>
        </p:nvGrpSpPr>
        <p:grpSpPr>
          <a:xfrm>
            <a:off x="5016500" y="4546600"/>
            <a:ext cx="6540500" cy="533400"/>
            <a:chOff x="5016500" y="4546600"/>
            <a:chExt cx="6540500" cy="53340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DFACE95B-1A63-3D1F-7664-F573FE4F9B04}"/>
                </a:ext>
              </a:extLst>
            </p:cNvPr>
            <p:cNvSpPr/>
            <p:nvPr/>
          </p:nvSpPr>
          <p:spPr>
            <a:xfrm>
              <a:off x="5016500" y="4546600"/>
              <a:ext cx="6540500" cy="533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A978827-9E83-7472-3AB6-ED12136746B2}"/>
                </a:ext>
              </a:extLst>
            </p:cNvPr>
            <p:cNvSpPr/>
            <p:nvPr/>
          </p:nvSpPr>
          <p:spPr>
            <a:xfrm>
              <a:off x="5168900" y="46609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6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FA9F99-F090-15D9-9847-4B1EFF2F4537}"/>
                </a:ext>
              </a:extLst>
            </p:cNvPr>
            <p:cNvSpPr txBox="1"/>
            <p:nvPr/>
          </p:nvSpPr>
          <p:spPr>
            <a:xfrm>
              <a:off x="5626100" y="4546600"/>
              <a:ext cx="5778500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950">
                  <a:solidFill>
                    <a:srgbClr val="2A1A0E"/>
                  </a:solidFill>
                  <a:latin typeface="Georgia" panose="02040502050405020303" pitchFamily="18" charset="0"/>
                </a:rPr>
                <a:t>Consumerism and waste: Hyper-materialistic lifestyles straining the planet's finite resources.</a:t>
              </a:r>
              <a:endParaRPr lang="en-ID" sz="9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5F6F5EE7-8008-95FA-D665-D28011AC0975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D936CB-6203-0404-B5FA-4B5952F5CF8C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20037E-28C8-B058-DAFA-B39D1859ACAB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DF002C-452A-B987-2B23-9072FE4EDF77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IV / X  ❖</a:t>
            </a:r>
          </a:p>
        </p:txBody>
      </p:sp>
    </p:spTree>
    <p:extLst>
      <p:ext uri="{BB962C8B-B14F-4D97-AF65-F5344CB8AC3E}">
        <p14:creationId xmlns:p14="http://schemas.microsoft.com/office/powerpoint/2010/main" val="3853165677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0A26E1-8C2D-9210-9225-7A00DF7DC2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D41F97-2901-C59D-D694-D7EB80B89CE1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1EAE463B-A3BB-BB02-E23C-6DCC066D10D5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2139A-FE9F-2039-9C0D-83FF76828959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82C48-681A-9810-843D-79C5647901EC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D1C3EF-3354-F962-68E2-7895C8C0BE02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293C7-5E2C-06CA-A409-8E46884FC8E0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FE4A2-FAA8-A9FA-A9D2-E67EF3EAFC8A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V • POWER OF NON-VIOLENCE</a:t>
            </a:r>
            <a:endParaRPr lang="en-ID" sz="950" b="1">
              <a:solidFill>
                <a:srgbClr val="7A1F1F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03E0AC-9CA4-69FC-D222-931BFE7C6063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V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194A3-9003-E0F4-CE23-5522C912AE03}"/>
              </a:ext>
            </a:extLst>
          </p:cNvPr>
          <p:cNvSpPr txBox="1"/>
          <p:nvPr/>
        </p:nvSpPr>
        <p:spPr>
          <a:xfrm>
            <a:off x="635000" y="685800"/>
            <a:ext cx="1092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2A1A0E"/>
                </a:solidFill>
                <a:latin typeface="Georgia" panose="02040502050405020303" pitchFamily="18" charset="0"/>
              </a:rPr>
              <a:t>AHIMSA IN 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3F6140-B117-8158-ABB5-FAB45C616783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75584A-B2CA-F398-B4E6-F934C24E9197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How Non-Violent Resistance Transformed Global Civil Rights and History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444AA5-5287-417F-FD3B-78891C6E4F1C}"/>
              </a:ext>
            </a:extLst>
          </p:cNvPr>
          <p:cNvSpPr/>
          <p:nvPr/>
        </p:nvSpPr>
        <p:spPr>
          <a:xfrm>
            <a:off x="74295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2E2F683A-60D7-5CD5-15F5-EF0491BB5A25}"/>
              </a:ext>
            </a:extLst>
          </p:cNvPr>
          <p:cNvSpPr/>
          <p:nvPr/>
        </p:nvSpPr>
        <p:spPr>
          <a:xfrm>
            <a:off x="75057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9128EE8B-2541-07F4-8D98-B2ED1401FB6D}"/>
              </a:ext>
            </a:extLst>
          </p:cNvPr>
          <p:cNvSpPr/>
          <p:nvPr/>
        </p:nvSpPr>
        <p:spPr>
          <a:xfrm>
            <a:off x="113919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91AD7254-7BAB-CF5E-6E92-84EE2FF25375}"/>
              </a:ext>
            </a:extLst>
          </p:cNvPr>
          <p:cNvSpPr/>
          <p:nvPr/>
        </p:nvSpPr>
        <p:spPr>
          <a:xfrm>
            <a:off x="75057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3F460B3C-2979-FCEB-EAD4-DF6566A67AAD}"/>
              </a:ext>
            </a:extLst>
          </p:cNvPr>
          <p:cNvSpPr/>
          <p:nvPr/>
        </p:nvSpPr>
        <p:spPr>
          <a:xfrm>
            <a:off x="113919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29DDF77-BA79-FE36-24D1-3541E293D6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5730E1-AE27-A1C7-114A-62B14F63D62E}"/>
              </a:ext>
            </a:extLst>
          </p:cNvPr>
          <p:cNvSpPr/>
          <p:nvPr/>
        </p:nvSpPr>
        <p:spPr>
          <a:xfrm>
            <a:off x="76327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46A035-35DA-A6C7-F076-98C6B97EC809}"/>
              </a:ext>
            </a:extLst>
          </p:cNvPr>
          <p:cNvSpPr txBox="1"/>
          <p:nvPr/>
        </p:nvSpPr>
        <p:spPr>
          <a:xfrm>
            <a:off x="7556500" y="3733800"/>
            <a:ext cx="387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 i="1">
                <a:solidFill>
                  <a:srgbClr val="FAF4E6"/>
                </a:solidFill>
                <a:latin typeface="Georgia" panose="02040502050405020303" pitchFamily="18" charset="0"/>
              </a:rPr>
              <a:t>Gandhi with Abdul Ghaffar Khan, 1940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685B67-4D2D-0FEC-6670-0824A82AC016}"/>
              </a:ext>
            </a:extLst>
          </p:cNvPr>
          <p:cNvSpPr/>
          <p:nvPr/>
        </p:nvSpPr>
        <p:spPr>
          <a:xfrm>
            <a:off x="75565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"Non-violence is the greatest force at the disposal of mankind. — Mahatma Gandhi"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CB11E1B-97DE-DB8E-CB1C-97D350E341AF}"/>
              </a:ext>
            </a:extLst>
          </p:cNvPr>
          <p:cNvGrpSpPr/>
          <p:nvPr/>
        </p:nvGrpSpPr>
        <p:grpSpPr>
          <a:xfrm>
            <a:off x="635000" y="1498599"/>
            <a:ext cx="6540500" cy="736601"/>
            <a:chOff x="635000" y="1498599"/>
            <a:chExt cx="6540500" cy="73660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CB5A59B-477F-C10A-B3F9-062B8F1975E0}"/>
                </a:ext>
              </a:extLst>
            </p:cNvPr>
            <p:cNvSpPr/>
            <p:nvPr/>
          </p:nvSpPr>
          <p:spPr>
            <a:xfrm>
              <a:off x="635000" y="14986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C314D1F-1536-19E6-64CB-45D7B60F89F4}"/>
                </a:ext>
              </a:extLst>
            </p:cNvPr>
            <p:cNvSpPr/>
            <p:nvPr/>
          </p:nvSpPr>
          <p:spPr>
            <a:xfrm>
              <a:off x="787400" y="17145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A29580-1247-E408-80BE-7C98B04BB29B}"/>
                </a:ext>
              </a:extLst>
            </p:cNvPr>
            <p:cNvSpPr txBox="1"/>
            <p:nvPr/>
          </p:nvSpPr>
          <p:spPr>
            <a:xfrm>
              <a:off x="1244600" y="1498599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The US civil rights movement (Martin Luther King Jr.) and South African anti-apartheid struggle (Nelson Mandela) drew deeply on Gandhian ideas.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C6794F1-E173-F5C5-5845-E4C8C2C1D619}"/>
              </a:ext>
            </a:extLst>
          </p:cNvPr>
          <p:cNvGrpSpPr/>
          <p:nvPr/>
        </p:nvGrpSpPr>
        <p:grpSpPr>
          <a:xfrm>
            <a:off x="635000" y="2412999"/>
            <a:ext cx="6540500" cy="736601"/>
            <a:chOff x="635000" y="2412999"/>
            <a:chExt cx="6540500" cy="73660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DD3FB55-FF5F-01FC-63D0-48B8E496159E}"/>
                </a:ext>
              </a:extLst>
            </p:cNvPr>
            <p:cNvSpPr/>
            <p:nvPr/>
          </p:nvSpPr>
          <p:spPr>
            <a:xfrm>
              <a:off x="635000" y="24130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9750BCB-87F5-AFFE-CF69-FF0282F0F6A5}"/>
                </a:ext>
              </a:extLst>
            </p:cNvPr>
            <p:cNvSpPr/>
            <p:nvPr/>
          </p:nvSpPr>
          <p:spPr>
            <a:xfrm>
              <a:off x="787400" y="26289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E27D810-A178-947C-255D-10CBFFE5656D}"/>
                </a:ext>
              </a:extLst>
            </p:cNvPr>
            <p:cNvSpPr txBox="1"/>
            <p:nvPr/>
          </p:nvSpPr>
          <p:spPr>
            <a:xfrm>
              <a:off x="1244600" y="2412999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Chenoweth and Stephan's study (analyzing 323 campaigns from 1900 to 2006) found non-violent campaigns succeeded more often than violent ones.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1216904-C19A-AEF9-62C4-2051D757ADA7}"/>
              </a:ext>
            </a:extLst>
          </p:cNvPr>
          <p:cNvGrpSpPr/>
          <p:nvPr/>
        </p:nvGrpSpPr>
        <p:grpSpPr>
          <a:xfrm>
            <a:off x="635000" y="3327399"/>
            <a:ext cx="6540500" cy="736601"/>
            <a:chOff x="635000" y="3327399"/>
            <a:chExt cx="6540500" cy="736601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E0F3EA8-1485-3F45-34CB-5726D4FF5421}"/>
                </a:ext>
              </a:extLst>
            </p:cNvPr>
            <p:cNvSpPr/>
            <p:nvPr/>
          </p:nvSpPr>
          <p:spPr>
            <a:xfrm>
              <a:off x="635000" y="33274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3330AF9-D810-1398-6386-ECF77C3D73AE}"/>
                </a:ext>
              </a:extLst>
            </p:cNvPr>
            <p:cNvSpPr/>
            <p:nvPr/>
          </p:nvSpPr>
          <p:spPr>
            <a:xfrm>
              <a:off x="787400" y="35433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BAD6D7-1B76-A826-51F1-3FF2AD628556}"/>
                </a:ext>
              </a:extLst>
            </p:cNvPr>
            <p:cNvSpPr txBox="1"/>
            <p:nvPr/>
          </p:nvSpPr>
          <p:spPr>
            <a:xfrm>
              <a:off x="1244600" y="3327399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2 October is recognized internationally by the United Nations as the International Day of Non-Violence.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131F36F1-3A9F-71C8-1E50-A9BC5A628419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3D1FF7-E173-C3D0-E740-68D12D5C5E8C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8DB75B-E2AB-2615-0CEA-65D1EE347314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D22560-C49C-9EA8-C943-DB16F24BEF88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V / X  ❖</a:t>
            </a:r>
          </a:p>
        </p:txBody>
      </p:sp>
    </p:spTree>
    <p:extLst>
      <p:ext uri="{BB962C8B-B14F-4D97-AF65-F5344CB8AC3E}">
        <p14:creationId xmlns:p14="http://schemas.microsoft.com/office/powerpoint/2010/main" val="2517015350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8F027-64EF-5029-2F5C-6453008D9B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C3EFAB-7C2D-D2BF-56C5-76D4828E0ECF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A9AF993F-3037-BB5B-104E-6F4A52BB2C3A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FE8B3-477D-F161-3C27-2CD25A2E3685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56437-9439-5051-F973-64EBABEBC7B8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E7C29C-DEC9-4811-337B-989D49E29220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412C4-61B5-B120-7B96-C4E062150E00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F8EC9-670B-72E9-CF2A-DC44E91BB552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VI • TRUTH IN THE DIGITAL AGE</a:t>
            </a:r>
            <a:endParaRPr lang="en-ID" sz="950" b="1">
              <a:solidFill>
                <a:srgbClr val="7A1F1F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622D5F-D3D3-D38B-0852-3856DABE8C83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VI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2215FE-78B8-76C7-46A7-3544C47BE301}"/>
              </a:ext>
            </a:extLst>
          </p:cNvPr>
          <p:cNvSpPr txBox="1"/>
          <p:nvPr/>
        </p:nvSpPr>
        <p:spPr>
          <a:xfrm>
            <a:off x="635000" y="6858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2A1A0E"/>
                </a:solidFill>
                <a:latin typeface="Georgia" panose="02040502050405020303" pitchFamily="18" charset="0"/>
              </a:rPr>
              <a:t>SATYA IN THE AGE OF MISINFORMATION</a:t>
            </a:r>
            <a:endParaRPr lang="en-ID" b="1">
              <a:solidFill>
                <a:srgbClr val="2A1A0E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ADD071-F87D-1061-B1DF-1006D23C1371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AD4A26-F642-C7A1-261E-AAE930547F0E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Practicing Discernment, Integrity, and Civil Dialogue in a Connected Society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E34D2E-4170-DDDA-994D-44AAAD91468B}"/>
              </a:ext>
            </a:extLst>
          </p:cNvPr>
          <p:cNvSpPr/>
          <p:nvPr/>
        </p:nvSpPr>
        <p:spPr>
          <a:xfrm>
            <a:off x="6350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900C593F-8DA9-E70A-0B04-B1D0A0556197}"/>
              </a:ext>
            </a:extLst>
          </p:cNvPr>
          <p:cNvSpPr/>
          <p:nvPr/>
        </p:nvSpPr>
        <p:spPr>
          <a:xfrm>
            <a:off x="7112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D0AC7C65-ACB0-CDA6-658D-8CC1A5AA04E5}"/>
              </a:ext>
            </a:extLst>
          </p:cNvPr>
          <p:cNvSpPr/>
          <p:nvPr/>
        </p:nvSpPr>
        <p:spPr>
          <a:xfrm>
            <a:off x="45974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B0CACC25-9F96-78ED-C28F-B257A2009B5A}"/>
              </a:ext>
            </a:extLst>
          </p:cNvPr>
          <p:cNvSpPr/>
          <p:nvPr/>
        </p:nvSpPr>
        <p:spPr>
          <a:xfrm>
            <a:off x="7112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5BCC7698-59BA-626B-3B11-FEC6DEE9C182}"/>
              </a:ext>
            </a:extLst>
          </p:cNvPr>
          <p:cNvSpPr/>
          <p:nvPr/>
        </p:nvSpPr>
        <p:spPr>
          <a:xfrm>
            <a:off x="45974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085F8C5-1460-BADB-F9A4-DA967F76AF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D248D7-4C48-C600-7190-A8E634C267B7}"/>
              </a:ext>
            </a:extLst>
          </p:cNvPr>
          <p:cNvSpPr/>
          <p:nvPr/>
        </p:nvSpPr>
        <p:spPr>
          <a:xfrm>
            <a:off x="8382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VI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A95914-F325-847D-05E1-C4AD22E75380}"/>
              </a:ext>
            </a:extLst>
          </p:cNvPr>
          <p:cNvSpPr txBox="1"/>
          <p:nvPr/>
        </p:nvSpPr>
        <p:spPr>
          <a:xfrm>
            <a:off x="762000" y="3733800"/>
            <a:ext cx="387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 i="1">
                <a:solidFill>
                  <a:srgbClr val="FAF4E6"/>
                </a:solidFill>
                <a:latin typeface="Georgia" panose="02040502050405020303" pitchFamily="18" charset="0"/>
              </a:rPr>
              <a:t>The Salt March, 1930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F7FC522-DAB6-EC55-CC56-80B0C0FB5551}"/>
              </a:ext>
            </a:extLst>
          </p:cNvPr>
          <p:cNvSpPr/>
          <p:nvPr/>
        </p:nvSpPr>
        <p:spPr>
          <a:xfrm>
            <a:off x="7620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"Morality is the basis of things, and truth is the substance of all morality."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79CEEA-C2CE-FDF0-97C2-48FDDB7BD430}"/>
              </a:ext>
            </a:extLst>
          </p:cNvPr>
          <p:cNvGrpSpPr/>
          <p:nvPr/>
        </p:nvGrpSpPr>
        <p:grpSpPr>
          <a:xfrm>
            <a:off x="5016500" y="1498600"/>
            <a:ext cx="6540500" cy="660400"/>
            <a:chOff x="5016500" y="1498600"/>
            <a:chExt cx="6540500" cy="6604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8C9A114-BC38-41F8-DF73-D10537666F2E}"/>
                </a:ext>
              </a:extLst>
            </p:cNvPr>
            <p:cNvSpPr/>
            <p:nvPr/>
          </p:nvSpPr>
          <p:spPr>
            <a:xfrm>
              <a:off x="5016500" y="14986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596B930-F197-7EC9-3A72-EC2CA23A3206}"/>
                </a:ext>
              </a:extLst>
            </p:cNvPr>
            <p:cNvSpPr/>
            <p:nvPr/>
          </p:nvSpPr>
          <p:spPr>
            <a:xfrm>
              <a:off x="5168900" y="16764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3DEBAB5-F3F4-FD6A-79E4-ABBB045A7106}"/>
                </a:ext>
              </a:extLst>
            </p:cNvPr>
            <p:cNvSpPr txBox="1"/>
            <p:nvPr/>
          </p:nvSpPr>
          <p:spPr>
            <a:xfrm>
              <a:off x="5626100" y="1498600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Fake news spreads fast: Digital algorithms amplify sensationalism and falsehoods at unprecedented speed.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0E821B-178C-4A69-F573-4D8489EE6180}"/>
              </a:ext>
            </a:extLst>
          </p:cNvPr>
          <p:cNvGrpSpPr/>
          <p:nvPr/>
        </p:nvGrpSpPr>
        <p:grpSpPr>
          <a:xfrm>
            <a:off x="5016500" y="2286000"/>
            <a:ext cx="6540500" cy="660400"/>
            <a:chOff x="5016500" y="2286000"/>
            <a:chExt cx="6540500" cy="66040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8416079-9D25-8039-4A26-09D41AFD5D97}"/>
                </a:ext>
              </a:extLst>
            </p:cNvPr>
            <p:cNvSpPr/>
            <p:nvPr/>
          </p:nvSpPr>
          <p:spPr>
            <a:xfrm>
              <a:off x="5016500" y="22860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45F9FBA-4989-199D-D1B8-88AD5A8FFA77}"/>
                </a:ext>
              </a:extLst>
            </p:cNvPr>
            <p:cNvSpPr/>
            <p:nvPr/>
          </p:nvSpPr>
          <p:spPr>
            <a:xfrm>
              <a:off x="5168900" y="24638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4D8EB0E-948C-760B-C98F-3D5D76BC7EB4}"/>
                </a:ext>
              </a:extLst>
            </p:cNvPr>
            <p:cNvSpPr txBox="1"/>
            <p:nvPr/>
          </p:nvSpPr>
          <p:spPr>
            <a:xfrm>
              <a:off x="5626100" y="2286000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Verify before you speak or share: Upholding factual accuracy and critical thinking before disseminating information.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DD6C387-B040-2CD7-F516-1814791DD0E5}"/>
              </a:ext>
            </a:extLst>
          </p:cNvPr>
          <p:cNvGrpSpPr/>
          <p:nvPr/>
        </p:nvGrpSpPr>
        <p:grpSpPr>
          <a:xfrm>
            <a:off x="5016500" y="3073399"/>
            <a:ext cx="6540500" cy="660401"/>
            <a:chOff x="5016500" y="3073399"/>
            <a:chExt cx="6540500" cy="660401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57DE639-3E8A-6184-DC88-3B7092D61A42}"/>
                </a:ext>
              </a:extLst>
            </p:cNvPr>
            <p:cNvSpPr/>
            <p:nvPr/>
          </p:nvSpPr>
          <p:spPr>
            <a:xfrm>
              <a:off x="5016500" y="30734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7C70F8E-0CE9-4759-ADE6-B23308C82758}"/>
                </a:ext>
              </a:extLst>
            </p:cNvPr>
            <p:cNvSpPr/>
            <p:nvPr/>
          </p:nvSpPr>
          <p:spPr>
            <a:xfrm>
              <a:off x="5168900" y="32512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6F6EE5-1C16-BA6C-8646-E8C3765A2EF8}"/>
                </a:ext>
              </a:extLst>
            </p:cNvPr>
            <p:cNvSpPr txBox="1"/>
            <p:nvPr/>
          </p:nvSpPr>
          <p:spPr>
            <a:xfrm>
              <a:off x="5626100" y="3073399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Truth-telling as a daily discipline: Living with intellectual honesty and moral transparency.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1323733-3E35-6A2D-C20E-BFA3FE02FD70}"/>
              </a:ext>
            </a:extLst>
          </p:cNvPr>
          <p:cNvGrpSpPr/>
          <p:nvPr/>
        </p:nvGrpSpPr>
        <p:grpSpPr>
          <a:xfrm>
            <a:off x="5016500" y="3860800"/>
            <a:ext cx="6540500" cy="660400"/>
            <a:chOff x="5016500" y="3860800"/>
            <a:chExt cx="6540500" cy="6604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A04D927F-4F87-F82C-798A-9A42672D9873}"/>
                </a:ext>
              </a:extLst>
            </p:cNvPr>
            <p:cNvSpPr/>
            <p:nvPr/>
          </p:nvSpPr>
          <p:spPr>
            <a:xfrm>
              <a:off x="5016500" y="38608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E3A426F-EFDC-C667-19A8-43465B8D9BC7}"/>
                </a:ext>
              </a:extLst>
            </p:cNvPr>
            <p:cNvSpPr/>
            <p:nvPr/>
          </p:nvSpPr>
          <p:spPr>
            <a:xfrm>
              <a:off x="5168900" y="40386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0B67026-3773-9D8A-A7D4-CDA7C07747D9}"/>
                </a:ext>
              </a:extLst>
            </p:cNvPr>
            <p:cNvSpPr txBox="1"/>
            <p:nvPr/>
          </p:nvSpPr>
          <p:spPr>
            <a:xfrm>
              <a:off x="5626100" y="3860800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Dialogue instead of online outrage: Choosing constructive communication and empathy over reactionary anger.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78B37276-F935-5063-5045-17D3881BDEC4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E47D38-09ED-C108-F575-849B67B49C66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9CBB3D-0CF0-648F-DE4A-8F1BC106A41D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ECD283-1396-F836-AEBA-BF845F19A4D8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VI / X  ❖</a:t>
            </a:r>
          </a:p>
        </p:txBody>
      </p:sp>
    </p:spTree>
    <p:extLst>
      <p:ext uri="{BB962C8B-B14F-4D97-AF65-F5344CB8AC3E}">
        <p14:creationId xmlns:p14="http://schemas.microsoft.com/office/powerpoint/2010/main" val="3395915436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D00D5D-7FAC-A71B-2431-BC2F61B0E9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2B1D23-88F6-B3C4-F2F1-A33CA0F42FD3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A518AD2C-8CD3-5C22-0CF7-C7F21DD7369D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B6146-D8B1-FF64-D981-BC9D45A08CCB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88B60-BC5C-E569-7320-8DD148A23242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D63A6-381C-9913-10AB-B03193267CD4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27C48-3945-DC5A-667C-3C1EFF5EE04C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1A860-8016-B0AF-39C8-9E1ED7BADDAB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VII • ECOLOGICAL WISDOM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9836BD-F544-C3EF-1E10-E5E0B32C7172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VII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1637B-50FB-7727-706A-713072C7DDAC}"/>
              </a:ext>
            </a:extLst>
          </p:cNvPr>
          <p:cNvSpPr txBox="1"/>
          <p:nvPr/>
        </p:nvSpPr>
        <p:spPr>
          <a:xfrm>
            <a:off x="635000" y="685800"/>
            <a:ext cx="1092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2A1A0E"/>
                </a:solidFill>
                <a:latin typeface="Georgia" panose="02040502050405020303" pitchFamily="18" charset="0"/>
              </a:rPr>
              <a:t>SIMPLE LIVING AND THE PLANET</a:t>
            </a:r>
            <a:endParaRPr lang="en-ID" sz="2000" b="1">
              <a:solidFill>
                <a:srgbClr val="2A1A0E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49D0B7-0193-9B36-5470-C908F95CB56B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209BBF-13B6-4CB9-1408-258F0E9E5F1C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Sustainable Living, Mindful Consumption, and Climate Responsibility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415D00-6858-5E44-3314-1E8D1CC43CA6}"/>
              </a:ext>
            </a:extLst>
          </p:cNvPr>
          <p:cNvSpPr/>
          <p:nvPr/>
        </p:nvSpPr>
        <p:spPr>
          <a:xfrm>
            <a:off x="74295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3713948D-7D0D-AC2C-D552-1772D7010E9F}"/>
              </a:ext>
            </a:extLst>
          </p:cNvPr>
          <p:cNvSpPr/>
          <p:nvPr/>
        </p:nvSpPr>
        <p:spPr>
          <a:xfrm>
            <a:off x="75057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5BF755BF-BE3C-795A-47FD-74CC805A8192}"/>
              </a:ext>
            </a:extLst>
          </p:cNvPr>
          <p:cNvSpPr/>
          <p:nvPr/>
        </p:nvSpPr>
        <p:spPr>
          <a:xfrm>
            <a:off x="113919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0110BAC2-C285-0488-A23B-0839A6C0F1E9}"/>
              </a:ext>
            </a:extLst>
          </p:cNvPr>
          <p:cNvSpPr/>
          <p:nvPr/>
        </p:nvSpPr>
        <p:spPr>
          <a:xfrm>
            <a:off x="75057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9AC64A84-0EDA-4A8E-64C7-02E70E17D2AF}"/>
              </a:ext>
            </a:extLst>
          </p:cNvPr>
          <p:cNvSpPr/>
          <p:nvPr/>
        </p:nvSpPr>
        <p:spPr>
          <a:xfrm>
            <a:off x="113919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437663-4AFB-9DE5-E404-87971DE09A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30990D-1B80-23AD-A0EC-10375C02E6B7}"/>
              </a:ext>
            </a:extLst>
          </p:cNvPr>
          <p:cNvSpPr/>
          <p:nvPr/>
        </p:nvSpPr>
        <p:spPr>
          <a:xfrm>
            <a:off x="76327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VII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B0DB10-B07A-E33A-3BEB-F2F11CF4B99E}"/>
              </a:ext>
            </a:extLst>
          </p:cNvPr>
          <p:cNvSpPr txBox="1"/>
          <p:nvPr/>
        </p:nvSpPr>
        <p:spPr>
          <a:xfrm>
            <a:off x="7556500" y="3733800"/>
            <a:ext cx="387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a-DK" sz="900" i="1">
                <a:solidFill>
                  <a:srgbClr val="FAF4E6"/>
                </a:solidFill>
                <a:latin typeface="Georgia" panose="02040502050405020303" pitchFamily="18" charset="0"/>
              </a:rPr>
              <a:t>Gandhi at Dandi, 5 April 1930</a:t>
            </a:r>
            <a:endParaRPr lang="en-ID" sz="900" i="1">
              <a:solidFill>
                <a:srgbClr val="FAF4E6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631343F-BF8A-A1E7-2821-9AED04519040}"/>
              </a:ext>
            </a:extLst>
          </p:cNvPr>
          <p:cNvSpPr/>
          <p:nvPr/>
        </p:nvSpPr>
        <p:spPr>
          <a:xfrm>
            <a:off x="75565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"The earth provides enough to satisfy every man's needs, but not every man's greed."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1555FF-46E8-FA87-6618-952EE854D479}"/>
              </a:ext>
            </a:extLst>
          </p:cNvPr>
          <p:cNvGrpSpPr/>
          <p:nvPr/>
        </p:nvGrpSpPr>
        <p:grpSpPr>
          <a:xfrm>
            <a:off x="635000" y="1498599"/>
            <a:ext cx="6540500" cy="736601"/>
            <a:chOff x="635000" y="1498599"/>
            <a:chExt cx="6540500" cy="73660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8B295AE-68CD-EE4E-C5D0-86713DF16B75}"/>
                </a:ext>
              </a:extLst>
            </p:cNvPr>
            <p:cNvSpPr/>
            <p:nvPr/>
          </p:nvSpPr>
          <p:spPr>
            <a:xfrm>
              <a:off x="635000" y="14986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569399E-7416-60CA-E264-838AA9C183FC}"/>
                </a:ext>
              </a:extLst>
            </p:cNvPr>
            <p:cNvSpPr/>
            <p:nvPr/>
          </p:nvSpPr>
          <p:spPr>
            <a:xfrm>
              <a:off x="787400" y="17145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4FFB99-9820-E501-D5F4-5533A372B4A0}"/>
                </a:ext>
              </a:extLst>
            </p:cNvPr>
            <p:cNvSpPr txBox="1"/>
            <p:nvPr/>
          </p:nvSpPr>
          <p:spPr>
            <a:xfrm>
              <a:off x="1244600" y="1498599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'The earth provides enough for everyone's needs, but not everyone's greed' (attributed to Gandhi).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DE3C9CC-B605-8CB3-8245-9EF1A1A78320}"/>
              </a:ext>
            </a:extLst>
          </p:cNvPr>
          <p:cNvGrpSpPr/>
          <p:nvPr/>
        </p:nvGrpSpPr>
        <p:grpSpPr>
          <a:xfrm>
            <a:off x="635000" y="2413000"/>
            <a:ext cx="6540500" cy="736600"/>
            <a:chOff x="635000" y="2413000"/>
            <a:chExt cx="6540500" cy="73660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C4C6FE9-2D87-3683-F9AD-3076786CB78F}"/>
                </a:ext>
              </a:extLst>
            </p:cNvPr>
            <p:cNvSpPr/>
            <p:nvPr/>
          </p:nvSpPr>
          <p:spPr>
            <a:xfrm>
              <a:off x="635000" y="24130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716404F-C8EB-55CF-8AA0-66FCDF298D5C}"/>
                </a:ext>
              </a:extLst>
            </p:cNvPr>
            <p:cNvSpPr/>
            <p:nvPr/>
          </p:nvSpPr>
          <p:spPr>
            <a:xfrm>
              <a:off x="787400" y="26289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07A841-C784-F372-1498-59004B6922D2}"/>
                </a:ext>
              </a:extLst>
            </p:cNvPr>
            <p:cNvSpPr txBox="1"/>
            <p:nvPr/>
          </p:nvSpPr>
          <p:spPr>
            <a:xfrm>
              <a:off x="1244600" y="2413000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Direct links to modern sustainability, conscious minimalism, and circular resource use.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C487DD-18E7-53F6-667F-8D4C9BF6CC78}"/>
              </a:ext>
            </a:extLst>
          </p:cNvPr>
          <p:cNvGrpSpPr/>
          <p:nvPr/>
        </p:nvGrpSpPr>
        <p:grpSpPr>
          <a:xfrm>
            <a:off x="635000" y="3327399"/>
            <a:ext cx="6540500" cy="736601"/>
            <a:chOff x="635000" y="3327399"/>
            <a:chExt cx="6540500" cy="736601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9B531CD-A8F8-1E82-CB4B-3B54DB76DE7C}"/>
                </a:ext>
              </a:extLst>
            </p:cNvPr>
            <p:cNvSpPr/>
            <p:nvPr/>
          </p:nvSpPr>
          <p:spPr>
            <a:xfrm>
              <a:off x="635000" y="33274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E08CDE7-6650-4FF7-881A-FF414443240B}"/>
                </a:ext>
              </a:extLst>
            </p:cNvPr>
            <p:cNvSpPr/>
            <p:nvPr/>
          </p:nvSpPr>
          <p:spPr>
            <a:xfrm>
              <a:off x="787400" y="35433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511FE25-A5E1-1A4A-AFE3-BB911057CA68}"/>
                </a:ext>
              </a:extLst>
            </p:cNvPr>
            <p:cNvSpPr txBox="1"/>
            <p:nvPr/>
          </p:nvSpPr>
          <p:spPr>
            <a:xfrm>
              <a:off x="1244600" y="3327399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India's Mission LiFE (Lifestyle for Environment) actively promotes individual and community eco-friendly lifestyles.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52E74800-606F-CE9D-F080-4A0514E58A83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444485-9DAC-533D-C785-55C978D5FE3F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5E6125-6C0B-F6D4-F70D-BD937F023525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4C69D5-6648-ED7E-B2BD-057A2474A4AA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VII / X  ❖</a:t>
            </a:r>
          </a:p>
        </p:txBody>
      </p:sp>
    </p:spTree>
    <p:extLst>
      <p:ext uri="{BB962C8B-B14F-4D97-AF65-F5344CB8AC3E}">
        <p14:creationId xmlns:p14="http://schemas.microsoft.com/office/powerpoint/2010/main" val="1329577056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00833B-0FB6-F114-CD2D-1BB9C8B8C4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B913DA-9377-DF67-B8F4-9C3709BEF063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9EB30012-BE62-D938-5BE9-B81E5BBFCB43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D93CB-3063-B6FB-E3A5-4E50E0E80C37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29593-E69D-AE8D-FCC2-A7B3069ACE77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2B04D-33AA-84E6-534C-1A843A5630D4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2E012-DA82-F662-21C3-C4404E588565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F2572-531C-A0F3-395A-8CD16CC10520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VIII • LOCAL ECONOMIES &amp; DIGNITY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BBC14E-1FED-1D54-2516-DA572BA0BFBC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VIII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5E802-EA90-7A26-A384-ABD175B01C46}"/>
              </a:ext>
            </a:extLst>
          </p:cNvPr>
          <p:cNvSpPr txBox="1"/>
          <p:nvPr/>
        </p:nvSpPr>
        <p:spPr>
          <a:xfrm>
            <a:off x="635000" y="685800"/>
            <a:ext cx="1092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2A1A0E"/>
                </a:solidFill>
                <a:latin typeface="Georgia" panose="02040502050405020303" pitchFamily="18" charset="0"/>
              </a:rPr>
              <a:t>SWADESHI AND SARVODAYA TODAY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C0C1E-CF6B-28FA-8877-0A826BC53738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55B44-E5BD-98ED-4FC8-C6CF3ED00E5D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Grassroots Empowerment, Inclusive Growth, and Universal Cleanliness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A03F1E-2F6B-7273-E6FF-60C6D811B337}"/>
              </a:ext>
            </a:extLst>
          </p:cNvPr>
          <p:cNvSpPr/>
          <p:nvPr/>
        </p:nvSpPr>
        <p:spPr>
          <a:xfrm>
            <a:off x="6350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126EF868-853E-BBCC-7477-5BCA29675E90}"/>
              </a:ext>
            </a:extLst>
          </p:cNvPr>
          <p:cNvSpPr/>
          <p:nvPr/>
        </p:nvSpPr>
        <p:spPr>
          <a:xfrm>
            <a:off x="7112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B74E8E9E-1EA8-8049-EF94-1D53741C6647}"/>
              </a:ext>
            </a:extLst>
          </p:cNvPr>
          <p:cNvSpPr/>
          <p:nvPr/>
        </p:nvSpPr>
        <p:spPr>
          <a:xfrm>
            <a:off x="45974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6D010245-25EA-45C6-0B85-321F5FF1B049}"/>
              </a:ext>
            </a:extLst>
          </p:cNvPr>
          <p:cNvSpPr/>
          <p:nvPr/>
        </p:nvSpPr>
        <p:spPr>
          <a:xfrm>
            <a:off x="7112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F44AC082-59D2-5C1F-7F5B-C022480CC788}"/>
              </a:ext>
            </a:extLst>
          </p:cNvPr>
          <p:cNvSpPr/>
          <p:nvPr/>
        </p:nvSpPr>
        <p:spPr>
          <a:xfrm>
            <a:off x="45974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783C27-8421-7453-8F6E-D47AC683FE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4F0CBEB-CD45-5C81-6B7C-9545918838F8}"/>
              </a:ext>
            </a:extLst>
          </p:cNvPr>
          <p:cNvSpPr/>
          <p:nvPr/>
        </p:nvSpPr>
        <p:spPr>
          <a:xfrm>
            <a:off x="8382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VIII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62BC93-2F28-19DA-DBEA-F2D5EC3080FB}"/>
              </a:ext>
            </a:extLst>
          </p:cNvPr>
          <p:cNvSpPr txBox="1"/>
          <p:nvPr/>
        </p:nvSpPr>
        <p:spPr>
          <a:xfrm>
            <a:off x="762000" y="3733800"/>
            <a:ext cx="387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 i="1">
                <a:solidFill>
                  <a:srgbClr val="FAF4E6"/>
                </a:solidFill>
                <a:latin typeface="Georgia" panose="02040502050405020303" pitchFamily="18" charset="0"/>
              </a:rPr>
              <a:t>Gandhi and Nehru, Quit India session, 1942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9E93530-30DE-7D3D-5FFE-9B319206C909}"/>
              </a:ext>
            </a:extLst>
          </p:cNvPr>
          <p:cNvSpPr/>
          <p:nvPr/>
        </p:nvSpPr>
        <p:spPr>
          <a:xfrm>
            <a:off x="7620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"Recall the face of the poorest and the weakest person you have seen, and ask if your step will be of any use to them."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1FD0E78-34EA-0352-A776-0604902954D3}"/>
              </a:ext>
            </a:extLst>
          </p:cNvPr>
          <p:cNvGrpSpPr/>
          <p:nvPr/>
        </p:nvGrpSpPr>
        <p:grpSpPr>
          <a:xfrm>
            <a:off x="5016500" y="1498600"/>
            <a:ext cx="6540500" cy="660400"/>
            <a:chOff x="5016500" y="1498600"/>
            <a:chExt cx="6540500" cy="6604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5EA6691-594D-087F-35D1-BB5436A0B118}"/>
                </a:ext>
              </a:extLst>
            </p:cNvPr>
            <p:cNvSpPr/>
            <p:nvPr/>
          </p:nvSpPr>
          <p:spPr>
            <a:xfrm>
              <a:off x="5016500" y="14986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63D0FBF-71E5-1077-773A-888E57710435}"/>
                </a:ext>
              </a:extLst>
            </p:cNvPr>
            <p:cNvSpPr/>
            <p:nvPr/>
          </p:nvSpPr>
          <p:spPr>
            <a:xfrm>
              <a:off x="5168900" y="16764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43AD9C-C0D7-292D-3635-BCB7DFB5078C}"/>
                </a:ext>
              </a:extLst>
            </p:cNvPr>
            <p:cNvSpPr txBox="1"/>
            <p:nvPr/>
          </p:nvSpPr>
          <p:spPr>
            <a:xfrm>
              <a:off x="5626100" y="1498600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Local economies and self-reliance: Strengthening local supply networks and supporting homegrown enterprise.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84D2F58-EF00-8B48-7095-E8095445B67C}"/>
              </a:ext>
            </a:extLst>
          </p:cNvPr>
          <p:cNvGrpSpPr/>
          <p:nvPr/>
        </p:nvGrpSpPr>
        <p:grpSpPr>
          <a:xfrm>
            <a:off x="5016500" y="2286000"/>
            <a:ext cx="6540500" cy="660400"/>
            <a:chOff x="5016500" y="2286000"/>
            <a:chExt cx="6540500" cy="66040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6AE1C4B-5829-45F1-17E5-8F691963E641}"/>
                </a:ext>
              </a:extLst>
            </p:cNvPr>
            <p:cNvSpPr/>
            <p:nvPr/>
          </p:nvSpPr>
          <p:spPr>
            <a:xfrm>
              <a:off x="5016500" y="22860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B69584C-BC12-2EE8-C756-79D24320BF2D}"/>
                </a:ext>
              </a:extLst>
            </p:cNvPr>
            <p:cNvSpPr/>
            <p:nvPr/>
          </p:nvSpPr>
          <p:spPr>
            <a:xfrm>
              <a:off x="5168900" y="24638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7297E5-3D14-8C9B-848D-1CDBA2741410}"/>
                </a:ext>
              </a:extLst>
            </p:cNvPr>
            <p:cNvSpPr txBox="1"/>
            <p:nvPr/>
          </p:nvSpPr>
          <p:spPr>
            <a:xfrm>
              <a:off x="5626100" y="2286000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Khadi and village industries: Empowering rural artisans and promoting eco-conscious handloom textiles.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74A4A9-3BA9-069B-F8DB-B0ED344CD4A1}"/>
              </a:ext>
            </a:extLst>
          </p:cNvPr>
          <p:cNvGrpSpPr/>
          <p:nvPr/>
        </p:nvGrpSpPr>
        <p:grpSpPr>
          <a:xfrm>
            <a:off x="5016500" y="3073399"/>
            <a:ext cx="6540500" cy="660401"/>
            <a:chOff x="5016500" y="3073399"/>
            <a:chExt cx="6540500" cy="660401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857E086-2CC1-BCF3-2DE7-B096F05300EB}"/>
                </a:ext>
              </a:extLst>
            </p:cNvPr>
            <p:cNvSpPr/>
            <p:nvPr/>
          </p:nvSpPr>
          <p:spPr>
            <a:xfrm>
              <a:off x="5016500" y="30734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15FECC7-DA29-3AD0-C077-CC15BE8BC0CE}"/>
                </a:ext>
              </a:extLst>
            </p:cNvPr>
            <p:cNvSpPr/>
            <p:nvPr/>
          </p:nvSpPr>
          <p:spPr>
            <a:xfrm>
              <a:off x="5168900" y="32512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A9F8FD-FB06-8029-F21B-4940EB5B2922}"/>
                </a:ext>
              </a:extLst>
            </p:cNvPr>
            <p:cNvSpPr txBox="1"/>
            <p:nvPr/>
          </p:nvSpPr>
          <p:spPr>
            <a:xfrm>
              <a:off x="5626100" y="3073399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Inclusion and dignity for all: Ensuring that progress uplift the most disadvantaged in society.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95996E7-19E2-7E06-03AD-3F007332DCAB}"/>
              </a:ext>
            </a:extLst>
          </p:cNvPr>
          <p:cNvGrpSpPr/>
          <p:nvPr/>
        </p:nvGrpSpPr>
        <p:grpSpPr>
          <a:xfrm>
            <a:off x="5016500" y="3860800"/>
            <a:ext cx="6540500" cy="660400"/>
            <a:chOff x="5016500" y="3860800"/>
            <a:chExt cx="6540500" cy="66040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3E4DCB7-6968-0878-B763-FAD1BC861B57}"/>
                </a:ext>
              </a:extLst>
            </p:cNvPr>
            <p:cNvSpPr/>
            <p:nvPr/>
          </p:nvSpPr>
          <p:spPr>
            <a:xfrm>
              <a:off x="5016500" y="38608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4EECF19-0FB3-F056-79C2-03EF8B5B92DC}"/>
                </a:ext>
              </a:extLst>
            </p:cNvPr>
            <p:cNvSpPr/>
            <p:nvPr/>
          </p:nvSpPr>
          <p:spPr>
            <a:xfrm>
              <a:off x="5168900" y="40386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01549AF-2200-E323-55CD-37A15D11D98E}"/>
                </a:ext>
              </a:extLst>
            </p:cNvPr>
            <p:cNvSpPr txBox="1"/>
            <p:nvPr/>
          </p:nvSpPr>
          <p:spPr>
            <a:xfrm>
              <a:off x="5626100" y="3860800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Swachh Bharat Abhiyan: A nationwide sanitation and cleanliness movement launched on Gandhi Jayanti (2 Oct 2014).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CBF6D8A-5D34-93B5-E21B-39105C460AD0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8D95CF-35D2-43CA-494E-2BDA9A7DDB33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B671E7-A194-25A5-1D77-1CD2F3C06B7C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8CF987-61DF-229E-6201-721F93968856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VIII / X  ❖</a:t>
            </a:r>
          </a:p>
        </p:txBody>
      </p:sp>
    </p:spTree>
    <p:extLst>
      <p:ext uri="{BB962C8B-B14F-4D97-AF65-F5344CB8AC3E}">
        <p14:creationId xmlns:p14="http://schemas.microsoft.com/office/powerpoint/2010/main" val="208743080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B026E5-964D-3259-CEC5-4AB986D22A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DE9CC9-2FEB-FAAD-1C76-53904DBFA5F8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1BDD7997-1C34-2C5E-8833-F2AEA7655D7E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45E65-50F5-455E-09B3-8EBB60E0E24E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BD8AC-FAE3-7964-2854-6A00C8E3F9B9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F7E839-7DA0-8B17-88A3-4A65EC65C79D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6A533-C9F5-FE4E-7609-0ABC01ACA69C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A36A8-BD60-3E3C-109C-3D3235EDD160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IX • CRITICAL PERSPECTIVE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EAEF97-1E78-060B-5636-B5CE108DDA92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IX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4397E-086D-A9EC-B1BA-13DAFB8B204A}"/>
              </a:ext>
            </a:extLst>
          </p:cNvPr>
          <p:cNvSpPr txBox="1"/>
          <p:nvPr/>
        </p:nvSpPr>
        <p:spPr>
          <a:xfrm>
            <a:off x="635000" y="685800"/>
            <a:ext cx="1092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2A1A0E"/>
                </a:solidFill>
                <a:latin typeface="Georgia" panose="02040502050405020303" pitchFamily="18" charset="0"/>
              </a:rPr>
              <a:t>LIMITS AND CRITICISMS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1320C-A2F6-8F95-B346-E7165F5F8FA7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2442D2-4CAC-08BA-30B0-8B20DC29C510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Nuance, Context, and Thoughtful Adaptation in the Modern Era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BB370AE-FCB7-13B7-B693-CF9C7A7526F0}"/>
              </a:ext>
            </a:extLst>
          </p:cNvPr>
          <p:cNvSpPr/>
          <p:nvPr/>
        </p:nvSpPr>
        <p:spPr>
          <a:xfrm>
            <a:off x="74295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0444575E-F1DA-B9CD-7FF2-1D39BD40C59B}"/>
              </a:ext>
            </a:extLst>
          </p:cNvPr>
          <p:cNvSpPr/>
          <p:nvPr/>
        </p:nvSpPr>
        <p:spPr>
          <a:xfrm>
            <a:off x="75057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3EF20085-1F7A-526F-DBF1-53D31EFE5678}"/>
              </a:ext>
            </a:extLst>
          </p:cNvPr>
          <p:cNvSpPr/>
          <p:nvPr/>
        </p:nvSpPr>
        <p:spPr>
          <a:xfrm>
            <a:off x="113919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5511321D-0BC2-4BDA-7F5F-99DEC3BC7B5F}"/>
              </a:ext>
            </a:extLst>
          </p:cNvPr>
          <p:cNvSpPr/>
          <p:nvPr/>
        </p:nvSpPr>
        <p:spPr>
          <a:xfrm>
            <a:off x="75057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7AD011D2-0C25-7E13-4ECC-CEF8574323A1}"/>
              </a:ext>
            </a:extLst>
          </p:cNvPr>
          <p:cNvSpPr/>
          <p:nvPr/>
        </p:nvSpPr>
        <p:spPr>
          <a:xfrm>
            <a:off x="113919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7660D5-5F8C-D7A4-68BD-CB73D30F5D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A3DF06-6C44-4AAE-52C0-B0A3FB536996}"/>
              </a:ext>
            </a:extLst>
          </p:cNvPr>
          <p:cNvSpPr/>
          <p:nvPr/>
        </p:nvSpPr>
        <p:spPr>
          <a:xfrm>
            <a:off x="76327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07858A-32A3-4CDD-DBE1-14B5400EE8D3}"/>
              </a:ext>
            </a:extLst>
          </p:cNvPr>
          <p:cNvSpPr txBox="1"/>
          <p:nvPr/>
        </p:nvSpPr>
        <p:spPr>
          <a:xfrm>
            <a:off x="7556500" y="3733800"/>
            <a:ext cx="3873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 i="1">
                <a:solidFill>
                  <a:srgbClr val="FAF4E6"/>
                </a:solidFill>
                <a:latin typeface="Georgia" panose="02040502050405020303" pitchFamily="18" charset="0"/>
              </a:rPr>
              <a:t>Portrait, late 1930s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C8798F-8D21-139D-EDAB-51464A3EC18D}"/>
              </a:ext>
            </a:extLst>
          </p:cNvPr>
          <p:cNvSpPr/>
          <p:nvPr/>
        </p:nvSpPr>
        <p:spPr>
          <a:xfrm>
            <a:off x="75565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"I want the cultures of all lands to be blown about my house as freely as possible, but I refuse to be blown off my feet."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DF2AF0D-66CC-FE73-D8BE-C7170EBD4D37}"/>
              </a:ext>
            </a:extLst>
          </p:cNvPr>
          <p:cNvGrpSpPr/>
          <p:nvPr/>
        </p:nvGrpSpPr>
        <p:grpSpPr>
          <a:xfrm>
            <a:off x="635000" y="1498599"/>
            <a:ext cx="6540500" cy="736601"/>
            <a:chOff x="635000" y="1498599"/>
            <a:chExt cx="6540500" cy="73660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3A1E4F8-57AA-8AB2-D54A-5A69F67B66CC}"/>
                </a:ext>
              </a:extLst>
            </p:cNvPr>
            <p:cNvSpPr/>
            <p:nvPr/>
          </p:nvSpPr>
          <p:spPr>
            <a:xfrm>
              <a:off x="635000" y="14986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9C2DA16-CE34-0FB4-45FB-77A2F09BA574}"/>
                </a:ext>
              </a:extLst>
            </p:cNvPr>
            <p:cNvSpPr/>
            <p:nvPr/>
          </p:nvSpPr>
          <p:spPr>
            <a:xfrm>
              <a:off x="787400" y="17145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A1254D-35E0-2DED-8FE2-360E19BB3DD2}"/>
                </a:ext>
              </a:extLst>
            </p:cNvPr>
            <p:cNvSpPr txBox="1"/>
            <p:nvPr/>
          </p:nvSpPr>
          <p:spPr>
            <a:xfrm>
              <a:off x="1244600" y="1498599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Non-violence alone may not be enough when confronting extreme violence and ruthless authoritarian regimes.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431A966-9B13-399D-DCAA-9613F9940B48}"/>
              </a:ext>
            </a:extLst>
          </p:cNvPr>
          <p:cNvGrpSpPr/>
          <p:nvPr/>
        </p:nvGrpSpPr>
        <p:grpSpPr>
          <a:xfrm>
            <a:off x="635000" y="2412999"/>
            <a:ext cx="6540500" cy="736601"/>
            <a:chOff x="635000" y="2412999"/>
            <a:chExt cx="6540500" cy="73660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3F2DC36-2791-E0F1-FCB4-6BFCEE9C763B}"/>
                </a:ext>
              </a:extLst>
            </p:cNvPr>
            <p:cNvSpPr/>
            <p:nvPr/>
          </p:nvSpPr>
          <p:spPr>
            <a:xfrm>
              <a:off x="635000" y="24130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0FDC02B-E8FD-9B49-591D-BC99D6BD33A9}"/>
                </a:ext>
              </a:extLst>
            </p:cNvPr>
            <p:cNvSpPr/>
            <p:nvPr/>
          </p:nvSpPr>
          <p:spPr>
            <a:xfrm>
              <a:off x="787400" y="26289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BE888BE-CC8B-29B8-BB31-0D9D39C3C09E}"/>
                </a:ext>
              </a:extLst>
            </p:cNvPr>
            <p:cNvSpPr txBox="1"/>
            <p:nvPr/>
          </p:nvSpPr>
          <p:spPr>
            <a:xfrm>
              <a:off x="1244600" y="2412999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Some of Gandhi's views (on caste and race during his early South Africa years) are legitimately criticised.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A6B815F-A823-FDAA-3AAC-A2FFAF4C9483}"/>
              </a:ext>
            </a:extLst>
          </p:cNvPr>
          <p:cNvGrpSpPr/>
          <p:nvPr/>
        </p:nvGrpSpPr>
        <p:grpSpPr>
          <a:xfrm>
            <a:off x="635000" y="3327400"/>
            <a:ext cx="6540500" cy="736600"/>
            <a:chOff x="635000" y="3327400"/>
            <a:chExt cx="6540500" cy="7366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34A9216-7098-34FA-ABF5-7FB5E0F1F201}"/>
                </a:ext>
              </a:extLst>
            </p:cNvPr>
            <p:cNvSpPr/>
            <p:nvPr/>
          </p:nvSpPr>
          <p:spPr>
            <a:xfrm>
              <a:off x="635000" y="3327400"/>
              <a:ext cx="6540500" cy="7366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EC06ACD-390E-0C76-9DD6-765D89B1A2F7}"/>
                </a:ext>
              </a:extLst>
            </p:cNvPr>
            <p:cNvSpPr/>
            <p:nvPr/>
          </p:nvSpPr>
          <p:spPr>
            <a:xfrm>
              <a:off x="787400" y="35433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2A4172-FADE-33BE-6E5C-B5F143C09744}"/>
                </a:ext>
              </a:extLst>
            </p:cNvPr>
            <p:cNvSpPr txBox="1"/>
            <p:nvPr/>
          </p:nvSpPr>
          <p:spPr>
            <a:xfrm>
              <a:off x="1244600" y="3327400"/>
              <a:ext cx="5778500" cy="736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50">
                  <a:solidFill>
                    <a:srgbClr val="2A1A0E"/>
                  </a:solidFill>
                  <a:latin typeface="Georgia" panose="02040502050405020303" pitchFamily="18" charset="0"/>
                </a:rPr>
                <a:t>Ideas need thoughtful application and dynamic adaptation, not rigid or blind copying.</a:t>
              </a:r>
              <a:endParaRPr lang="en-ID" sz="115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475CE760-A4FA-082B-E1FE-808A3D18EE06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83C9E9-3A33-770F-48C0-4A21933484DE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0A6592-078C-8B84-1F77-2EF72E56A896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609F37-18CB-F6C2-8F6F-5FDA69387EA6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IX / X  ❖</a:t>
            </a:r>
          </a:p>
        </p:txBody>
      </p:sp>
    </p:spTree>
    <p:extLst>
      <p:ext uri="{BB962C8B-B14F-4D97-AF65-F5344CB8AC3E}">
        <p14:creationId xmlns:p14="http://schemas.microsoft.com/office/powerpoint/2010/main" val="67796727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7B2BAC-8FDB-4F14-6BB0-80728B3625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1A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1DAD47-08DD-82C9-DC57-86DB3545A9B9}"/>
              </a:ext>
            </a:extLst>
          </p:cNvPr>
          <p:cNvSpPr/>
          <p:nvPr/>
        </p:nvSpPr>
        <p:spPr>
          <a:xfrm>
            <a:off x="355600" y="203200"/>
            <a:ext cx="11480800" cy="6451600"/>
          </a:xfrm>
          <a:prstGeom prst="roundRect">
            <a:avLst/>
          </a:prstGeom>
          <a:solidFill>
            <a:srgbClr val="FAF4E6"/>
          </a:solidFill>
          <a:ln w="317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 useBgFill="1">
        <p:nvSpPr>
          <p:cNvPr id="4" name="Rectangle: Rounded Corners 3">
            <a:extLst>
              <a:ext uri="{FF2B5EF4-FFF2-40B4-BE49-F238E27FC236}">
                <a16:creationId xmlns:a16="http://schemas.microsoft.com/office/drawing/2014/main" id="{096F03AB-48B4-C234-FEAC-73D521ECC33C}"/>
              </a:ext>
            </a:extLst>
          </p:cNvPr>
          <p:cNvSpPr/>
          <p:nvPr/>
        </p:nvSpPr>
        <p:spPr>
          <a:xfrm>
            <a:off x="419100" y="266700"/>
            <a:ext cx="11353800" cy="6324600"/>
          </a:xfrm>
          <a:prstGeom prst="roundRect">
            <a:avLst/>
          </a:prstGeom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63EA5-37A3-60BF-C142-EDDB201380B4}"/>
              </a:ext>
            </a:extLst>
          </p:cNvPr>
          <p:cNvSpPr txBox="1"/>
          <p:nvPr/>
        </p:nvSpPr>
        <p:spPr>
          <a:xfrm>
            <a:off x="4699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2CFBA-8F13-6BFF-4691-6E3AE383AA4C}"/>
              </a:ext>
            </a:extLst>
          </p:cNvPr>
          <p:cNvSpPr txBox="1"/>
          <p:nvPr/>
        </p:nvSpPr>
        <p:spPr>
          <a:xfrm>
            <a:off x="11569700" y="2921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A07C5-11BA-174F-F911-2BA6D0E1FBB4}"/>
              </a:ext>
            </a:extLst>
          </p:cNvPr>
          <p:cNvSpPr txBox="1"/>
          <p:nvPr/>
        </p:nvSpPr>
        <p:spPr>
          <a:xfrm>
            <a:off x="4699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E8E46-405E-AEC0-38BF-686ACDB4DABC}"/>
              </a:ext>
            </a:extLst>
          </p:cNvPr>
          <p:cNvSpPr txBox="1"/>
          <p:nvPr/>
        </p:nvSpPr>
        <p:spPr>
          <a:xfrm>
            <a:off x="11569700" y="6362700"/>
            <a:ext cx="2032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>
                <a:solidFill>
                  <a:srgbClr val="B8862B"/>
                </a:solidFill>
                <a:latin typeface="Georgia" panose="02040502050405020303" pitchFamily="18" charset="0"/>
              </a:rPr>
              <a:t>❖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F1C54-5928-D634-C8E2-A5FE2AACCA7D}"/>
              </a:ext>
            </a:extLst>
          </p:cNvPr>
          <p:cNvSpPr txBox="1"/>
          <p:nvPr/>
        </p:nvSpPr>
        <p:spPr>
          <a:xfrm>
            <a:off x="635000" y="406400"/>
            <a:ext cx="7620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950" b="1">
                <a:solidFill>
                  <a:srgbClr val="7A1F1F"/>
                </a:solidFill>
                <a:latin typeface="Georgia" panose="02040502050405020303" pitchFamily="18" charset="0"/>
              </a:rPr>
              <a:t>❖  CHAPTER X • LIVING RELEVANCE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154562-58B0-39E2-4089-317CBD5333CC}"/>
              </a:ext>
            </a:extLst>
          </p:cNvPr>
          <p:cNvSpPr/>
          <p:nvPr/>
        </p:nvSpPr>
        <p:spPr>
          <a:xfrm>
            <a:off x="9779000" y="381000"/>
            <a:ext cx="1778000" cy="254000"/>
          </a:xfrm>
          <a:prstGeom prst="roundRect">
            <a:avLst/>
          </a:prstGeom>
          <a:solidFill>
            <a:srgbClr val="F1E4C3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50" b="1">
                <a:solidFill>
                  <a:srgbClr val="4A3220"/>
                </a:solidFill>
                <a:latin typeface="Georgia" panose="02040502050405020303" pitchFamily="18" charset="0"/>
              </a:rPr>
              <a:t>FOLIO X DE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011F2-A27E-4AA8-2942-CC7C84EFB3C7}"/>
              </a:ext>
            </a:extLst>
          </p:cNvPr>
          <p:cNvSpPr txBox="1"/>
          <p:nvPr/>
        </p:nvSpPr>
        <p:spPr>
          <a:xfrm>
            <a:off x="635000" y="685800"/>
            <a:ext cx="1092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2000" b="1">
                <a:solidFill>
                  <a:srgbClr val="2A1A0E"/>
                </a:solidFill>
                <a:latin typeface="Georgia" panose="02040502050405020303" pitchFamily="18" charset="0"/>
              </a:rPr>
              <a:t>THE VERDICT: STILL RELEVANT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EA5247-5FD7-9F59-B73D-C24CD7C9724B}"/>
              </a:ext>
            </a:extLst>
          </p:cNvPr>
          <p:cNvSpPr/>
          <p:nvPr/>
        </p:nvSpPr>
        <p:spPr>
          <a:xfrm>
            <a:off x="635000" y="1143000"/>
            <a:ext cx="10922000" cy="12700"/>
          </a:xfrm>
          <a:prstGeom prst="rect">
            <a:avLst/>
          </a:prstGeom>
          <a:solidFill>
            <a:srgbClr val="B886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404489-B771-819C-6791-DC3218CC5FA0}"/>
              </a:ext>
            </a:extLst>
          </p:cNvPr>
          <p:cNvSpPr txBox="1"/>
          <p:nvPr/>
        </p:nvSpPr>
        <p:spPr>
          <a:xfrm>
            <a:off x="635000" y="1193800"/>
            <a:ext cx="10922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i="1">
                <a:solidFill>
                  <a:srgbClr val="4A3220"/>
                </a:solidFill>
                <a:latin typeface="Georgia" panose="02040502050405020303" pitchFamily="18" charset="0"/>
              </a:rPr>
              <a:t>A Living Ethical Compass for Contemporary Life and Global Citizenship</a:t>
            </a:r>
            <a:endParaRPr lang="en-ID" sz="1050" i="1">
              <a:solidFill>
                <a:srgbClr val="4A322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775818-A887-2C87-0071-9AE9289E4772}"/>
              </a:ext>
            </a:extLst>
          </p:cNvPr>
          <p:cNvSpPr/>
          <p:nvPr/>
        </p:nvSpPr>
        <p:spPr>
          <a:xfrm>
            <a:off x="635000" y="1498600"/>
            <a:ext cx="4127500" cy="43688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09106184-9484-4DC6-ED95-49C37096DE29}"/>
              </a:ext>
            </a:extLst>
          </p:cNvPr>
          <p:cNvSpPr/>
          <p:nvPr/>
        </p:nvSpPr>
        <p:spPr>
          <a:xfrm>
            <a:off x="7112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BA9ED3CF-3DD5-500B-CB39-A95E13068E13}"/>
              </a:ext>
            </a:extLst>
          </p:cNvPr>
          <p:cNvSpPr/>
          <p:nvPr/>
        </p:nvSpPr>
        <p:spPr>
          <a:xfrm>
            <a:off x="4597400" y="15748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316C7553-01CF-8666-7CEC-85BE9B142F24}"/>
              </a:ext>
            </a:extLst>
          </p:cNvPr>
          <p:cNvSpPr/>
          <p:nvPr/>
        </p:nvSpPr>
        <p:spPr>
          <a:xfrm>
            <a:off x="7112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61163F31-3FF6-75E2-7C25-06F80C7553BD}"/>
              </a:ext>
            </a:extLst>
          </p:cNvPr>
          <p:cNvSpPr/>
          <p:nvPr/>
        </p:nvSpPr>
        <p:spPr>
          <a:xfrm>
            <a:off x="4597400" y="5702300"/>
            <a:ext cx="88900" cy="88900"/>
          </a:xfrm>
          <a:prstGeom prst="pentagon">
            <a:avLst/>
          </a:prstGeom>
          <a:solidFill>
            <a:srgbClr val="D4AF37"/>
          </a:solidFill>
          <a:ln w="6350">
            <a:solidFill>
              <a:srgbClr val="7A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F478E4-14DA-BC3E-5ED0-9F06335CC4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25600"/>
            <a:ext cx="3873500" cy="20320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E534003-A692-BBC7-AA7F-A1B66FD6531E}"/>
              </a:ext>
            </a:extLst>
          </p:cNvPr>
          <p:cNvSpPr/>
          <p:nvPr/>
        </p:nvSpPr>
        <p:spPr>
          <a:xfrm>
            <a:off x="838200" y="1701800"/>
            <a:ext cx="1397000" cy="228600"/>
          </a:xfrm>
          <a:prstGeom prst="roundRect">
            <a:avLst/>
          </a:prstGeom>
          <a:solidFill>
            <a:srgbClr val="2A1A0E"/>
          </a:solidFill>
          <a:ln w="9525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" b="1">
                <a:solidFill>
                  <a:srgbClr val="F1E4C3"/>
                </a:solidFill>
                <a:latin typeface="Georgia" panose="02040502050405020303" pitchFamily="18" charset="0"/>
              </a:rPr>
              <a:t>ARCHIVE • CH. 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E8942-3CAC-C77B-0DF4-7D38E16F11BE}"/>
              </a:ext>
            </a:extLst>
          </p:cNvPr>
          <p:cNvSpPr txBox="1"/>
          <p:nvPr/>
        </p:nvSpPr>
        <p:spPr>
          <a:xfrm>
            <a:off x="762000" y="3733800"/>
            <a:ext cx="387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D" sz="900" i="1">
                <a:solidFill>
                  <a:srgbClr val="FAF4E6"/>
                </a:solidFill>
                <a:latin typeface="Georgia" panose="02040502050405020303" pitchFamily="18" charset="0"/>
              </a:rPr>
              <a:t>Gandhi, London, 1931</a:t>
            </a:r>
            <a:r>
              <a:rPr lang="en-US" sz="800" i="1">
                <a:solidFill>
                  <a:srgbClr val="D4BE88"/>
                </a:solidFill>
                <a:latin typeface="Georgia" panose="02040502050405020303" pitchFamily="18" charset="0"/>
              </a:rPr>
              <a:t>
• Photos: Wikimedia Commons (public domain)</a:t>
            </a:r>
            <a:endParaRPr lang="en-ID" sz="800" i="1">
              <a:solidFill>
                <a:srgbClr val="D4BE88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5C0799C-4C0D-6BB2-4BB1-CD9967B1EAC8}"/>
              </a:ext>
            </a:extLst>
          </p:cNvPr>
          <p:cNvSpPr/>
          <p:nvPr/>
        </p:nvSpPr>
        <p:spPr>
          <a:xfrm>
            <a:off x="762000" y="4648200"/>
            <a:ext cx="3873500" cy="1092200"/>
          </a:xfrm>
          <a:prstGeom prst="roundRect">
            <a:avLst/>
          </a:prstGeom>
          <a:solidFill>
            <a:srgbClr val="3D2717"/>
          </a:solidFill>
          <a:ln w="1270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50800" rtlCol="0" anchor="ctr"/>
          <a:lstStyle/>
          <a:p>
            <a:pPr algn="ctr"/>
            <a:r>
              <a:rPr lang="en-ID" sz="750" b="1">
                <a:solidFill>
                  <a:srgbClr val="D4AF37"/>
                </a:solidFill>
                <a:latin typeface="Georgia" panose="02040502050405020303" pitchFamily="18" charset="0"/>
              </a:rPr>
              <a:t>❝ DICTUM MAHATMA GANDHI
</a:t>
            </a:r>
            <a:r>
              <a:rPr lang="en-US" sz="950" b="1" i="1">
                <a:solidFill>
                  <a:srgbClr val="F1E4C3"/>
                </a:solidFill>
                <a:latin typeface="Georgia" panose="02040502050405020303" pitchFamily="18" charset="0"/>
              </a:rPr>
              <a:t>"You must be the change you wish to see in the world."</a:t>
            </a:r>
            <a:endParaRPr lang="en-ID" sz="950" b="1" i="1">
              <a:solidFill>
                <a:srgbClr val="F1E4C3"/>
              </a:solidFill>
              <a:latin typeface="Georgia" panose="02040502050405020303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E703BA9-7E0B-08EA-6E1B-CD083617F7AD}"/>
              </a:ext>
            </a:extLst>
          </p:cNvPr>
          <p:cNvGrpSpPr/>
          <p:nvPr/>
        </p:nvGrpSpPr>
        <p:grpSpPr>
          <a:xfrm>
            <a:off x="5016500" y="1498600"/>
            <a:ext cx="6540500" cy="660400"/>
            <a:chOff x="5016500" y="1498600"/>
            <a:chExt cx="6540500" cy="6604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A853463-20CC-9D58-5E27-4C6125EC1A6E}"/>
                </a:ext>
              </a:extLst>
            </p:cNvPr>
            <p:cNvSpPr/>
            <p:nvPr/>
          </p:nvSpPr>
          <p:spPr>
            <a:xfrm>
              <a:off x="5016500" y="14986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FDB9A0C-3C55-540F-7ACD-7AED2D0A5F02}"/>
                </a:ext>
              </a:extLst>
            </p:cNvPr>
            <p:cNvSpPr/>
            <p:nvPr/>
          </p:nvSpPr>
          <p:spPr>
            <a:xfrm>
              <a:off x="5168900" y="16764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DB4105-DA8B-55D0-7410-90C6280F372F}"/>
                </a:ext>
              </a:extLst>
            </p:cNvPr>
            <p:cNvSpPr txBox="1"/>
            <p:nvPr/>
          </p:nvSpPr>
          <p:spPr>
            <a:xfrm>
              <a:off x="5626100" y="1498600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A compass, not a rulebook: An enduring framework for moral decision-making in personal and public affairs.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6A3DF54-6CCB-E5FF-40CD-52542968C084}"/>
              </a:ext>
            </a:extLst>
          </p:cNvPr>
          <p:cNvGrpSpPr/>
          <p:nvPr/>
        </p:nvGrpSpPr>
        <p:grpSpPr>
          <a:xfrm>
            <a:off x="5016500" y="2285999"/>
            <a:ext cx="6540500" cy="660401"/>
            <a:chOff x="5016500" y="2285999"/>
            <a:chExt cx="6540500" cy="66040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931D351-5345-5744-E8D3-D339D9DBEF31}"/>
                </a:ext>
              </a:extLst>
            </p:cNvPr>
            <p:cNvSpPr/>
            <p:nvPr/>
          </p:nvSpPr>
          <p:spPr>
            <a:xfrm>
              <a:off x="5016500" y="22860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6EC8B92-4E75-2452-3E3A-4D35C1CDEC3C}"/>
                </a:ext>
              </a:extLst>
            </p:cNvPr>
            <p:cNvSpPr/>
            <p:nvPr/>
          </p:nvSpPr>
          <p:spPr>
            <a:xfrm>
              <a:off x="5168900" y="24638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2050FF1-8BB1-8603-1FE0-8E324979CC1F}"/>
                </a:ext>
              </a:extLst>
            </p:cNvPr>
            <p:cNvSpPr txBox="1"/>
            <p:nvPr/>
          </p:nvSpPr>
          <p:spPr>
            <a:xfrm>
              <a:off x="5626100" y="2285999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Choose peace, truth, and simplicity in everyday choices, leadership, and community action.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4958D27-BC55-0691-6B6A-A2F9CF45E884}"/>
              </a:ext>
            </a:extLst>
          </p:cNvPr>
          <p:cNvGrpSpPr/>
          <p:nvPr/>
        </p:nvGrpSpPr>
        <p:grpSpPr>
          <a:xfrm>
            <a:off x="5016500" y="3073400"/>
            <a:ext cx="6540500" cy="660400"/>
            <a:chOff x="5016500" y="3073400"/>
            <a:chExt cx="6540500" cy="6604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C90DD3B-7433-706C-D2A8-19A7F980F89F}"/>
                </a:ext>
              </a:extLst>
            </p:cNvPr>
            <p:cNvSpPr/>
            <p:nvPr/>
          </p:nvSpPr>
          <p:spPr>
            <a:xfrm>
              <a:off x="5016500" y="30734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9588C5-E00E-4E8B-B89A-7B07CF3097DA}"/>
                </a:ext>
              </a:extLst>
            </p:cNvPr>
            <p:cNvSpPr/>
            <p:nvPr/>
          </p:nvSpPr>
          <p:spPr>
            <a:xfrm>
              <a:off x="5168900" y="32512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3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5FD92F7-7B22-6B23-C06C-F0D5685FBA4C}"/>
                </a:ext>
              </a:extLst>
            </p:cNvPr>
            <p:cNvSpPr txBox="1"/>
            <p:nvPr/>
          </p:nvSpPr>
          <p:spPr>
            <a:xfrm>
              <a:off x="5626100" y="3073400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US" sz="1100">
                  <a:solidFill>
                    <a:srgbClr val="2A1A0E"/>
                  </a:solidFill>
                  <a:latin typeface="Georgia" panose="02040502050405020303" pitchFamily="18" charset="0"/>
                </a:rPr>
                <a:t>"Be the change you wish to see in the world" (attributed to Gandhi) — Individual integrity inspires collective transformation.</a:t>
              </a:r>
              <a:endParaRPr lang="en-ID" sz="1100">
                <a:solidFill>
                  <a:srgbClr val="2A1A0E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BB75D1-8890-0B72-9A88-52471A1DE058}"/>
              </a:ext>
            </a:extLst>
          </p:cNvPr>
          <p:cNvGrpSpPr/>
          <p:nvPr/>
        </p:nvGrpSpPr>
        <p:grpSpPr>
          <a:xfrm>
            <a:off x="5016500" y="3860799"/>
            <a:ext cx="6540500" cy="660401"/>
            <a:chOff x="5016500" y="3860799"/>
            <a:chExt cx="6540500" cy="660401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00A12D0-0E8F-2B2B-8EED-E40C0765B254}"/>
                </a:ext>
              </a:extLst>
            </p:cNvPr>
            <p:cNvSpPr/>
            <p:nvPr/>
          </p:nvSpPr>
          <p:spPr>
            <a:xfrm>
              <a:off x="5016500" y="3860800"/>
              <a:ext cx="6540500" cy="660400"/>
            </a:xfrm>
            <a:prstGeom prst="roundRect">
              <a:avLst/>
            </a:prstGeom>
            <a:solidFill>
              <a:srgbClr val="F1E4C3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30E0B8F-C081-765B-3A54-E38449BD9C50}"/>
                </a:ext>
              </a:extLst>
            </p:cNvPr>
            <p:cNvSpPr/>
            <p:nvPr/>
          </p:nvSpPr>
          <p:spPr>
            <a:xfrm>
              <a:off x="5168900" y="4038600"/>
              <a:ext cx="304800" cy="304800"/>
            </a:xfrm>
            <a:prstGeom prst="roundRect">
              <a:avLst/>
            </a:prstGeom>
            <a:solidFill>
              <a:srgbClr val="7A1F1F"/>
            </a:solidFill>
            <a:ln w="9525">
              <a:solidFill>
                <a:srgbClr val="B886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D" sz="950" b="1">
                  <a:solidFill>
                    <a:srgbClr val="F1E4C3"/>
                  </a:solidFill>
                  <a:latin typeface="Georgia" panose="02040502050405020303" pitchFamily="18" charset="0"/>
                </a:rPr>
                <a:t>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94E0C3F-2F32-44C3-BEAC-E6DD699737CD}"/>
                </a:ext>
              </a:extLst>
            </p:cNvPr>
            <p:cNvSpPr txBox="1"/>
            <p:nvPr/>
          </p:nvSpPr>
          <p:spPr>
            <a:xfrm>
              <a:off x="5626100" y="3860799"/>
              <a:ext cx="5778500" cy="660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n-ID" sz="1100">
                  <a:solidFill>
                    <a:srgbClr val="2A1A0E"/>
                  </a:solidFill>
                  <a:latin typeface="Georgia" panose="02040502050405020303" pitchFamily="18" charset="0"/>
                </a:rPr>
                <a:t>Thank you! Jai Hind!</a:t>
              </a:r>
            </a:p>
          </p:txBody>
        </p:sp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2BDB457-8E54-7D0E-4178-D8436601424D}"/>
              </a:ext>
            </a:extLst>
          </p:cNvPr>
          <p:cNvSpPr/>
          <p:nvPr/>
        </p:nvSpPr>
        <p:spPr>
          <a:xfrm>
            <a:off x="5016500" y="5384800"/>
            <a:ext cx="6540500" cy="482600"/>
          </a:xfrm>
          <a:prstGeom prst="roundRect">
            <a:avLst/>
          </a:prstGeom>
          <a:solidFill>
            <a:srgbClr val="2A1A0E"/>
          </a:solidFill>
          <a:ln w="19050">
            <a:solidFill>
              <a:srgbClr val="B886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50" b="1">
                <a:solidFill>
                  <a:srgbClr val="D4AF37"/>
                </a:solidFill>
                <a:latin typeface="Georgia" panose="02040502050405020303" pitchFamily="18" charset="0"/>
              </a:rPr>
              <a:t>❖   THANK YOU! JAI HIND!       —       IN MEMORIAM MAHATMA GANDHI</a:t>
            </a:r>
            <a:endParaRPr lang="en-ID" sz="950" b="1">
              <a:solidFill>
                <a:srgbClr val="D4AF37"/>
              </a:solidFill>
              <a:latin typeface="Georgia" panose="02040502050405020303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97E9D8-6C43-CF41-A871-E0CB3B517C34}"/>
              </a:ext>
            </a:extLst>
          </p:cNvPr>
          <p:cNvSpPr/>
          <p:nvPr/>
        </p:nvSpPr>
        <p:spPr>
          <a:xfrm>
            <a:off x="635000" y="6350000"/>
            <a:ext cx="10922000" cy="12700"/>
          </a:xfrm>
          <a:prstGeom prst="rect">
            <a:avLst/>
          </a:prstGeom>
          <a:solidFill>
            <a:srgbClr val="7A1F1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326B65-FF7F-4683-165B-9537A83100EE}"/>
              </a:ext>
            </a:extLst>
          </p:cNvPr>
          <p:cNvSpPr txBox="1"/>
          <p:nvPr/>
        </p:nvSpPr>
        <p:spPr>
          <a:xfrm>
            <a:off x="762000" y="6388100"/>
            <a:ext cx="3048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❖  GANDHI JAYANTI • II OCTOBER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FF6BD2-4FB0-ABA1-7D57-8D3A9D1F55E5}"/>
              </a:ext>
            </a:extLst>
          </p:cNvPr>
          <p:cNvSpPr txBox="1"/>
          <p:nvPr/>
        </p:nvSpPr>
        <p:spPr>
          <a:xfrm>
            <a:off x="3683000" y="6388100"/>
            <a:ext cx="4826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D" sz="750" b="1">
                <a:solidFill>
                  <a:srgbClr val="7A1F1F"/>
                </a:solidFill>
                <a:latin typeface="Georgia" panose="02040502050405020303" pitchFamily="18" charset="0"/>
              </a:rPr>
              <a:t>TRUTH  •  NON-VIOLENCE  •  PEACE  •  DIGNITY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3BB12F-41FC-030C-4A46-FFE45700F75A}"/>
              </a:ext>
            </a:extLst>
          </p:cNvPr>
          <p:cNvSpPr txBox="1"/>
          <p:nvPr/>
        </p:nvSpPr>
        <p:spPr>
          <a:xfrm>
            <a:off x="9271000" y="63881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D" sz="750" b="1">
                <a:solidFill>
                  <a:srgbClr val="4A3220"/>
                </a:solidFill>
                <a:latin typeface="Georgia" panose="02040502050405020303" pitchFamily="18" charset="0"/>
              </a:rPr>
              <a:t>FOLIO X / X  ❖</a:t>
            </a:r>
          </a:p>
        </p:txBody>
      </p:sp>
    </p:spTree>
    <p:extLst>
      <p:ext uri="{BB962C8B-B14F-4D97-AF65-F5344CB8AC3E}">
        <p14:creationId xmlns:p14="http://schemas.microsoft.com/office/powerpoint/2010/main" val="4112469426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1545</Words>
  <Application>Microsoft Office PowerPoint</Application>
  <PresentationFormat>Custom</PresentationFormat>
  <Paragraphs>224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vashisht</dc:creator>
  <cp:lastModifiedBy>dev vashisht</cp:lastModifiedBy>
  <cp:revision>1</cp:revision>
  <dcterms:created xsi:type="dcterms:W3CDTF">2026-09-30T12:58:41Z</dcterms:created>
  <dcterms:modified xsi:type="dcterms:W3CDTF">2026-09-30T12:58:42Z</dcterms:modified>
</cp:coreProperties>
</file>