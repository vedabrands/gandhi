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58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638F4-85A3-95DE-DB4C-06A2CB0A51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D3430C-BAD6-A4E3-3290-809CFA09D2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21892A-3835-0566-1D22-EF0B2D93F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ADFCE-DC36-4646-BC3E-9394D137F47F}" type="datetimeFigureOut">
              <a:rPr lang="en-ID" smtClean="0"/>
              <a:t>30/09/2026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C93A7F-4695-F0EF-00EC-243397D36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7AC32D-920A-A393-A90B-48716E4C4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4BB37-C24F-4E3A-92B2-696A79320F3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19823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DC258-E65A-79DB-9C66-0D42DF520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CC6E3-1E76-7E51-2192-8FA6DFED59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BFE1D-549F-BA18-C7EA-51DE4D136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ADFCE-DC36-4646-BC3E-9394D137F47F}" type="datetimeFigureOut">
              <a:rPr lang="en-ID" smtClean="0"/>
              <a:t>30/09/2026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025768-2B2A-FA98-ECCF-F529DE2F3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50A66-9012-8BFD-F74D-B595051E0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4BB37-C24F-4E3A-92B2-696A79320F3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04957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E6229A-7E05-462A-5BF4-BAE686AE9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6D68D-5821-9AC6-8DAC-3A85BA1D91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F3CAEF-C0CB-DBBE-B4CC-22CA69862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ADFCE-DC36-4646-BC3E-9394D137F47F}" type="datetimeFigureOut">
              <a:rPr lang="en-ID" smtClean="0"/>
              <a:t>30/09/2026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3A6D06-77D5-5A2B-4F48-EEEA11FEC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2340F2-8445-4B60-C40C-AE201A6EB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4BB37-C24F-4E3A-92B2-696A79320F3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1794751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C5270-591D-B4EE-14F6-DD9A850C6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D5F629-A641-C0CC-BFDF-2413F13D51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01F578-EC49-1C62-66D2-F02D4212AB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DEE269-A53A-C50E-DE22-BD9464D4D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ADFCE-DC36-4646-BC3E-9394D137F47F}" type="datetimeFigureOut">
              <a:rPr lang="en-ID" smtClean="0"/>
              <a:t>30/09/2026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8F4AFE-8CA9-D4A2-B292-DEEC7E231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2C0B70-2F39-C9E1-A2C8-DA2825751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4BB37-C24F-4E3A-92B2-696A79320F3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74692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044DF-B335-488D-391A-518855BA47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3DB028-486B-C5E1-9606-2EE792EC72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C794DE-B0D9-4AAF-A3EC-3DAED7EB8F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ED7006-9D90-897B-3C17-A197E48F29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0EC63F-8154-634D-1641-41CD885D92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FB7D71-34B6-CDA7-1E7E-1283E9778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ADFCE-DC36-4646-BC3E-9394D137F47F}" type="datetimeFigureOut">
              <a:rPr lang="en-ID" smtClean="0"/>
              <a:t>30/09/2026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FF8915-8188-D03F-BC16-3EA3051E71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BC073E-EEDF-70D0-3073-EF48F9FB0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4BB37-C24F-4E3A-92B2-696A79320F3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81670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B68BB-3990-8BFD-5C43-8E4AE6B48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3B6820-D741-D156-86C9-1A04961FD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ADFCE-DC36-4646-BC3E-9394D137F47F}" type="datetimeFigureOut">
              <a:rPr lang="en-ID" smtClean="0"/>
              <a:t>30/09/2026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85701A-631F-698E-8640-DACF93F28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3B7F00-E34F-6AC1-E482-4D4FCBA4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4BB37-C24F-4E3A-92B2-696A79320F3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391518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ED7A0A-BF26-A3B8-8471-16CA5A21A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ADFCE-DC36-4646-BC3E-9394D137F47F}" type="datetimeFigureOut">
              <a:rPr lang="en-ID" smtClean="0"/>
              <a:t>30/09/2026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32FD23-1775-944A-A8FE-8B3DFD326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2A4BFF-C078-EDAD-B29C-812F135D2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4BB37-C24F-4E3A-92B2-696A79320F3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676142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65287-E20E-F78B-53C5-4EAA1AE2D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1FAFB-8C62-B589-6AA0-1F02447D3A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451D3C-0E11-5EB7-3551-B47137ABD9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19C1EB-965E-3348-D0FA-016B66154D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ADFCE-DC36-4646-BC3E-9394D137F47F}" type="datetimeFigureOut">
              <a:rPr lang="en-ID" smtClean="0"/>
              <a:t>30/09/2026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259480-D040-1628-00AA-95D5241D9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508D0E-347F-5143-18BB-69652D4B7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4BB37-C24F-4E3A-92B2-696A79320F3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9051360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AB9B0-8960-305C-A278-51AF98E10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87B6CA-F775-394F-EE8B-954ACF5CB5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7E41C-5A5A-34A7-8AE3-8858D72BDE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1C49D1-F3DC-5BFB-8A9B-5CD20635B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ADFCE-DC36-4646-BC3E-9394D137F47F}" type="datetimeFigureOut">
              <a:rPr lang="en-ID" smtClean="0"/>
              <a:t>30/09/2026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5D87E9-2C08-2856-14A2-2487EC3FC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85E598-9A78-CCA9-9B1F-928342853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4BB37-C24F-4E3A-92B2-696A79320F3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916972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BCC6A-475F-40CE-41A4-41DB3096A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10FD37-8647-EC99-7A06-CFE0BF32B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C0AA1F-9D29-CAFF-F3F6-C862FD9DA0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ADFCE-DC36-4646-BC3E-9394D137F47F}" type="datetimeFigureOut">
              <a:rPr lang="en-ID" smtClean="0"/>
              <a:t>30/09/2026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245384-E280-3091-B601-C20BB8F850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D0EBA-8B5B-9FB1-0C37-7A8ECB96A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4BB37-C24F-4E3A-92B2-696A79320F3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12543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E931CC-1007-5DD0-EC8D-801A162272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8B9F72-25FA-954A-9652-78F4056D98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ED4A22-5C39-B982-672E-85D097DA9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ADFCE-DC36-4646-BC3E-9394D137F47F}" type="datetimeFigureOut">
              <a:rPr lang="en-ID" smtClean="0"/>
              <a:t>30/09/2026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D4975F-AE4E-2CAD-D79A-681929F7F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1CF532-815C-2F3B-F6FD-694CCB4D0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94BB37-C24F-4E3A-92B2-696A79320F3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379708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88E44FE-BB99-A7EA-2325-52762E79D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681E63-BADF-AEBC-824E-740F835C7B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3E05A-1179-7AE7-DF8E-C79E5038A1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0ADFCE-DC36-4646-BC3E-9394D137F47F}" type="datetimeFigureOut">
              <a:rPr lang="en-ID" smtClean="0"/>
              <a:t>30/09/2026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0B2CD-4E49-E762-22FF-4CBE99C69B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D46840-84AA-DEB3-5BBC-40932B72CA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94BB37-C24F-4E3A-92B2-696A79320F39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544536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D550A4-C8CC-8889-3182-A588DE87E2A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1A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18C322C2-139E-7C11-7804-9497AF8B18F9}"/>
              </a:ext>
            </a:extLst>
          </p:cNvPr>
          <p:cNvSpPr/>
          <p:nvPr/>
        </p:nvSpPr>
        <p:spPr>
          <a:xfrm>
            <a:off x="355600" y="203200"/>
            <a:ext cx="11480800" cy="6451600"/>
          </a:xfrm>
          <a:prstGeom prst="roundRect">
            <a:avLst/>
          </a:prstGeom>
          <a:solidFill>
            <a:srgbClr val="FAF4E6"/>
          </a:solidFill>
          <a:ln w="317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 useBgFill="1">
        <p:nvSpPr>
          <p:cNvPr id="4" name="Rectangle: Rounded Corners 3">
            <a:extLst>
              <a:ext uri="{FF2B5EF4-FFF2-40B4-BE49-F238E27FC236}">
                <a16:creationId xmlns:a16="http://schemas.microsoft.com/office/drawing/2014/main" id="{DB172FFD-A1D1-A680-AD5F-11123BF03699}"/>
              </a:ext>
            </a:extLst>
          </p:cNvPr>
          <p:cNvSpPr/>
          <p:nvPr/>
        </p:nvSpPr>
        <p:spPr>
          <a:xfrm>
            <a:off x="419100" y="266700"/>
            <a:ext cx="11353800" cy="6324600"/>
          </a:xfrm>
          <a:prstGeom prst="roundRect">
            <a:avLst/>
          </a:prstGeom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F6094C-E95E-7A15-F17D-6B8FA1458BCE}"/>
              </a:ext>
            </a:extLst>
          </p:cNvPr>
          <p:cNvSpPr txBox="1"/>
          <p:nvPr/>
        </p:nvSpPr>
        <p:spPr>
          <a:xfrm>
            <a:off x="4699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7D546A-C1C8-DEA1-ABD3-0810EDE3590A}"/>
              </a:ext>
            </a:extLst>
          </p:cNvPr>
          <p:cNvSpPr txBox="1"/>
          <p:nvPr/>
        </p:nvSpPr>
        <p:spPr>
          <a:xfrm>
            <a:off x="115697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E0B143-043A-C6CD-5D90-C4B796447F78}"/>
              </a:ext>
            </a:extLst>
          </p:cNvPr>
          <p:cNvSpPr txBox="1"/>
          <p:nvPr/>
        </p:nvSpPr>
        <p:spPr>
          <a:xfrm>
            <a:off x="4699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8336ED-C996-09B0-B76D-C3468E2CC19C}"/>
              </a:ext>
            </a:extLst>
          </p:cNvPr>
          <p:cNvSpPr txBox="1"/>
          <p:nvPr/>
        </p:nvSpPr>
        <p:spPr>
          <a:xfrm>
            <a:off x="115697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EE21D5-79AE-BE9E-6CD5-6387B19C71FC}"/>
              </a:ext>
            </a:extLst>
          </p:cNvPr>
          <p:cNvSpPr txBox="1"/>
          <p:nvPr/>
        </p:nvSpPr>
        <p:spPr>
          <a:xfrm>
            <a:off x="635000" y="406400"/>
            <a:ext cx="76200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50" b="1">
                <a:solidFill>
                  <a:srgbClr val="7A1F1F"/>
                </a:solidFill>
                <a:latin typeface="Georgia" panose="02040502050405020303" pitchFamily="18" charset="0"/>
              </a:rPr>
              <a:t>❖  CHAPTER I • 21ST CENTURY INQUIRY</a:t>
            </a:r>
            <a:endParaRPr lang="en-ID" sz="950" b="1">
              <a:solidFill>
                <a:srgbClr val="7A1F1F"/>
              </a:solidFill>
              <a:latin typeface="Georgia" panose="02040502050405020303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547A7F8-BAB1-AC03-E200-6A9EC397362C}"/>
              </a:ext>
            </a:extLst>
          </p:cNvPr>
          <p:cNvSpPr/>
          <p:nvPr/>
        </p:nvSpPr>
        <p:spPr>
          <a:xfrm>
            <a:off x="9779000" y="381000"/>
            <a:ext cx="1778000" cy="254000"/>
          </a:xfrm>
          <a:prstGeom prst="roundRect">
            <a:avLst/>
          </a:prstGeom>
          <a:solidFill>
            <a:srgbClr val="F1E4C3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850" b="1">
                <a:solidFill>
                  <a:srgbClr val="4A3220"/>
                </a:solidFill>
                <a:latin typeface="Georgia" panose="02040502050405020303" pitchFamily="18" charset="0"/>
              </a:rPr>
              <a:t>FOLIO I DE 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670ADC-0DAE-9E57-6D85-3F83B487A422}"/>
              </a:ext>
            </a:extLst>
          </p:cNvPr>
          <p:cNvSpPr txBox="1"/>
          <p:nvPr/>
        </p:nvSpPr>
        <p:spPr>
          <a:xfrm>
            <a:off x="635000" y="685800"/>
            <a:ext cx="10922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b="1">
                <a:solidFill>
                  <a:srgbClr val="2A1A0E"/>
                </a:solidFill>
                <a:latin typeface="Georgia" panose="02040502050405020303" pitchFamily="18" charset="0"/>
              </a:rPr>
              <a:t>IS GANDHIAN PHILOSOPHY STILL RELEVANT IN THE 21ST CENTURY?</a:t>
            </a:r>
            <a:endParaRPr lang="en-ID" sz="1600" b="1">
              <a:solidFill>
                <a:srgbClr val="2A1A0E"/>
              </a:solidFill>
              <a:latin typeface="Georgia" panose="02040502050405020303" pitchFamily="18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3A70566-AF02-5A3F-6232-E18719833BAE}"/>
              </a:ext>
            </a:extLst>
          </p:cNvPr>
          <p:cNvSpPr/>
          <p:nvPr/>
        </p:nvSpPr>
        <p:spPr>
          <a:xfrm>
            <a:off x="635000" y="1143000"/>
            <a:ext cx="10922000" cy="12700"/>
          </a:xfrm>
          <a:prstGeom prst="rect">
            <a:avLst/>
          </a:prstGeom>
          <a:solidFill>
            <a:srgbClr val="B886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8B3AFD-6EF8-520E-D93D-C719774D73AD}"/>
              </a:ext>
            </a:extLst>
          </p:cNvPr>
          <p:cNvSpPr txBox="1"/>
          <p:nvPr/>
        </p:nvSpPr>
        <p:spPr>
          <a:xfrm>
            <a:off x="635000" y="11938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 i="1">
                <a:solidFill>
                  <a:srgbClr val="4A3220"/>
                </a:solidFill>
                <a:latin typeface="Georgia" panose="02040502050405020303" pitchFamily="18" charset="0"/>
              </a:rPr>
              <a:t>An Exploration of Truth, Non-Violence, and Moral Courage in the Modern Age</a:t>
            </a:r>
            <a:endParaRPr lang="en-ID" sz="1050" i="1">
              <a:solidFill>
                <a:srgbClr val="4A3220"/>
              </a:solidFill>
              <a:latin typeface="Georgia" panose="02040502050405020303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290AEA5-77BB-A1CD-0FBD-AE24280AD803}"/>
              </a:ext>
            </a:extLst>
          </p:cNvPr>
          <p:cNvSpPr/>
          <p:nvPr/>
        </p:nvSpPr>
        <p:spPr>
          <a:xfrm>
            <a:off x="7429500" y="1498600"/>
            <a:ext cx="4127500" cy="4368800"/>
          </a:xfrm>
          <a:prstGeom prst="roundRect">
            <a:avLst/>
          </a:prstGeom>
          <a:solidFill>
            <a:srgbClr val="2A1A0E"/>
          </a:solidFill>
          <a:ln w="1905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736FC6F4-6F35-CA1D-1CD8-68B9624293FB}"/>
              </a:ext>
            </a:extLst>
          </p:cNvPr>
          <p:cNvSpPr/>
          <p:nvPr/>
        </p:nvSpPr>
        <p:spPr>
          <a:xfrm>
            <a:off x="75057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E840B87B-2A9A-AE6B-26AB-12ACABEC2755}"/>
              </a:ext>
            </a:extLst>
          </p:cNvPr>
          <p:cNvSpPr/>
          <p:nvPr/>
        </p:nvSpPr>
        <p:spPr>
          <a:xfrm>
            <a:off x="113919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0653C886-DBBC-87C7-B00F-4741337A0C12}"/>
              </a:ext>
            </a:extLst>
          </p:cNvPr>
          <p:cNvSpPr/>
          <p:nvPr/>
        </p:nvSpPr>
        <p:spPr>
          <a:xfrm>
            <a:off x="75057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7534B4B0-D83E-61BF-9AC2-743DAAF6372A}"/>
              </a:ext>
            </a:extLst>
          </p:cNvPr>
          <p:cNvSpPr/>
          <p:nvPr/>
        </p:nvSpPr>
        <p:spPr>
          <a:xfrm>
            <a:off x="113919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9738BAE-274A-ECD6-0285-FC65F3F56D5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6500" y="1625600"/>
            <a:ext cx="3873500" cy="2032000"/>
          </a:xfrm>
          <a:prstGeom prst="rect">
            <a:avLst/>
          </a:prstGeom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69BE51F-50E6-0726-0AC0-A3D0DD3D468D}"/>
              </a:ext>
            </a:extLst>
          </p:cNvPr>
          <p:cNvSpPr/>
          <p:nvPr/>
        </p:nvSpPr>
        <p:spPr>
          <a:xfrm>
            <a:off x="7632700" y="1701800"/>
            <a:ext cx="1397000" cy="228600"/>
          </a:xfrm>
          <a:prstGeom prst="roundRect">
            <a:avLst/>
          </a:prstGeom>
          <a:solidFill>
            <a:srgbClr val="2A1A0E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750" b="1">
                <a:solidFill>
                  <a:srgbClr val="F1E4C3"/>
                </a:solidFill>
                <a:latin typeface="Georgia" panose="02040502050405020303" pitchFamily="18" charset="0"/>
              </a:rPr>
              <a:t>ARCHIVE • CH. 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3DC2748-9AAD-4D89-EAAF-0AFB25D4CC15}"/>
              </a:ext>
            </a:extLst>
          </p:cNvPr>
          <p:cNvSpPr txBox="1"/>
          <p:nvPr/>
        </p:nvSpPr>
        <p:spPr>
          <a:xfrm>
            <a:off x="7556500" y="3733800"/>
            <a:ext cx="38735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i="1">
                <a:solidFill>
                  <a:srgbClr val="FAF4E6"/>
                </a:solidFill>
                <a:latin typeface="Georgia" panose="02040502050405020303" pitchFamily="18" charset="0"/>
              </a:rPr>
              <a:t>Mohandas Karamchand Gandhi (1869–1948) — Father of the Nation and apostle of non-violence.</a:t>
            </a:r>
            <a:endParaRPr lang="en-ID" sz="900" i="1">
              <a:solidFill>
                <a:srgbClr val="FAF4E6"/>
              </a:solidFill>
              <a:latin typeface="Georgia" panose="02040502050405020303" pitchFamily="18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167229CB-CE16-EC81-F77E-CAA60D5B975D}"/>
              </a:ext>
            </a:extLst>
          </p:cNvPr>
          <p:cNvSpPr/>
          <p:nvPr/>
        </p:nvSpPr>
        <p:spPr>
          <a:xfrm>
            <a:off x="7556500" y="4648200"/>
            <a:ext cx="3873500" cy="1092200"/>
          </a:xfrm>
          <a:prstGeom prst="roundRect">
            <a:avLst/>
          </a:prstGeom>
          <a:solidFill>
            <a:srgbClr val="3D2717"/>
          </a:solidFill>
          <a:ln w="1270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50800" rtlCol="0" anchor="ctr"/>
          <a:lstStyle/>
          <a:p>
            <a:pPr algn="ctr"/>
            <a:r>
              <a:rPr lang="en-ID" sz="750" b="1">
                <a:solidFill>
                  <a:srgbClr val="D4AF37"/>
                </a:solidFill>
                <a:latin typeface="Georgia" panose="02040502050405020303" pitchFamily="18" charset="0"/>
              </a:rPr>
              <a:t>❝ DICTUM MAHATMA GANDHI
</a:t>
            </a:r>
            <a:r>
              <a:rPr lang="en-US" sz="950" b="1" i="1">
                <a:solidFill>
                  <a:srgbClr val="F1E4C3"/>
                </a:solidFill>
                <a:latin typeface="Georgia" panose="02040502050405020303" pitchFamily="18" charset="0"/>
              </a:rPr>
              <a:t>"My life is my message."</a:t>
            </a:r>
            <a:endParaRPr lang="en-ID" sz="950" b="1" i="1">
              <a:solidFill>
                <a:srgbClr val="F1E4C3"/>
              </a:solidFill>
              <a:latin typeface="Georgia" panose="02040502050405020303" pitchFamily="18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ED5C94E-055E-F691-76B8-A8480AC1A3B4}"/>
              </a:ext>
            </a:extLst>
          </p:cNvPr>
          <p:cNvGrpSpPr/>
          <p:nvPr/>
        </p:nvGrpSpPr>
        <p:grpSpPr>
          <a:xfrm>
            <a:off x="635000" y="1498600"/>
            <a:ext cx="6540500" cy="736600"/>
            <a:chOff x="635000" y="1498600"/>
            <a:chExt cx="6540500" cy="7366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3DD44004-FEA5-E608-4DFF-A05223E89C95}"/>
                </a:ext>
              </a:extLst>
            </p:cNvPr>
            <p:cNvSpPr/>
            <p:nvPr/>
          </p:nvSpPr>
          <p:spPr>
            <a:xfrm>
              <a:off x="635000" y="1498600"/>
              <a:ext cx="6540500" cy="7366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E184A960-AFEA-914D-1C0E-7B376DE7B5BC}"/>
                </a:ext>
              </a:extLst>
            </p:cNvPr>
            <p:cNvSpPr/>
            <p:nvPr/>
          </p:nvSpPr>
          <p:spPr>
            <a:xfrm>
              <a:off x="787400" y="17145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16B7C622-9395-3B80-CE0B-42607B52ACFB}"/>
                </a:ext>
              </a:extLst>
            </p:cNvPr>
            <p:cNvSpPr txBox="1"/>
            <p:nvPr/>
          </p:nvSpPr>
          <p:spPr>
            <a:xfrm>
              <a:off x="1244600" y="1498600"/>
              <a:ext cx="5778500" cy="7366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50">
                  <a:solidFill>
                    <a:srgbClr val="2A1A0E"/>
                  </a:solidFill>
                  <a:latin typeface="Georgia" panose="02040502050405020303" pitchFamily="18" charset="0"/>
                </a:rPr>
                <a:t>Gandhi Jayanti, 2 October — Commemorating the global heritage of peace and truth.</a:t>
              </a:r>
              <a:endParaRPr lang="en-ID" sz="11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66847EA-A491-98B8-25BE-84459A15AC5F}"/>
              </a:ext>
            </a:extLst>
          </p:cNvPr>
          <p:cNvGrpSpPr/>
          <p:nvPr/>
        </p:nvGrpSpPr>
        <p:grpSpPr>
          <a:xfrm>
            <a:off x="635000" y="2412999"/>
            <a:ext cx="6540500" cy="736601"/>
            <a:chOff x="635000" y="2412999"/>
            <a:chExt cx="6540500" cy="73660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B62A983C-6FFC-7861-85BE-E5C58EC41850}"/>
                </a:ext>
              </a:extLst>
            </p:cNvPr>
            <p:cNvSpPr/>
            <p:nvPr/>
          </p:nvSpPr>
          <p:spPr>
            <a:xfrm>
              <a:off x="635000" y="2413000"/>
              <a:ext cx="6540500" cy="7366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6E10E9EF-446A-6FD0-C7E4-CE37EDD7A488}"/>
                </a:ext>
              </a:extLst>
            </p:cNvPr>
            <p:cNvSpPr/>
            <p:nvPr/>
          </p:nvSpPr>
          <p:spPr>
            <a:xfrm>
              <a:off x="787400" y="26289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20A6E30-0066-0861-DE31-5153AFB387B2}"/>
                </a:ext>
              </a:extLst>
            </p:cNvPr>
            <p:cNvSpPr txBox="1"/>
            <p:nvPr/>
          </p:nvSpPr>
          <p:spPr>
            <a:xfrm>
              <a:off x="1244600" y="2412999"/>
              <a:ext cx="5778500" cy="7366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50">
                  <a:solidFill>
                    <a:srgbClr val="2A1A0E"/>
                  </a:solidFill>
                  <a:latin typeface="Georgia" panose="02040502050405020303" pitchFamily="18" charset="0"/>
                </a:rPr>
                <a:t>Mohandas Karamchand Gandhi, 1869–1948 — Leader of India's non-violent freedom movement.</a:t>
              </a:r>
              <a:endParaRPr lang="en-ID" sz="11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504BD86-CC2C-83F8-A52B-7F1B75FE35B8}"/>
              </a:ext>
            </a:extLst>
          </p:cNvPr>
          <p:cNvGrpSpPr/>
          <p:nvPr/>
        </p:nvGrpSpPr>
        <p:grpSpPr>
          <a:xfrm>
            <a:off x="635000" y="3327399"/>
            <a:ext cx="6540500" cy="736601"/>
            <a:chOff x="635000" y="3327399"/>
            <a:chExt cx="6540500" cy="736601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5DA6A823-35D2-B72E-6131-A9AA2D27B4AB}"/>
                </a:ext>
              </a:extLst>
            </p:cNvPr>
            <p:cNvSpPr/>
            <p:nvPr/>
          </p:nvSpPr>
          <p:spPr>
            <a:xfrm>
              <a:off x="635000" y="3327400"/>
              <a:ext cx="6540500" cy="7366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91CB3514-E137-5690-AA8A-448FDE67C435}"/>
                </a:ext>
              </a:extLst>
            </p:cNvPr>
            <p:cNvSpPr/>
            <p:nvPr/>
          </p:nvSpPr>
          <p:spPr>
            <a:xfrm>
              <a:off x="787400" y="35433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3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97B985C-596A-C65D-92B2-3EDBB6512639}"/>
                </a:ext>
              </a:extLst>
            </p:cNvPr>
            <p:cNvSpPr txBox="1"/>
            <p:nvPr/>
          </p:nvSpPr>
          <p:spPr>
            <a:xfrm>
              <a:off x="1244600" y="3327399"/>
              <a:ext cx="5778500" cy="7366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50">
                  <a:solidFill>
                    <a:srgbClr val="2A1A0E"/>
                  </a:solidFill>
                  <a:latin typeface="Georgia" panose="02040502050405020303" pitchFamily="18" charset="0"/>
                </a:rPr>
                <a:t>Presented by Dev Vashisht — Examining the enduring relevance of Gandhian ideals today.</a:t>
              </a:r>
              <a:endParaRPr lang="en-ID" sz="11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09E1BF8D-BC95-9827-CB8C-97F50190B2B8}"/>
              </a:ext>
            </a:extLst>
          </p:cNvPr>
          <p:cNvSpPr/>
          <p:nvPr/>
        </p:nvSpPr>
        <p:spPr>
          <a:xfrm>
            <a:off x="635000" y="5384800"/>
            <a:ext cx="6540500" cy="482600"/>
          </a:xfrm>
          <a:prstGeom prst="roundRect">
            <a:avLst/>
          </a:prstGeom>
          <a:solidFill>
            <a:srgbClr val="2A1A0E"/>
          </a:solidFill>
          <a:ln w="1905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50" b="1">
                <a:solidFill>
                  <a:srgbClr val="D4AF37"/>
                </a:solidFill>
                <a:latin typeface="Georgia" panose="02040502050405020303" pitchFamily="18" charset="0"/>
              </a:rPr>
              <a:t>❖   PRESENTED BY DEV VASHISHT       —       IN MEMORIAM MAHATMA GANDHI</a:t>
            </a:r>
            <a:endParaRPr lang="en-ID" sz="950" b="1">
              <a:solidFill>
                <a:srgbClr val="D4AF37"/>
              </a:solidFill>
              <a:latin typeface="Georgia" panose="02040502050405020303" pitchFamily="18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406C04C-E8C8-BC96-161C-F447275C069F}"/>
              </a:ext>
            </a:extLst>
          </p:cNvPr>
          <p:cNvSpPr/>
          <p:nvPr/>
        </p:nvSpPr>
        <p:spPr>
          <a:xfrm>
            <a:off x="635000" y="6350000"/>
            <a:ext cx="10922000" cy="12700"/>
          </a:xfrm>
          <a:prstGeom prst="rect">
            <a:avLst/>
          </a:prstGeom>
          <a:solidFill>
            <a:srgbClr val="7A1F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7E19D9B-30E0-FB72-3F00-CE6D2C9ABF34}"/>
              </a:ext>
            </a:extLst>
          </p:cNvPr>
          <p:cNvSpPr txBox="1"/>
          <p:nvPr/>
        </p:nvSpPr>
        <p:spPr>
          <a:xfrm>
            <a:off x="762000" y="6388100"/>
            <a:ext cx="3048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❖  GANDHI JAYANTI • II OCTOBER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0AACA9-D542-64D9-F5E9-117AF518502D}"/>
              </a:ext>
            </a:extLst>
          </p:cNvPr>
          <p:cNvSpPr txBox="1"/>
          <p:nvPr/>
        </p:nvSpPr>
        <p:spPr>
          <a:xfrm>
            <a:off x="3683000" y="6388100"/>
            <a:ext cx="4826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TRUTH  •  NON-VIOLENCE  •  PEACE  •  DIGNITY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02618A9-13ED-47C5-0824-E46B642F3C1D}"/>
              </a:ext>
            </a:extLst>
          </p:cNvPr>
          <p:cNvSpPr txBox="1"/>
          <p:nvPr/>
        </p:nvSpPr>
        <p:spPr>
          <a:xfrm>
            <a:off x="9271000" y="6388100"/>
            <a:ext cx="2159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ID" sz="750" b="1">
                <a:solidFill>
                  <a:srgbClr val="4A3220"/>
                </a:solidFill>
                <a:latin typeface="Georgia" panose="02040502050405020303" pitchFamily="18" charset="0"/>
              </a:rPr>
              <a:t>FOLIO I / X  ❖</a:t>
            </a:r>
          </a:p>
        </p:txBody>
      </p:sp>
    </p:spTree>
    <p:extLst>
      <p:ext uri="{BB962C8B-B14F-4D97-AF65-F5344CB8AC3E}">
        <p14:creationId xmlns:p14="http://schemas.microsoft.com/office/powerpoint/2010/main" val="3408190731"/>
      </p:ext>
    </p:extLst>
  </p:cSld>
  <p:clrMapOvr>
    <a:masterClrMapping/>
  </p:clrMapOvr>
  <p:transition spd="med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6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3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833C40B-E368-92ED-1971-61B729AD03E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1A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AF8C23BC-F75C-0311-BFCC-B6444CD3C150}"/>
              </a:ext>
            </a:extLst>
          </p:cNvPr>
          <p:cNvSpPr/>
          <p:nvPr/>
        </p:nvSpPr>
        <p:spPr>
          <a:xfrm>
            <a:off x="355600" y="203200"/>
            <a:ext cx="11480800" cy="6451600"/>
          </a:xfrm>
          <a:prstGeom prst="roundRect">
            <a:avLst/>
          </a:prstGeom>
          <a:solidFill>
            <a:srgbClr val="FAF4E6"/>
          </a:solidFill>
          <a:ln w="317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 useBgFill="1">
        <p:nvSpPr>
          <p:cNvPr id="4" name="Rectangle: Rounded Corners 3">
            <a:extLst>
              <a:ext uri="{FF2B5EF4-FFF2-40B4-BE49-F238E27FC236}">
                <a16:creationId xmlns:a16="http://schemas.microsoft.com/office/drawing/2014/main" id="{B95163C9-2663-5A1E-0053-3D61CCCE1B2F}"/>
              </a:ext>
            </a:extLst>
          </p:cNvPr>
          <p:cNvSpPr/>
          <p:nvPr/>
        </p:nvSpPr>
        <p:spPr>
          <a:xfrm>
            <a:off x="419100" y="266700"/>
            <a:ext cx="11353800" cy="6324600"/>
          </a:xfrm>
          <a:prstGeom prst="roundRect">
            <a:avLst/>
          </a:prstGeom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23C11-E3B3-E826-D31D-53ED9AFFF953}"/>
              </a:ext>
            </a:extLst>
          </p:cNvPr>
          <p:cNvSpPr txBox="1"/>
          <p:nvPr/>
        </p:nvSpPr>
        <p:spPr>
          <a:xfrm>
            <a:off x="4699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25B93E-1578-D9CF-1B54-488B255C25B6}"/>
              </a:ext>
            </a:extLst>
          </p:cNvPr>
          <p:cNvSpPr txBox="1"/>
          <p:nvPr/>
        </p:nvSpPr>
        <p:spPr>
          <a:xfrm>
            <a:off x="115697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6EA38D-F65C-58D5-940C-94A12814EEAB}"/>
              </a:ext>
            </a:extLst>
          </p:cNvPr>
          <p:cNvSpPr txBox="1"/>
          <p:nvPr/>
        </p:nvSpPr>
        <p:spPr>
          <a:xfrm>
            <a:off x="4699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250B78-708A-E1DC-DEDF-AFC9B0C48A4A}"/>
              </a:ext>
            </a:extLst>
          </p:cNvPr>
          <p:cNvSpPr txBox="1"/>
          <p:nvPr/>
        </p:nvSpPr>
        <p:spPr>
          <a:xfrm>
            <a:off x="115697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FA076D-529D-A623-86E6-1A2F6CDEAD56}"/>
              </a:ext>
            </a:extLst>
          </p:cNvPr>
          <p:cNvSpPr txBox="1"/>
          <p:nvPr/>
        </p:nvSpPr>
        <p:spPr>
          <a:xfrm>
            <a:off x="635000" y="406400"/>
            <a:ext cx="76200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 b="1">
                <a:solidFill>
                  <a:srgbClr val="7A1F1F"/>
                </a:solidFill>
                <a:latin typeface="Georgia" panose="02040502050405020303" pitchFamily="18" charset="0"/>
              </a:rPr>
              <a:t>❖  CHAPTER II • IDENTITY &amp; LEGACY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54E5758-3CEA-89CF-47D6-997259C788C7}"/>
              </a:ext>
            </a:extLst>
          </p:cNvPr>
          <p:cNvSpPr/>
          <p:nvPr/>
        </p:nvSpPr>
        <p:spPr>
          <a:xfrm>
            <a:off x="9779000" y="381000"/>
            <a:ext cx="1778000" cy="254000"/>
          </a:xfrm>
          <a:prstGeom prst="roundRect">
            <a:avLst/>
          </a:prstGeom>
          <a:solidFill>
            <a:srgbClr val="F1E4C3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850" b="1">
                <a:solidFill>
                  <a:srgbClr val="4A3220"/>
                </a:solidFill>
                <a:latin typeface="Georgia" panose="02040502050405020303" pitchFamily="18" charset="0"/>
              </a:rPr>
              <a:t>FOLIO II DE 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E186B1-B724-7754-0F7B-9CFF4DC0ED71}"/>
              </a:ext>
            </a:extLst>
          </p:cNvPr>
          <p:cNvSpPr txBox="1"/>
          <p:nvPr/>
        </p:nvSpPr>
        <p:spPr>
          <a:xfrm>
            <a:off x="635000" y="685800"/>
            <a:ext cx="1092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D" sz="2000" b="1">
                <a:solidFill>
                  <a:srgbClr val="2A1A0E"/>
                </a:solidFill>
                <a:latin typeface="Georgia" panose="02040502050405020303" pitchFamily="18" charset="0"/>
              </a:rPr>
              <a:t>WHO WAS GANDHI?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A14F50C-4F4A-B3DB-73A0-52CB71265EB0}"/>
              </a:ext>
            </a:extLst>
          </p:cNvPr>
          <p:cNvSpPr/>
          <p:nvPr/>
        </p:nvSpPr>
        <p:spPr>
          <a:xfrm>
            <a:off x="635000" y="1143000"/>
            <a:ext cx="10922000" cy="12700"/>
          </a:xfrm>
          <a:prstGeom prst="rect">
            <a:avLst/>
          </a:prstGeom>
          <a:solidFill>
            <a:srgbClr val="B886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7C43E7-8128-42A5-F07A-64C5D124BF11}"/>
              </a:ext>
            </a:extLst>
          </p:cNvPr>
          <p:cNvSpPr txBox="1"/>
          <p:nvPr/>
        </p:nvSpPr>
        <p:spPr>
          <a:xfrm>
            <a:off x="635000" y="11938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 i="1">
                <a:solidFill>
                  <a:srgbClr val="4A3220"/>
                </a:solidFill>
                <a:latin typeface="Georgia" panose="02040502050405020303" pitchFamily="18" charset="0"/>
              </a:rPr>
              <a:t>From a Young Barrister in London to the Leader of a Global Movement</a:t>
            </a:r>
            <a:endParaRPr lang="en-ID" sz="1050" i="1">
              <a:solidFill>
                <a:srgbClr val="4A3220"/>
              </a:solidFill>
              <a:latin typeface="Georgia" panose="02040502050405020303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BA7BCDA-82CB-8A02-68FA-DB5B720A58D3}"/>
              </a:ext>
            </a:extLst>
          </p:cNvPr>
          <p:cNvSpPr/>
          <p:nvPr/>
        </p:nvSpPr>
        <p:spPr>
          <a:xfrm>
            <a:off x="635000" y="1498600"/>
            <a:ext cx="4127500" cy="4368800"/>
          </a:xfrm>
          <a:prstGeom prst="roundRect">
            <a:avLst/>
          </a:prstGeom>
          <a:solidFill>
            <a:srgbClr val="2A1A0E"/>
          </a:solidFill>
          <a:ln w="1905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AE82AD8F-9AE7-8829-FBD4-94BFA82AF5C3}"/>
              </a:ext>
            </a:extLst>
          </p:cNvPr>
          <p:cNvSpPr/>
          <p:nvPr/>
        </p:nvSpPr>
        <p:spPr>
          <a:xfrm>
            <a:off x="7112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38FA7ECD-6EB7-B28F-895B-C91EC04B6029}"/>
              </a:ext>
            </a:extLst>
          </p:cNvPr>
          <p:cNvSpPr/>
          <p:nvPr/>
        </p:nvSpPr>
        <p:spPr>
          <a:xfrm>
            <a:off x="45974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882F6629-F3BC-7497-3357-664A7C8AA037}"/>
              </a:ext>
            </a:extLst>
          </p:cNvPr>
          <p:cNvSpPr/>
          <p:nvPr/>
        </p:nvSpPr>
        <p:spPr>
          <a:xfrm>
            <a:off x="7112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B3A5A4E8-5CA1-6121-58D4-6761EA6DE84F}"/>
              </a:ext>
            </a:extLst>
          </p:cNvPr>
          <p:cNvSpPr/>
          <p:nvPr/>
        </p:nvSpPr>
        <p:spPr>
          <a:xfrm>
            <a:off x="45974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0EA7D59-774C-26AD-56BD-6F67CE5715C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5600"/>
            <a:ext cx="3873500" cy="2032000"/>
          </a:xfrm>
          <a:prstGeom prst="rect">
            <a:avLst/>
          </a:prstGeom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C76449C-D3B4-5595-B5CF-70D57BEFACEB}"/>
              </a:ext>
            </a:extLst>
          </p:cNvPr>
          <p:cNvSpPr/>
          <p:nvPr/>
        </p:nvSpPr>
        <p:spPr>
          <a:xfrm>
            <a:off x="838200" y="1701800"/>
            <a:ext cx="1397000" cy="228600"/>
          </a:xfrm>
          <a:prstGeom prst="roundRect">
            <a:avLst/>
          </a:prstGeom>
          <a:solidFill>
            <a:srgbClr val="2A1A0E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750" b="1">
                <a:solidFill>
                  <a:srgbClr val="F1E4C3"/>
                </a:solidFill>
                <a:latin typeface="Georgia" panose="02040502050405020303" pitchFamily="18" charset="0"/>
              </a:rPr>
              <a:t>ARCHIVE • CH. II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69EF86-96C4-7477-1FCD-3BC5B45F0E74}"/>
              </a:ext>
            </a:extLst>
          </p:cNvPr>
          <p:cNvSpPr txBox="1"/>
          <p:nvPr/>
        </p:nvSpPr>
        <p:spPr>
          <a:xfrm>
            <a:off x="762000" y="3733800"/>
            <a:ext cx="38735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D" sz="900" i="1">
                <a:solidFill>
                  <a:srgbClr val="FAF4E6"/>
                </a:solidFill>
                <a:latin typeface="Georgia" panose="02040502050405020303" pitchFamily="18" charset="0"/>
              </a:rPr>
              <a:t>Gandhi, London, 1931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8F8A591-8588-460F-5982-A0EA335E96BC}"/>
              </a:ext>
            </a:extLst>
          </p:cNvPr>
          <p:cNvSpPr/>
          <p:nvPr/>
        </p:nvSpPr>
        <p:spPr>
          <a:xfrm>
            <a:off x="762000" y="4648200"/>
            <a:ext cx="3873500" cy="1092200"/>
          </a:xfrm>
          <a:prstGeom prst="roundRect">
            <a:avLst/>
          </a:prstGeom>
          <a:solidFill>
            <a:srgbClr val="3D2717"/>
          </a:solidFill>
          <a:ln w="1270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50800" rtlCol="0" anchor="ctr"/>
          <a:lstStyle/>
          <a:p>
            <a:pPr algn="ctr"/>
            <a:r>
              <a:rPr lang="en-ID" sz="750" b="1">
                <a:solidFill>
                  <a:srgbClr val="D4AF37"/>
                </a:solidFill>
                <a:latin typeface="Georgia" panose="02040502050405020303" pitchFamily="18" charset="0"/>
              </a:rPr>
              <a:t>❝ DICTUM MAHATMA GANDHI
</a:t>
            </a:r>
            <a:r>
              <a:rPr lang="en-US" sz="950" b="1" i="1">
                <a:solidFill>
                  <a:srgbClr val="F1E4C3"/>
                </a:solidFill>
                <a:latin typeface="Georgia" panose="02040502050405020303" pitchFamily="18" charset="0"/>
              </a:rPr>
              <a:t>"In a gentle way, you can shake the world."</a:t>
            </a:r>
            <a:endParaRPr lang="en-ID" sz="950" b="1" i="1">
              <a:solidFill>
                <a:srgbClr val="F1E4C3"/>
              </a:solidFill>
              <a:latin typeface="Georgia" panose="02040502050405020303" pitchFamily="18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64EBC21-2934-4386-27D7-2C627E5376C7}"/>
              </a:ext>
            </a:extLst>
          </p:cNvPr>
          <p:cNvGrpSpPr/>
          <p:nvPr/>
        </p:nvGrpSpPr>
        <p:grpSpPr>
          <a:xfrm>
            <a:off x="5016500" y="1498599"/>
            <a:ext cx="6540500" cy="584201"/>
            <a:chOff x="5016500" y="1498599"/>
            <a:chExt cx="6540500" cy="584201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1DB9A9B6-D362-B836-0F99-AA24FF8F3A74}"/>
                </a:ext>
              </a:extLst>
            </p:cNvPr>
            <p:cNvSpPr/>
            <p:nvPr/>
          </p:nvSpPr>
          <p:spPr>
            <a:xfrm>
              <a:off x="5016500" y="1498600"/>
              <a:ext cx="6540500" cy="5842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2DC28DEF-F3D9-7EC5-D031-733CEB8991E0}"/>
                </a:ext>
              </a:extLst>
            </p:cNvPr>
            <p:cNvSpPr/>
            <p:nvPr/>
          </p:nvSpPr>
          <p:spPr>
            <a:xfrm>
              <a:off x="5168900" y="16383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AB4524D-CD1B-1956-E47C-C517D6134AD0}"/>
                </a:ext>
              </a:extLst>
            </p:cNvPr>
            <p:cNvSpPr txBox="1"/>
            <p:nvPr/>
          </p:nvSpPr>
          <p:spPr>
            <a:xfrm>
              <a:off x="5626100" y="1498599"/>
              <a:ext cx="5778500" cy="5842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ID" sz="1050">
                  <a:solidFill>
                    <a:srgbClr val="2A1A0E"/>
                  </a:solidFill>
                  <a:latin typeface="Georgia" panose="02040502050405020303" pitchFamily="18" charset="0"/>
                </a:rPr>
                <a:t>Born 2 October 1869 in Porbandar, Gujarat, India.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D970994-2E71-D5AE-4E3D-54D08FEBB8E0}"/>
              </a:ext>
            </a:extLst>
          </p:cNvPr>
          <p:cNvGrpSpPr/>
          <p:nvPr/>
        </p:nvGrpSpPr>
        <p:grpSpPr>
          <a:xfrm>
            <a:off x="5016500" y="2184399"/>
            <a:ext cx="6540500" cy="584201"/>
            <a:chOff x="5016500" y="2184399"/>
            <a:chExt cx="6540500" cy="58420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26885EBC-EF5D-8FF4-90F5-66D4E8309A03}"/>
                </a:ext>
              </a:extLst>
            </p:cNvPr>
            <p:cNvSpPr/>
            <p:nvPr/>
          </p:nvSpPr>
          <p:spPr>
            <a:xfrm>
              <a:off x="5016500" y="2184400"/>
              <a:ext cx="6540500" cy="5842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7F919CF4-2BFF-7EAC-692B-176E58832067}"/>
                </a:ext>
              </a:extLst>
            </p:cNvPr>
            <p:cNvSpPr/>
            <p:nvPr/>
          </p:nvSpPr>
          <p:spPr>
            <a:xfrm>
              <a:off x="5168900" y="23241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3DEF8CF-41A8-C829-3FD3-341054AA811D}"/>
                </a:ext>
              </a:extLst>
            </p:cNvPr>
            <p:cNvSpPr txBox="1"/>
            <p:nvPr/>
          </p:nvSpPr>
          <p:spPr>
            <a:xfrm>
              <a:off x="5626100" y="2184399"/>
              <a:ext cx="5778500" cy="5842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050">
                  <a:solidFill>
                    <a:srgbClr val="2A1A0E"/>
                  </a:solidFill>
                  <a:latin typeface="Georgia" panose="02040502050405020303" pitchFamily="18" charset="0"/>
                </a:rPr>
                <a:t>Trained as a lawyer in London at the Inner Temple.</a:t>
              </a:r>
              <a:endParaRPr lang="en-ID" sz="10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00C41364-546A-6B8C-D56B-0DE91C30C40D}"/>
              </a:ext>
            </a:extLst>
          </p:cNvPr>
          <p:cNvGrpSpPr/>
          <p:nvPr/>
        </p:nvGrpSpPr>
        <p:grpSpPr>
          <a:xfrm>
            <a:off x="5016500" y="2870199"/>
            <a:ext cx="6540500" cy="584201"/>
            <a:chOff x="5016500" y="2870199"/>
            <a:chExt cx="6540500" cy="584201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127B82C-688A-78A2-3523-A7BA40F79B0C}"/>
                </a:ext>
              </a:extLst>
            </p:cNvPr>
            <p:cNvSpPr/>
            <p:nvPr/>
          </p:nvSpPr>
          <p:spPr>
            <a:xfrm>
              <a:off x="5016500" y="2870200"/>
              <a:ext cx="6540500" cy="5842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964C93B3-215E-2B4E-FFF2-7ECB2D86BD79}"/>
                </a:ext>
              </a:extLst>
            </p:cNvPr>
            <p:cNvSpPr/>
            <p:nvPr/>
          </p:nvSpPr>
          <p:spPr>
            <a:xfrm>
              <a:off x="5168900" y="30099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3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596F2F7-2EE7-7BE9-F62A-A2B4C9A7E0B0}"/>
                </a:ext>
              </a:extLst>
            </p:cNvPr>
            <p:cNvSpPr txBox="1"/>
            <p:nvPr/>
          </p:nvSpPr>
          <p:spPr>
            <a:xfrm>
              <a:off x="5626100" y="2870199"/>
              <a:ext cx="5778500" cy="5842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050">
                  <a:solidFill>
                    <a:srgbClr val="2A1A0E"/>
                  </a:solidFill>
                  <a:latin typeface="Georgia" panose="02040502050405020303" pitchFamily="18" charset="0"/>
                </a:rPr>
                <a:t>Led India's historic non-violent freedom struggle against colonial rule.</a:t>
              </a:r>
              <a:endParaRPr lang="en-ID" sz="10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AB46098-BD6E-8B38-8DD8-32D3D98EA77F}"/>
              </a:ext>
            </a:extLst>
          </p:cNvPr>
          <p:cNvGrpSpPr/>
          <p:nvPr/>
        </p:nvGrpSpPr>
        <p:grpSpPr>
          <a:xfrm>
            <a:off x="5016500" y="3555999"/>
            <a:ext cx="6540500" cy="584201"/>
            <a:chOff x="5016500" y="3555999"/>
            <a:chExt cx="6540500" cy="584201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D88BAC38-49AE-67BC-A75B-5F3CC142113A}"/>
                </a:ext>
              </a:extLst>
            </p:cNvPr>
            <p:cNvSpPr/>
            <p:nvPr/>
          </p:nvSpPr>
          <p:spPr>
            <a:xfrm>
              <a:off x="5016500" y="3556000"/>
              <a:ext cx="6540500" cy="5842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D2E0765D-01B7-4ACE-48ED-1685EA46E0D9}"/>
                </a:ext>
              </a:extLst>
            </p:cNvPr>
            <p:cNvSpPr/>
            <p:nvPr/>
          </p:nvSpPr>
          <p:spPr>
            <a:xfrm>
              <a:off x="5168900" y="36957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4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46B9BB7-B627-E4DB-1C82-6BD8394984C9}"/>
                </a:ext>
              </a:extLst>
            </p:cNvPr>
            <p:cNvSpPr txBox="1"/>
            <p:nvPr/>
          </p:nvSpPr>
          <p:spPr>
            <a:xfrm>
              <a:off x="5626100" y="3555999"/>
              <a:ext cx="5778500" cy="5842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050">
                  <a:solidFill>
                    <a:srgbClr val="2A1A0E"/>
                  </a:solidFill>
                  <a:latin typeface="Georgia" panose="02040502050405020303" pitchFamily="18" charset="0"/>
                </a:rPr>
                <a:t>Called Mahatma ('Great Soul') and affectionately revered as Bapu ('Father').</a:t>
              </a:r>
              <a:endParaRPr lang="en-ID" sz="10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255F757-7290-84D8-E46C-512B15C9C3F0}"/>
              </a:ext>
            </a:extLst>
          </p:cNvPr>
          <p:cNvGrpSpPr/>
          <p:nvPr/>
        </p:nvGrpSpPr>
        <p:grpSpPr>
          <a:xfrm>
            <a:off x="5016500" y="4241799"/>
            <a:ext cx="6540500" cy="584201"/>
            <a:chOff x="5016500" y="4241799"/>
            <a:chExt cx="6540500" cy="584201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037E59CB-F0D9-2652-396F-B6D7B4BAA7D9}"/>
                </a:ext>
              </a:extLst>
            </p:cNvPr>
            <p:cNvSpPr/>
            <p:nvPr/>
          </p:nvSpPr>
          <p:spPr>
            <a:xfrm>
              <a:off x="5016500" y="4241800"/>
              <a:ext cx="6540500" cy="5842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5AF15CFC-0201-F349-AC29-8E53DAC19C66}"/>
                </a:ext>
              </a:extLst>
            </p:cNvPr>
            <p:cNvSpPr/>
            <p:nvPr/>
          </p:nvSpPr>
          <p:spPr>
            <a:xfrm>
              <a:off x="5168900" y="43815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5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DBCDB15-FC43-F22F-78C6-C121F021E923}"/>
                </a:ext>
              </a:extLst>
            </p:cNvPr>
            <p:cNvSpPr txBox="1"/>
            <p:nvPr/>
          </p:nvSpPr>
          <p:spPr>
            <a:xfrm>
              <a:off x="5626100" y="4241799"/>
              <a:ext cx="5778500" cy="5842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050">
                  <a:solidFill>
                    <a:srgbClr val="2A1A0E"/>
                  </a:solidFill>
                  <a:latin typeface="Georgia" panose="02040502050405020303" pitchFamily="18" charset="0"/>
                </a:rPr>
                <a:t>The central question: do his ideas and methods still work in today's complex world?</a:t>
              </a:r>
              <a:endParaRPr lang="en-ID" sz="10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97C4016C-09D4-AC78-1F91-3F77B8936FFA}"/>
              </a:ext>
            </a:extLst>
          </p:cNvPr>
          <p:cNvSpPr/>
          <p:nvPr/>
        </p:nvSpPr>
        <p:spPr>
          <a:xfrm>
            <a:off x="635000" y="6350000"/>
            <a:ext cx="10922000" cy="12700"/>
          </a:xfrm>
          <a:prstGeom prst="rect">
            <a:avLst/>
          </a:prstGeom>
          <a:solidFill>
            <a:srgbClr val="7A1F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97491CD-C490-842B-1829-A35B981292F2}"/>
              </a:ext>
            </a:extLst>
          </p:cNvPr>
          <p:cNvSpPr txBox="1"/>
          <p:nvPr/>
        </p:nvSpPr>
        <p:spPr>
          <a:xfrm>
            <a:off x="762000" y="6388100"/>
            <a:ext cx="3048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❖  GANDHI JAYANTI • II OCTOBER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46A2699-C7F8-27A1-CC6D-BD365B5F39BC}"/>
              </a:ext>
            </a:extLst>
          </p:cNvPr>
          <p:cNvSpPr txBox="1"/>
          <p:nvPr/>
        </p:nvSpPr>
        <p:spPr>
          <a:xfrm>
            <a:off x="3683000" y="6388100"/>
            <a:ext cx="4826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TRUTH  •  NON-VIOLENCE  •  PEACE  •  DIGNITY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2042428-3338-1018-DD65-5DDC2AEBA089}"/>
              </a:ext>
            </a:extLst>
          </p:cNvPr>
          <p:cNvSpPr txBox="1"/>
          <p:nvPr/>
        </p:nvSpPr>
        <p:spPr>
          <a:xfrm>
            <a:off x="9271000" y="6388100"/>
            <a:ext cx="2159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ID" sz="750" b="1">
                <a:solidFill>
                  <a:srgbClr val="4A3220"/>
                </a:solidFill>
                <a:latin typeface="Georgia" panose="02040502050405020303" pitchFamily="18" charset="0"/>
              </a:rPr>
              <a:t>FOLIO II / X  ❖</a:t>
            </a:r>
          </a:p>
        </p:txBody>
      </p:sp>
    </p:spTree>
    <p:extLst>
      <p:ext uri="{BB962C8B-B14F-4D97-AF65-F5344CB8AC3E}">
        <p14:creationId xmlns:p14="http://schemas.microsoft.com/office/powerpoint/2010/main" val="1383917540"/>
      </p:ext>
    </p:extLst>
  </p:cSld>
  <p:clrMapOvr>
    <a:masterClrMapping/>
  </p:clrMapOvr>
  <p:transition spd="med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6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9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2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1023916-9CE7-0258-422F-D4BC5C674D9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1A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D8189CB-E788-B50A-A37B-95A1CCB1E4C9}"/>
              </a:ext>
            </a:extLst>
          </p:cNvPr>
          <p:cNvSpPr/>
          <p:nvPr/>
        </p:nvSpPr>
        <p:spPr>
          <a:xfrm>
            <a:off x="355600" y="203200"/>
            <a:ext cx="11480800" cy="6451600"/>
          </a:xfrm>
          <a:prstGeom prst="roundRect">
            <a:avLst/>
          </a:prstGeom>
          <a:solidFill>
            <a:srgbClr val="FAF4E6"/>
          </a:solidFill>
          <a:ln w="317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 useBgFill="1">
        <p:nvSpPr>
          <p:cNvPr id="4" name="Rectangle: Rounded Corners 3">
            <a:extLst>
              <a:ext uri="{FF2B5EF4-FFF2-40B4-BE49-F238E27FC236}">
                <a16:creationId xmlns:a16="http://schemas.microsoft.com/office/drawing/2014/main" id="{841893FF-CA71-BB06-0544-56BA04D067CD}"/>
              </a:ext>
            </a:extLst>
          </p:cNvPr>
          <p:cNvSpPr/>
          <p:nvPr/>
        </p:nvSpPr>
        <p:spPr>
          <a:xfrm>
            <a:off x="419100" y="266700"/>
            <a:ext cx="11353800" cy="6324600"/>
          </a:xfrm>
          <a:prstGeom prst="roundRect">
            <a:avLst/>
          </a:prstGeom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0C435F-BDFD-B435-DF56-29C14BA8382D}"/>
              </a:ext>
            </a:extLst>
          </p:cNvPr>
          <p:cNvSpPr txBox="1"/>
          <p:nvPr/>
        </p:nvSpPr>
        <p:spPr>
          <a:xfrm>
            <a:off x="4699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C617292-56F3-F0CC-BD78-085AC6100A5C}"/>
              </a:ext>
            </a:extLst>
          </p:cNvPr>
          <p:cNvSpPr txBox="1"/>
          <p:nvPr/>
        </p:nvSpPr>
        <p:spPr>
          <a:xfrm>
            <a:off x="115697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11EEAA-7E4E-856D-9087-E49ECE9F2A11}"/>
              </a:ext>
            </a:extLst>
          </p:cNvPr>
          <p:cNvSpPr txBox="1"/>
          <p:nvPr/>
        </p:nvSpPr>
        <p:spPr>
          <a:xfrm>
            <a:off x="4699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27148C-CB5E-EF3C-619B-30047C9F7C08}"/>
              </a:ext>
            </a:extLst>
          </p:cNvPr>
          <p:cNvSpPr txBox="1"/>
          <p:nvPr/>
        </p:nvSpPr>
        <p:spPr>
          <a:xfrm>
            <a:off x="115697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0EF469-263E-B494-378B-0B7BD300C0C7}"/>
              </a:ext>
            </a:extLst>
          </p:cNvPr>
          <p:cNvSpPr txBox="1"/>
          <p:nvPr/>
        </p:nvSpPr>
        <p:spPr>
          <a:xfrm>
            <a:off x="635000" y="406400"/>
            <a:ext cx="76200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 b="1">
                <a:solidFill>
                  <a:srgbClr val="7A1F1F"/>
                </a:solidFill>
                <a:latin typeface="Georgia" panose="02040502050405020303" pitchFamily="18" charset="0"/>
              </a:rPr>
              <a:t>❖  CHAPTER III • PHILOSOPHICAL PILLARS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34CCB08-EED3-27D4-14B0-6B9B5CBA45F5}"/>
              </a:ext>
            </a:extLst>
          </p:cNvPr>
          <p:cNvSpPr/>
          <p:nvPr/>
        </p:nvSpPr>
        <p:spPr>
          <a:xfrm>
            <a:off x="9779000" y="381000"/>
            <a:ext cx="1778000" cy="254000"/>
          </a:xfrm>
          <a:prstGeom prst="roundRect">
            <a:avLst/>
          </a:prstGeom>
          <a:solidFill>
            <a:srgbClr val="F1E4C3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850" b="1">
                <a:solidFill>
                  <a:srgbClr val="4A3220"/>
                </a:solidFill>
                <a:latin typeface="Georgia" panose="02040502050405020303" pitchFamily="18" charset="0"/>
              </a:rPr>
              <a:t>FOLIO III DE 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86BB4A-46BD-E406-53F7-D68E98F3AA5F}"/>
              </a:ext>
            </a:extLst>
          </p:cNvPr>
          <p:cNvSpPr txBox="1"/>
          <p:nvPr/>
        </p:nvSpPr>
        <p:spPr>
          <a:xfrm>
            <a:off x="635000" y="685800"/>
            <a:ext cx="1092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D" sz="2000" b="1">
                <a:solidFill>
                  <a:srgbClr val="2A1A0E"/>
                </a:solidFill>
                <a:latin typeface="Georgia" panose="02040502050405020303" pitchFamily="18" charset="0"/>
              </a:rPr>
              <a:t>THE CORE IDEAS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FD00F03-FE91-0A2B-CE06-2E3F0003D4F0}"/>
              </a:ext>
            </a:extLst>
          </p:cNvPr>
          <p:cNvSpPr/>
          <p:nvPr/>
        </p:nvSpPr>
        <p:spPr>
          <a:xfrm>
            <a:off x="635000" y="1143000"/>
            <a:ext cx="10922000" cy="12700"/>
          </a:xfrm>
          <a:prstGeom prst="rect">
            <a:avLst/>
          </a:prstGeom>
          <a:solidFill>
            <a:srgbClr val="B886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2E1E03-880C-A45B-958F-4EA3D240C586}"/>
              </a:ext>
            </a:extLst>
          </p:cNvPr>
          <p:cNvSpPr txBox="1"/>
          <p:nvPr/>
        </p:nvSpPr>
        <p:spPr>
          <a:xfrm>
            <a:off x="635000" y="11938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 i="1">
                <a:solidFill>
                  <a:srgbClr val="4A3220"/>
                </a:solidFill>
                <a:latin typeface="Georgia" panose="02040502050405020303" pitchFamily="18" charset="0"/>
              </a:rPr>
              <a:t>The Timeless Foundations of Gandhian Philosophy and Ethics</a:t>
            </a:r>
            <a:endParaRPr lang="en-ID" sz="1050" i="1">
              <a:solidFill>
                <a:srgbClr val="4A3220"/>
              </a:solidFill>
              <a:latin typeface="Georgia" panose="02040502050405020303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2C7F75-02B7-2484-AB44-B45BF0F7E471}"/>
              </a:ext>
            </a:extLst>
          </p:cNvPr>
          <p:cNvSpPr/>
          <p:nvPr/>
        </p:nvSpPr>
        <p:spPr>
          <a:xfrm>
            <a:off x="7429500" y="1498600"/>
            <a:ext cx="4127500" cy="4368800"/>
          </a:xfrm>
          <a:prstGeom prst="roundRect">
            <a:avLst/>
          </a:prstGeom>
          <a:solidFill>
            <a:srgbClr val="2A1A0E"/>
          </a:solidFill>
          <a:ln w="1905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9CE93FB3-343F-7933-50A8-F844454A4CA3}"/>
              </a:ext>
            </a:extLst>
          </p:cNvPr>
          <p:cNvSpPr/>
          <p:nvPr/>
        </p:nvSpPr>
        <p:spPr>
          <a:xfrm>
            <a:off x="75057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FB869994-F26C-1A82-EA4F-F4B9019E5D77}"/>
              </a:ext>
            </a:extLst>
          </p:cNvPr>
          <p:cNvSpPr/>
          <p:nvPr/>
        </p:nvSpPr>
        <p:spPr>
          <a:xfrm>
            <a:off x="113919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E671EE6F-5A61-1B4C-415A-DF17D8AA140E}"/>
              </a:ext>
            </a:extLst>
          </p:cNvPr>
          <p:cNvSpPr/>
          <p:nvPr/>
        </p:nvSpPr>
        <p:spPr>
          <a:xfrm>
            <a:off x="75057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2B36ACDB-DDE7-335D-A586-CEB38D39622F}"/>
              </a:ext>
            </a:extLst>
          </p:cNvPr>
          <p:cNvSpPr/>
          <p:nvPr/>
        </p:nvSpPr>
        <p:spPr>
          <a:xfrm>
            <a:off x="113919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C4C6C90E-729F-1172-D0B5-F9E9E4965F1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6500" y="1625600"/>
            <a:ext cx="3873500" cy="2032000"/>
          </a:xfrm>
          <a:prstGeom prst="rect">
            <a:avLst/>
          </a:prstGeom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56B9A61-AFE4-0CD3-1D47-A7D9B0E09FF8}"/>
              </a:ext>
            </a:extLst>
          </p:cNvPr>
          <p:cNvSpPr/>
          <p:nvPr/>
        </p:nvSpPr>
        <p:spPr>
          <a:xfrm>
            <a:off x="7632700" y="1701800"/>
            <a:ext cx="1397000" cy="228600"/>
          </a:xfrm>
          <a:prstGeom prst="roundRect">
            <a:avLst/>
          </a:prstGeom>
          <a:solidFill>
            <a:srgbClr val="2A1A0E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750" b="1">
                <a:solidFill>
                  <a:srgbClr val="F1E4C3"/>
                </a:solidFill>
                <a:latin typeface="Georgia" panose="02040502050405020303" pitchFamily="18" charset="0"/>
              </a:rPr>
              <a:t>ARCHIVE • CH. III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D716EA1-69AE-8DB2-D2E5-7B27214DB1D2}"/>
              </a:ext>
            </a:extLst>
          </p:cNvPr>
          <p:cNvSpPr txBox="1"/>
          <p:nvPr/>
        </p:nvSpPr>
        <p:spPr>
          <a:xfrm>
            <a:off x="7556500" y="3733800"/>
            <a:ext cx="38735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i="1">
                <a:solidFill>
                  <a:srgbClr val="FAF4E6"/>
                </a:solidFill>
                <a:latin typeface="Georgia" panose="02040502050405020303" pitchFamily="18" charset="0"/>
              </a:rPr>
              <a:t>Gandhi and Kasturba, South Africa, 1902</a:t>
            </a:r>
            <a:endParaRPr lang="en-ID" sz="900" i="1">
              <a:solidFill>
                <a:srgbClr val="FAF4E6"/>
              </a:solidFill>
              <a:latin typeface="Georgia" panose="02040502050405020303" pitchFamily="18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78A2F4A-12E9-503F-CBD0-D63ACC7B8B12}"/>
              </a:ext>
            </a:extLst>
          </p:cNvPr>
          <p:cNvSpPr/>
          <p:nvPr/>
        </p:nvSpPr>
        <p:spPr>
          <a:xfrm>
            <a:off x="7556500" y="4648200"/>
            <a:ext cx="3873500" cy="1092200"/>
          </a:xfrm>
          <a:prstGeom prst="roundRect">
            <a:avLst/>
          </a:prstGeom>
          <a:solidFill>
            <a:srgbClr val="3D2717"/>
          </a:solidFill>
          <a:ln w="1270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50800" rtlCol="0" anchor="ctr"/>
          <a:lstStyle/>
          <a:p>
            <a:pPr algn="ctr"/>
            <a:r>
              <a:rPr lang="en-ID" sz="750" b="1">
                <a:solidFill>
                  <a:srgbClr val="D4AF37"/>
                </a:solidFill>
                <a:latin typeface="Georgia" panose="02040502050405020303" pitchFamily="18" charset="0"/>
              </a:rPr>
              <a:t>❝ DICTUM MAHATMA GANDHI
</a:t>
            </a:r>
            <a:r>
              <a:rPr lang="en-US" sz="950" b="1" i="1">
                <a:solidFill>
                  <a:srgbClr val="F1E4C3"/>
                </a:solidFill>
                <a:latin typeface="Georgia" panose="02040502050405020303" pitchFamily="18" charset="0"/>
              </a:rPr>
              <a:t>"Truth is the sovereign principle, which includes numerous other principles."</a:t>
            </a:r>
            <a:endParaRPr lang="en-ID" sz="950" b="1" i="1">
              <a:solidFill>
                <a:srgbClr val="F1E4C3"/>
              </a:solidFill>
              <a:latin typeface="Georgia" panose="02040502050405020303" pitchFamily="18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72CBCF8-4DB0-16C6-F34C-A151089356BB}"/>
              </a:ext>
            </a:extLst>
          </p:cNvPr>
          <p:cNvGrpSpPr/>
          <p:nvPr/>
        </p:nvGrpSpPr>
        <p:grpSpPr>
          <a:xfrm>
            <a:off x="635000" y="1498600"/>
            <a:ext cx="6540500" cy="533400"/>
            <a:chOff x="635000" y="1498600"/>
            <a:chExt cx="6540500" cy="5334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6C910143-1DFF-09EC-B710-DD16DCC1DDC6}"/>
                </a:ext>
              </a:extLst>
            </p:cNvPr>
            <p:cNvSpPr/>
            <p:nvPr/>
          </p:nvSpPr>
          <p:spPr>
            <a:xfrm>
              <a:off x="635000" y="1498600"/>
              <a:ext cx="6540500" cy="533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218B7ABF-26EB-7206-BCF3-DFFF3C3AF6EF}"/>
                </a:ext>
              </a:extLst>
            </p:cNvPr>
            <p:cNvSpPr/>
            <p:nvPr/>
          </p:nvSpPr>
          <p:spPr>
            <a:xfrm>
              <a:off x="787400" y="16129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7E08E32-BCF5-AC7E-9E94-52EED0C4D83D}"/>
                </a:ext>
              </a:extLst>
            </p:cNvPr>
            <p:cNvSpPr txBox="1"/>
            <p:nvPr/>
          </p:nvSpPr>
          <p:spPr>
            <a:xfrm>
              <a:off x="1244600" y="1498600"/>
              <a:ext cx="5778500" cy="533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950">
                  <a:solidFill>
                    <a:srgbClr val="2A1A0E"/>
                  </a:solidFill>
                  <a:latin typeface="Georgia" panose="02040502050405020303" pitchFamily="18" charset="0"/>
                </a:rPr>
                <a:t>Satya (Truth) — Absolute adherence to truth and honesty in thought, word, and deed.</a:t>
              </a:r>
              <a:endParaRPr lang="en-ID" sz="9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3F5849B-6382-35CE-2BF1-2C0A65E1B267}"/>
              </a:ext>
            </a:extLst>
          </p:cNvPr>
          <p:cNvGrpSpPr/>
          <p:nvPr/>
        </p:nvGrpSpPr>
        <p:grpSpPr>
          <a:xfrm>
            <a:off x="635000" y="2108200"/>
            <a:ext cx="6540500" cy="533400"/>
            <a:chOff x="635000" y="2108200"/>
            <a:chExt cx="6540500" cy="533400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F6F3E4A1-B440-A05C-0870-46421BB7A71F}"/>
                </a:ext>
              </a:extLst>
            </p:cNvPr>
            <p:cNvSpPr/>
            <p:nvPr/>
          </p:nvSpPr>
          <p:spPr>
            <a:xfrm>
              <a:off x="635000" y="2108200"/>
              <a:ext cx="6540500" cy="533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9038C10B-FE55-ACB2-478F-3B6DEADCE15B}"/>
                </a:ext>
              </a:extLst>
            </p:cNvPr>
            <p:cNvSpPr/>
            <p:nvPr/>
          </p:nvSpPr>
          <p:spPr>
            <a:xfrm>
              <a:off x="787400" y="22225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20C50B2-19AA-41AE-1C19-ABC472DC6800}"/>
                </a:ext>
              </a:extLst>
            </p:cNvPr>
            <p:cNvSpPr txBox="1"/>
            <p:nvPr/>
          </p:nvSpPr>
          <p:spPr>
            <a:xfrm>
              <a:off x="1244600" y="2108200"/>
              <a:ext cx="5778500" cy="533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950">
                  <a:solidFill>
                    <a:srgbClr val="2A1A0E"/>
                  </a:solidFill>
                  <a:latin typeface="Georgia" panose="02040502050405020303" pitchFamily="18" charset="0"/>
                </a:rPr>
                <a:t>Ahimsa (Non-violence) — Active love, compassion, and refraining from harm against any living being.</a:t>
              </a:r>
              <a:endParaRPr lang="en-ID" sz="9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0273A81-C5FE-9D58-3996-036302F4C0B2}"/>
              </a:ext>
            </a:extLst>
          </p:cNvPr>
          <p:cNvGrpSpPr/>
          <p:nvPr/>
        </p:nvGrpSpPr>
        <p:grpSpPr>
          <a:xfrm>
            <a:off x="635000" y="2717800"/>
            <a:ext cx="6540500" cy="533400"/>
            <a:chOff x="635000" y="2717800"/>
            <a:chExt cx="6540500" cy="533400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D0160553-751E-05C7-B377-708D7374BB5C}"/>
                </a:ext>
              </a:extLst>
            </p:cNvPr>
            <p:cNvSpPr/>
            <p:nvPr/>
          </p:nvSpPr>
          <p:spPr>
            <a:xfrm>
              <a:off x="635000" y="2717800"/>
              <a:ext cx="6540500" cy="533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19B2F848-C0B7-E5CB-D53A-0DBB21988330}"/>
                </a:ext>
              </a:extLst>
            </p:cNvPr>
            <p:cNvSpPr/>
            <p:nvPr/>
          </p:nvSpPr>
          <p:spPr>
            <a:xfrm>
              <a:off x="787400" y="28321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3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00A3384-AFBA-FCCE-168C-AB3D9DC63B11}"/>
                </a:ext>
              </a:extLst>
            </p:cNvPr>
            <p:cNvSpPr txBox="1"/>
            <p:nvPr/>
          </p:nvSpPr>
          <p:spPr>
            <a:xfrm>
              <a:off x="1244600" y="2717800"/>
              <a:ext cx="5778500" cy="533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950">
                  <a:solidFill>
                    <a:srgbClr val="2A1A0E"/>
                  </a:solidFill>
                  <a:latin typeface="Georgia" panose="02040502050405020303" pitchFamily="18" charset="0"/>
                </a:rPr>
                <a:t>Satyagraha (Peaceful resistance) — Fearless soul-force standing firm against injustice without malice.</a:t>
              </a:r>
              <a:endParaRPr lang="en-ID" sz="9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314935E-245B-6DF2-7E30-7B8DBCC77FDF}"/>
              </a:ext>
            </a:extLst>
          </p:cNvPr>
          <p:cNvGrpSpPr/>
          <p:nvPr/>
        </p:nvGrpSpPr>
        <p:grpSpPr>
          <a:xfrm>
            <a:off x="635000" y="3327400"/>
            <a:ext cx="6540500" cy="533400"/>
            <a:chOff x="635000" y="3327400"/>
            <a:chExt cx="6540500" cy="53340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06BFFAAF-7071-D2D7-7811-62AC85995AED}"/>
                </a:ext>
              </a:extLst>
            </p:cNvPr>
            <p:cNvSpPr/>
            <p:nvPr/>
          </p:nvSpPr>
          <p:spPr>
            <a:xfrm>
              <a:off x="635000" y="3327400"/>
              <a:ext cx="6540500" cy="533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CF5FBA3F-A818-84AC-F213-A4AB962C66FA}"/>
                </a:ext>
              </a:extLst>
            </p:cNvPr>
            <p:cNvSpPr/>
            <p:nvPr/>
          </p:nvSpPr>
          <p:spPr>
            <a:xfrm>
              <a:off x="787400" y="34417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4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DA57425-C050-13DF-416C-D9F5846911F5}"/>
                </a:ext>
              </a:extLst>
            </p:cNvPr>
            <p:cNvSpPr txBox="1"/>
            <p:nvPr/>
          </p:nvSpPr>
          <p:spPr>
            <a:xfrm>
              <a:off x="1244600" y="3327400"/>
              <a:ext cx="5778500" cy="533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950">
                  <a:solidFill>
                    <a:srgbClr val="2A1A0E"/>
                  </a:solidFill>
                  <a:latin typeface="Georgia" panose="02040502050405020303" pitchFamily="18" charset="0"/>
                </a:rPr>
                <a:t>Sarvodaya (Welfare of all) — Universal upliftment prioritizing the most vulnerable and marginalized.</a:t>
              </a:r>
              <a:endParaRPr lang="en-ID" sz="9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BBCD3C4-6D36-7D25-BC08-DC194B955F88}"/>
              </a:ext>
            </a:extLst>
          </p:cNvPr>
          <p:cNvGrpSpPr/>
          <p:nvPr/>
        </p:nvGrpSpPr>
        <p:grpSpPr>
          <a:xfrm>
            <a:off x="635000" y="3937000"/>
            <a:ext cx="6540500" cy="533400"/>
            <a:chOff x="635000" y="3937000"/>
            <a:chExt cx="6540500" cy="533400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F4AC41A-1DB1-8997-3D91-081A6990CF16}"/>
                </a:ext>
              </a:extLst>
            </p:cNvPr>
            <p:cNvSpPr/>
            <p:nvPr/>
          </p:nvSpPr>
          <p:spPr>
            <a:xfrm>
              <a:off x="635000" y="3937000"/>
              <a:ext cx="6540500" cy="533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E466B0AF-866E-0806-8DDD-1EDA9AAF06F6}"/>
                </a:ext>
              </a:extLst>
            </p:cNvPr>
            <p:cNvSpPr/>
            <p:nvPr/>
          </p:nvSpPr>
          <p:spPr>
            <a:xfrm>
              <a:off x="787400" y="40513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5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5B60A22-282E-4E3C-3A0A-22D8F42839FA}"/>
                </a:ext>
              </a:extLst>
            </p:cNvPr>
            <p:cNvSpPr txBox="1"/>
            <p:nvPr/>
          </p:nvSpPr>
          <p:spPr>
            <a:xfrm>
              <a:off x="1244600" y="3937000"/>
              <a:ext cx="5778500" cy="533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950">
                  <a:solidFill>
                    <a:srgbClr val="2A1A0E"/>
                  </a:solidFill>
                  <a:latin typeface="Georgia" panose="02040502050405020303" pitchFamily="18" charset="0"/>
                </a:rPr>
                <a:t>Swadeshi (Self-reliance) — Fostering local production, community strength, and economic independence.</a:t>
              </a:r>
              <a:endParaRPr lang="en-ID" sz="9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71A76C74-34DD-668F-2962-BA14BBFCCCC9}"/>
              </a:ext>
            </a:extLst>
          </p:cNvPr>
          <p:cNvGrpSpPr/>
          <p:nvPr/>
        </p:nvGrpSpPr>
        <p:grpSpPr>
          <a:xfrm>
            <a:off x="635000" y="4546600"/>
            <a:ext cx="6540500" cy="533400"/>
            <a:chOff x="635000" y="4546600"/>
            <a:chExt cx="6540500" cy="533400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0DED29B0-35B9-6372-3CF0-5B535DFB04C3}"/>
                </a:ext>
              </a:extLst>
            </p:cNvPr>
            <p:cNvSpPr/>
            <p:nvPr/>
          </p:nvSpPr>
          <p:spPr>
            <a:xfrm>
              <a:off x="635000" y="4546600"/>
              <a:ext cx="6540500" cy="533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78EAE0EE-0CD9-EDFF-8E3B-C1661445A35D}"/>
                </a:ext>
              </a:extLst>
            </p:cNvPr>
            <p:cNvSpPr/>
            <p:nvPr/>
          </p:nvSpPr>
          <p:spPr>
            <a:xfrm>
              <a:off x="787400" y="46609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6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80EF220-BD9E-2E0A-B256-7D84E890D94D}"/>
                </a:ext>
              </a:extLst>
            </p:cNvPr>
            <p:cNvSpPr txBox="1"/>
            <p:nvPr/>
          </p:nvSpPr>
          <p:spPr>
            <a:xfrm>
              <a:off x="1244600" y="4546600"/>
              <a:ext cx="5778500" cy="533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950">
                  <a:solidFill>
                    <a:srgbClr val="2A1A0E"/>
                  </a:solidFill>
                  <a:latin typeface="Georgia" panose="02040502050405020303" pitchFamily="18" charset="0"/>
                </a:rPr>
                <a:t>Simple living — Voluntary simplicity, mindful consumption, and harmony with the natural world.</a:t>
              </a:r>
              <a:endParaRPr lang="en-ID" sz="9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4EB57828-F516-7668-573B-9017E252DB75}"/>
              </a:ext>
            </a:extLst>
          </p:cNvPr>
          <p:cNvSpPr/>
          <p:nvPr/>
        </p:nvSpPr>
        <p:spPr>
          <a:xfrm>
            <a:off x="635000" y="6350000"/>
            <a:ext cx="10922000" cy="12700"/>
          </a:xfrm>
          <a:prstGeom prst="rect">
            <a:avLst/>
          </a:prstGeom>
          <a:solidFill>
            <a:srgbClr val="7A1F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B03C0B9-97EE-7443-0E38-A03014B42EC7}"/>
              </a:ext>
            </a:extLst>
          </p:cNvPr>
          <p:cNvSpPr txBox="1"/>
          <p:nvPr/>
        </p:nvSpPr>
        <p:spPr>
          <a:xfrm>
            <a:off x="762000" y="6388100"/>
            <a:ext cx="3048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❖  GANDHI JAYANTI • II OCTOBER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BB6295E-A707-75FD-DAD8-E5ACA9FE398F}"/>
              </a:ext>
            </a:extLst>
          </p:cNvPr>
          <p:cNvSpPr txBox="1"/>
          <p:nvPr/>
        </p:nvSpPr>
        <p:spPr>
          <a:xfrm>
            <a:off x="3683000" y="6388100"/>
            <a:ext cx="4826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TRUTH  •  NON-VIOLENCE  •  PEACE  •  DIGNITY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E5F62B-302D-3929-EB39-89107A2395C6}"/>
              </a:ext>
            </a:extLst>
          </p:cNvPr>
          <p:cNvSpPr txBox="1"/>
          <p:nvPr/>
        </p:nvSpPr>
        <p:spPr>
          <a:xfrm>
            <a:off x="9271000" y="6388100"/>
            <a:ext cx="2159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ID" sz="750" b="1">
                <a:solidFill>
                  <a:srgbClr val="4A3220"/>
                </a:solidFill>
                <a:latin typeface="Georgia" panose="02040502050405020303" pitchFamily="18" charset="0"/>
              </a:rPr>
              <a:t>FOLIO III / X  ❖</a:t>
            </a:r>
          </a:p>
        </p:txBody>
      </p:sp>
    </p:spTree>
    <p:extLst>
      <p:ext uri="{BB962C8B-B14F-4D97-AF65-F5344CB8AC3E}">
        <p14:creationId xmlns:p14="http://schemas.microsoft.com/office/powerpoint/2010/main" val="2064542537"/>
      </p:ext>
    </p:extLst>
  </p:cSld>
  <p:clrMapOvr>
    <a:masterClrMapping/>
  </p:clrMapOvr>
  <p:transition spd="med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6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9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2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4355DE-0B91-8D5A-2702-B4E8D896F08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1A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D37F48-E890-E37E-DC2B-015521C7F3BD}"/>
              </a:ext>
            </a:extLst>
          </p:cNvPr>
          <p:cNvSpPr/>
          <p:nvPr/>
        </p:nvSpPr>
        <p:spPr>
          <a:xfrm>
            <a:off x="355600" y="203200"/>
            <a:ext cx="11480800" cy="6451600"/>
          </a:xfrm>
          <a:prstGeom prst="roundRect">
            <a:avLst/>
          </a:prstGeom>
          <a:solidFill>
            <a:srgbClr val="FAF4E6"/>
          </a:solidFill>
          <a:ln w="317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 useBgFill="1">
        <p:nvSpPr>
          <p:cNvPr id="4" name="Rectangle: Rounded Corners 3">
            <a:extLst>
              <a:ext uri="{FF2B5EF4-FFF2-40B4-BE49-F238E27FC236}">
                <a16:creationId xmlns:a16="http://schemas.microsoft.com/office/drawing/2014/main" id="{CC7E65C6-F65F-7BAC-EEDB-A7B5D80FA686}"/>
              </a:ext>
            </a:extLst>
          </p:cNvPr>
          <p:cNvSpPr/>
          <p:nvPr/>
        </p:nvSpPr>
        <p:spPr>
          <a:xfrm>
            <a:off x="419100" y="266700"/>
            <a:ext cx="11353800" cy="6324600"/>
          </a:xfrm>
          <a:prstGeom prst="roundRect">
            <a:avLst/>
          </a:prstGeom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42AF6-8F26-5F6E-3D85-5AF36F444906}"/>
              </a:ext>
            </a:extLst>
          </p:cNvPr>
          <p:cNvSpPr txBox="1"/>
          <p:nvPr/>
        </p:nvSpPr>
        <p:spPr>
          <a:xfrm>
            <a:off x="4699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7B8E5C-86C0-5ECF-8155-7D4858E96383}"/>
              </a:ext>
            </a:extLst>
          </p:cNvPr>
          <p:cNvSpPr txBox="1"/>
          <p:nvPr/>
        </p:nvSpPr>
        <p:spPr>
          <a:xfrm>
            <a:off x="115697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1B2DD3-00BF-BD85-6101-DCAE0428E5D4}"/>
              </a:ext>
            </a:extLst>
          </p:cNvPr>
          <p:cNvSpPr txBox="1"/>
          <p:nvPr/>
        </p:nvSpPr>
        <p:spPr>
          <a:xfrm>
            <a:off x="4699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61CE85-C239-BED1-4AC9-D4B1E0731AA6}"/>
              </a:ext>
            </a:extLst>
          </p:cNvPr>
          <p:cNvSpPr txBox="1"/>
          <p:nvPr/>
        </p:nvSpPr>
        <p:spPr>
          <a:xfrm>
            <a:off x="115697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F9FC869-2E13-4432-0CC8-297F2B90C403}"/>
              </a:ext>
            </a:extLst>
          </p:cNvPr>
          <p:cNvSpPr txBox="1"/>
          <p:nvPr/>
        </p:nvSpPr>
        <p:spPr>
          <a:xfrm>
            <a:off x="635000" y="406400"/>
            <a:ext cx="76200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50" b="1">
                <a:solidFill>
                  <a:srgbClr val="7A1F1F"/>
                </a:solidFill>
                <a:latin typeface="Georgia" panose="02040502050405020303" pitchFamily="18" charset="0"/>
              </a:rPr>
              <a:t>❖  CHAPTER IV • 21ST CENTURY REALITIES</a:t>
            </a:r>
            <a:endParaRPr lang="en-ID" sz="950" b="1">
              <a:solidFill>
                <a:srgbClr val="7A1F1F"/>
              </a:solidFill>
              <a:latin typeface="Georgia" panose="02040502050405020303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9FD501-BFC9-71AD-ECBA-8ACDB8680490}"/>
              </a:ext>
            </a:extLst>
          </p:cNvPr>
          <p:cNvSpPr/>
          <p:nvPr/>
        </p:nvSpPr>
        <p:spPr>
          <a:xfrm>
            <a:off x="9779000" y="381000"/>
            <a:ext cx="1778000" cy="254000"/>
          </a:xfrm>
          <a:prstGeom prst="roundRect">
            <a:avLst/>
          </a:prstGeom>
          <a:solidFill>
            <a:srgbClr val="F1E4C3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850" b="1">
                <a:solidFill>
                  <a:srgbClr val="4A3220"/>
                </a:solidFill>
                <a:latin typeface="Georgia" panose="02040502050405020303" pitchFamily="18" charset="0"/>
              </a:rPr>
              <a:t>FOLIO IV DE 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7C4049-EF04-6BC5-5C3F-DCE337A30265}"/>
              </a:ext>
            </a:extLst>
          </p:cNvPr>
          <p:cNvSpPr txBox="1"/>
          <p:nvPr/>
        </p:nvSpPr>
        <p:spPr>
          <a:xfrm>
            <a:off x="635000" y="685800"/>
            <a:ext cx="1092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000" b="1">
                <a:solidFill>
                  <a:srgbClr val="2A1A0E"/>
                </a:solidFill>
                <a:latin typeface="Georgia" panose="02040502050405020303" pitchFamily="18" charset="0"/>
              </a:rPr>
              <a:t>THE WORLD WE LIVE IN</a:t>
            </a:r>
            <a:endParaRPr lang="en-ID" sz="2000" b="1">
              <a:solidFill>
                <a:srgbClr val="2A1A0E"/>
              </a:solidFill>
              <a:latin typeface="Georgia" panose="02040502050405020303" pitchFamily="18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AF3AA12-6D5D-B9FC-6356-75265D49BC33}"/>
              </a:ext>
            </a:extLst>
          </p:cNvPr>
          <p:cNvSpPr/>
          <p:nvPr/>
        </p:nvSpPr>
        <p:spPr>
          <a:xfrm>
            <a:off x="635000" y="1143000"/>
            <a:ext cx="10922000" cy="12700"/>
          </a:xfrm>
          <a:prstGeom prst="rect">
            <a:avLst/>
          </a:prstGeom>
          <a:solidFill>
            <a:srgbClr val="B886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999C84-3D18-C110-DF29-8BDC45114FE3}"/>
              </a:ext>
            </a:extLst>
          </p:cNvPr>
          <p:cNvSpPr txBox="1"/>
          <p:nvPr/>
        </p:nvSpPr>
        <p:spPr>
          <a:xfrm>
            <a:off x="635000" y="11938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 i="1">
                <a:solidFill>
                  <a:srgbClr val="4A3220"/>
                </a:solidFill>
                <a:latin typeface="Georgia" panose="02040502050405020303" pitchFamily="18" charset="0"/>
              </a:rPr>
              <a:t>The Urgent Humanitarian, Social, and Ecological Crises of Our Era</a:t>
            </a:r>
            <a:endParaRPr lang="en-ID" sz="1050" i="1">
              <a:solidFill>
                <a:srgbClr val="4A3220"/>
              </a:solidFill>
              <a:latin typeface="Georgia" panose="02040502050405020303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E71D4D7-40B3-905C-4D6A-7BF272E8D4FF}"/>
              </a:ext>
            </a:extLst>
          </p:cNvPr>
          <p:cNvSpPr/>
          <p:nvPr/>
        </p:nvSpPr>
        <p:spPr>
          <a:xfrm>
            <a:off x="635000" y="1498600"/>
            <a:ext cx="4127500" cy="4368800"/>
          </a:xfrm>
          <a:prstGeom prst="roundRect">
            <a:avLst/>
          </a:prstGeom>
          <a:solidFill>
            <a:srgbClr val="2A1A0E"/>
          </a:solidFill>
          <a:ln w="1905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9B46D1DF-FA6D-83A9-19E3-D70D74272E17}"/>
              </a:ext>
            </a:extLst>
          </p:cNvPr>
          <p:cNvSpPr/>
          <p:nvPr/>
        </p:nvSpPr>
        <p:spPr>
          <a:xfrm>
            <a:off x="7112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DB2BF415-74E4-3700-6163-68F59BE0105A}"/>
              </a:ext>
            </a:extLst>
          </p:cNvPr>
          <p:cNvSpPr/>
          <p:nvPr/>
        </p:nvSpPr>
        <p:spPr>
          <a:xfrm>
            <a:off x="45974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8707DA61-9A02-D593-43B8-7A37E275B948}"/>
              </a:ext>
            </a:extLst>
          </p:cNvPr>
          <p:cNvSpPr/>
          <p:nvPr/>
        </p:nvSpPr>
        <p:spPr>
          <a:xfrm>
            <a:off x="7112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1207F423-F47A-9533-FE4C-A3AB914D4341}"/>
              </a:ext>
            </a:extLst>
          </p:cNvPr>
          <p:cNvSpPr/>
          <p:nvPr/>
        </p:nvSpPr>
        <p:spPr>
          <a:xfrm>
            <a:off x="45974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050F903-F3C2-E1CE-3B97-80C2EEE4D3C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5600"/>
            <a:ext cx="3873500" cy="2032000"/>
          </a:xfrm>
          <a:prstGeom prst="rect">
            <a:avLst/>
          </a:prstGeom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9479A3A-41E3-5AC7-6686-14A7076BAF9E}"/>
              </a:ext>
            </a:extLst>
          </p:cNvPr>
          <p:cNvSpPr/>
          <p:nvPr/>
        </p:nvSpPr>
        <p:spPr>
          <a:xfrm>
            <a:off x="838200" y="1701800"/>
            <a:ext cx="1397000" cy="228600"/>
          </a:xfrm>
          <a:prstGeom prst="roundRect">
            <a:avLst/>
          </a:prstGeom>
          <a:solidFill>
            <a:srgbClr val="2A1A0E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750" b="1">
                <a:solidFill>
                  <a:srgbClr val="F1E4C3"/>
                </a:solidFill>
                <a:latin typeface="Georgia" panose="02040502050405020303" pitchFamily="18" charset="0"/>
              </a:rPr>
              <a:t>ARCHIVE • CH. IV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A88154-FF99-AD9B-8A39-0E07356A4439}"/>
              </a:ext>
            </a:extLst>
          </p:cNvPr>
          <p:cNvSpPr txBox="1"/>
          <p:nvPr/>
        </p:nvSpPr>
        <p:spPr>
          <a:xfrm>
            <a:off x="762000" y="3733800"/>
            <a:ext cx="38735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00" i="1">
                <a:solidFill>
                  <a:srgbClr val="FAF4E6"/>
                </a:solidFill>
                <a:latin typeface="Georgia" panose="02040502050405020303" pitchFamily="18" charset="0"/>
              </a:rPr>
              <a:t>Gandhi and Nehru, Mumbai, 1946</a:t>
            </a:r>
            <a:endParaRPr lang="en-ID" sz="900" i="1">
              <a:solidFill>
                <a:srgbClr val="FAF4E6"/>
              </a:solidFill>
              <a:latin typeface="Georgia" panose="02040502050405020303" pitchFamily="18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8203B07-2DC8-4D21-74DB-BC0D1817045C}"/>
              </a:ext>
            </a:extLst>
          </p:cNvPr>
          <p:cNvSpPr/>
          <p:nvPr/>
        </p:nvSpPr>
        <p:spPr>
          <a:xfrm>
            <a:off x="762000" y="4648200"/>
            <a:ext cx="3873500" cy="1092200"/>
          </a:xfrm>
          <a:prstGeom prst="roundRect">
            <a:avLst/>
          </a:prstGeom>
          <a:solidFill>
            <a:srgbClr val="3D2717"/>
          </a:solidFill>
          <a:ln w="1270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50800" rtlCol="0" anchor="ctr"/>
          <a:lstStyle/>
          <a:p>
            <a:pPr algn="ctr"/>
            <a:r>
              <a:rPr lang="en-ID" sz="750" b="1">
                <a:solidFill>
                  <a:srgbClr val="D4AF37"/>
                </a:solidFill>
                <a:latin typeface="Georgia" panose="02040502050405020303" pitchFamily="18" charset="0"/>
              </a:rPr>
              <a:t>❝ DICTUM MAHATMA GANDHI
</a:t>
            </a:r>
            <a:r>
              <a:rPr lang="en-US" sz="950" b="1" i="1">
                <a:solidFill>
                  <a:srgbClr val="F1E4C3"/>
                </a:solidFill>
                <a:latin typeface="Georgia" panose="02040502050405020303" pitchFamily="18" charset="0"/>
              </a:rPr>
              <a:t>"The world will live in peace only when the individuals composing it make up their minds to do so."</a:t>
            </a:r>
            <a:endParaRPr lang="en-ID" sz="950" b="1" i="1">
              <a:solidFill>
                <a:srgbClr val="F1E4C3"/>
              </a:solidFill>
              <a:latin typeface="Georgia" panose="02040502050405020303" pitchFamily="18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8268EDE-6577-C43A-8A15-DD2BB6CD1FEC}"/>
              </a:ext>
            </a:extLst>
          </p:cNvPr>
          <p:cNvGrpSpPr/>
          <p:nvPr/>
        </p:nvGrpSpPr>
        <p:grpSpPr>
          <a:xfrm>
            <a:off x="5016500" y="1498600"/>
            <a:ext cx="6540500" cy="533400"/>
            <a:chOff x="5016500" y="1498600"/>
            <a:chExt cx="6540500" cy="5334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5768515-C9CB-7D23-2216-491F0A6E4FF7}"/>
                </a:ext>
              </a:extLst>
            </p:cNvPr>
            <p:cNvSpPr/>
            <p:nvPr/>
          </p:nvSpPr>
          <p:spPr>
            <a:xfrm>
              <a:off x="5016500" y="1498600"/>
              <a:ext cx="6540500" cy="533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C115066C-42BF-257B-71F5-59CF34CD5E51}"/>
                </a:ext>
              </a:extLst>
            </p:cNvPr>
            <p:cNvSpPr/>
            <p:nvPr/>
          </p:nvSpPr>
          <p:spPr>
            <a:xfrm>
              <a:off x="5168900" y="16129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219FE2B9-52C0-D419-0D0E-CABE20B6A4FE}"/>
                </a:ext>
              </a:extLst>
            </p:cNvPr>
            <p:cNvSpPr txBox="1"/>
            <p:nvPr/>
          </p:nvSpPr>
          <p:spPr>
            <a:xfrm>
              <a:off x="5626100" y="1498600"/>
              <a:ext cx="5778500" cy="533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950">
                  <a:solidFill>
                    <a:srgbClr val="2A1A0E"/>
                  </a:solidFill>
                  <a:latin typeface="Georgia" panose="02040502050405020303" pitchFamily="18" charset="0"/>
                </a:rPr>
                <a:t>Wars and conflict: Escalating geopolitical hostilities, armed warfare, and global instability.</a:t>
              </a:r>
              <a:endParaRPr lang="en-ID" sz="9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02D3CAC-0FAA-BA93-4C15-E1FB8E99E26A}"/>
              </a:ext>
            </a:extLst>
          </p:cNvPr>
          <p:cNvGrpSpPr/>
          <p:nvPr/>
        </p:nvGrpSpPr>
        <p:grpSpPr>
          <a:xfrm>
            <a:off x="5016500" y="2108200"/>
            <a:ext cx="6540500" cy="533400"/>
            <a:chOff x="5016500" y="2108200"/>
            <a:chExt cx="6540500" cy="533400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E7A322E0-BD34-3272-0ABF-D5CD7CEF2A28}"/>
                </a:ext>
              </a:extLst>
            </p:cNvPr>
            <p:cNvSpPr/>
            <p:nvPr/>
          </p:nvSpPr>
          <p:spPr>
            <a:xfrm>
              <a:off x="5016500" y="2108200"/>
              <a:ext cx="6540500" cy="533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7E38292E-3542-75E6-62A7-98B4AA717185}"/>
                </a:ext>
              </a:extLst>
            </p:cNvPr>
            <p:cNvSpPr/>
            <p:nvPr/>
          </p:nvSpPr>
          <p:spPr>
            <a:xfrm>
              <a:off x="5168900" y="22225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7C73C27-2A31-5F4E-2F21-7F57706060CF}"/>
                </a:ext>
              </a:extLst>
            </p:cNvPr>
            <p:cNvSpPr txBox="1"/>
            <p:nvPr/>
          </p:nvSpPr>
          <p:spPr>
            <a:xfrm>
              <a:off x="5626100" y="2108200"/>
              <a:ext cx="5778500" cy="533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950">
                  <a:solidFill>
                    <a:srgbClr val="2A1A0E"/>
                  </a:solidFill>
                  <a:latin typeface="Georgia" panose="02040502050405020303" pitchFamily="18" charset="0"/>
                </a:rPr>
                <a:t>Polarisation and hate online: Digital echo chambers, social fragmentation, and rising hostility.</a:t>
              </a:r>
              <a:endParaRPr lang="en-ID" sz="9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42BDA3F-61D0-379E-35BC-E58EF2054066}"/>
              </a:ext>
            </a:extLst>
          </p:cNvPr>
          <p:cNvGrpSpPr/>
          <p:nvPr/>
        </p:nvGrpSpPr>
        <p:grpSpPr>
          <a:xfrm>
            <a:off x="5016500" y="2717800"/>
            <a:ext cx="6540500" cy="533400"/>
            <a:chOff x="5016500" y="2717800"/>
            <a:chExt cx="6540500" cy="533400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4E0FEA3E-9C4C-4938-2DB4-D91E8D7B3EDF}"/>
                </a:ext>
              </a:extLst>
            </p:cNvPr>
            <p:cNvSpPr/>
            <p:nvPr/>
          </p:nvSpPr>
          <p:spPr>
            <a:xfrm>
              <a:off x="5016500" y="2717800"/>
              <a:ext cx="6540500" cy="533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A6562B9C-F0D2-9DEA-DAD9-FF9F994DDF76}"/>
                </a:ext>
              </a:extLst>
            </p:cNvPr>
            <p:cNvSpPr/>
            <p:nvPr/>
          </p:nvSpPr>
          <p:spPr>
            <a:xfrm>
              <a:off x="5168900" y="28321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3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C9D7306-C6E3-6AE1-10AE-067D5B412721}"/>
                </a:ext>
              </a:extLst>
            </p:cNvPr>
            <p:cNvSpPr txBox="1"/>
            <p:nvPr/>
          </p:nvSpPr>
          <p:spPr>
            <a:xfrm>
              <a:off x="5626100" y="2717800"/>
              <a:ext cx="5778500" cy="533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950">
                  <a:solidFill>
                    <a:srgbClr val="2A1A0E"/>
                  </a:solidFill>
                  <a:latin typeface="Georgia" panose="02040502050405020303" pitchFamily="18" charset="0"/>
                </a:rPr>
                <a:t>Climate crisis: Global environmental degradation, extreme weather, and resource depletion.</a:t>
              </a:r>
              <a:endParaRPr lang="en-ID" sz="9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B275647D-2A52-C3CE-52AF-08B7C8E6399C}"/>
              </a:ext>
            </a:extLst>
          </p:cNvPr>
          <p:cNvGrpSpPr/>
          <p:nvPr/>
        </p:nvGrpSpPr>
        <p:grpSpPr>
          <a:xfrm>
            <a:off x="5016500" y="3327400"/>
            <a:ext cx="6540500" cy="533400"/>
            <a:chOff x="5016500" y="3327400"/>
            <a:chExt cx="6540500" cy="53340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F5878B9-1272-47AB-4C64-50B660C6767D}"/>
                </a:ext>
              </a:extLst>
            </p:cNvPr>
            <p:cNvSpPr/>
            <p:nvPr/>
          </p:nvSpPr>
          <p:spPr>
            <a:xfrm>
              <a:off x="5016500" y="3327400"/>
              <a:ext cx="6540500" cy="533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49AB8E86-13A2-F695-5D3A-82A0F38EC0BF}"/>
                </a:ext>
              </a:extLst>
            </p:cNvPr>
            <p:cNvSpPr/>
            <p:nvPr/>
          </p:nvSpPr>
          <p:spPr>
            <a:xfrm>
              <a:off x="5168900" y="34417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4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B615C0D-FF5A-BCAB-7E52-FCFA564542D6}"/>
                </a:ext>
              </a:extLst>
            </p:cNvPr>
            <p:cNvSpPr txBox="1"/>
            <p:nvPr/>
          </p:nvSpPr>
          <p:spPr>
            <a:xfrm>
              <a:off x="5626100" y="3327400"/>
              <a:ext cx="5778500" cy="533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950">
                  <a:solidFill>
                    <a:srgbClr val="2A1A0E"/>
                  </a:solidFill>
                  <a:latin typeface="Georgia" panose="02040502050405020303" pitchFamily="18" charset="0"/>
                </a:rPr>
                <a:t>Inequality: Widening socio-economic divides and unequal access to essential opportunities.</a:t>
              </a:r>
              <a:endParaRPr lang="en-ID" sz="9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B16DC92F-C62D-CF39-F77B-8F98E0BCEDCF}"/>
              </a:ext>
            </a:extLst>
          </p:cNvPr>
          <p:cNvGrpSpPr/>
          <p:nvPr/>
        </p:nvGrpSpPr>
        <p:grpSpPr>
          <a:xfrm>
            <a:off x="5016500" y="3937000"/>
            <a:ext cx="6540500" cy="533400"/>
            <a:chOff x="5016500" y="3937000"/>
            <a:chExt cx="6540500" cy="533400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58910B88-0D0F-496C-FF32-E68C55FA1D74}"/>
                </a:ext>
              </a:extLst>
            </p:cNvPr>
            <p:cNvSpPr/>
            <p:nvPr/>
          </p:nvSpPr>
          <p:spPr>
            <a:xfrm>
              <a:off x="5016500" y="3937000"/>
              <a:ext cx="6540500" cy="533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2BA3CA7A-2D4D-29E3-8547-F00F3A2CA185}"/>
                </a:ext>
              </a:extLst>
            </p:cNvPr>
            <p:cNvSpPr/>
            <p:nvPr/>
          </p:nvSpPr>
          <p:spPr>
            <a:xfrm>
              <a:off x="5168900" y="40513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5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7852EDE-D235-E80B-7B67-E9C7631D2393}"/>
                </a:ext>
              </a:extLst>
            </p:cNvPr>
            <p:cNvSpPr txBox="1"/>
            <p:nvPr/>
          </p:nvSpPr>
          <p:spPr>
            <a:xfrm>
              <a:off x="5626100" y="3937000"/>
              <a:ext cx="5778500" cy="533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950">
                  <a:solidFill>
                    <a:srgbClr val="2A1A0E"/>
                  </a:solidFill>
                  <a:latin typeface="Georgia" panose="02040502050405020303" pitchFamily="18" charset="0"/>
                </a:rPr>
                <a:t>Misinformation: Rapid algorithmic dissemination of falsehoods eroding public trust.</a:t>
              </a:r>
              <a:endParaRPr lang="en-ID" sz="9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8DE7A6C-CFA4-9C46-6FD2-27A3F8FE3586}"/>
              </a:ext>
            </a:extLst>
          </p:cNvPr>
          <p:cNvGrpSpPr/>
          <p:nvPr/>
        </p:nvGrpSpPr>
        <p:grpSpPr>
          <a:xfrm>
            <a:off x="5016500" y="4546600"/>
            <a:ext cx="6540500" cy="533400"/>
            <a:chOff x="5016500" y="4546600"/>
            <a:chExt cx="6540500" cy="533400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AB1D11D1-1746-E9FB-BE06-8AD44904BBB2}"/>
                </a:ext>
              </a:extLst>
            </p:cNvPr>
            <p:cNvSpPr/>
            <p:nvPr/>
          </p:nvSpPr>
          <p:spPr>
            <a:xfrm>
              <a:off x="5016500" y="4546600"/>
              <a:ext cx="6540500" cy="533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0EA2514A-0105-350E-4A71-FC7F1AF46105}"/>
                </a:ext>
              </a:extLst>
            </p:cNvPr>
            <p:cNvSpPr/>
            <p:nvPr/>
          </p:nvSpPr>
          <p:spPr>
            <a:xfrm>
              <a:off x="5168900" y="46609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6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B77475D-39A0-AF52-DCA7-C87A3849F6CC}"/>
                </a:ext>
              </a:extLst>
            </p:cNvPr>
            <p:cNvSpPr txBox="1"/>
            <p:nvPr/>
          </p:nvSpPr>
          <p:spPr>
            <a:xfrm>
              <a:off x="5626100" y="4546600"/>
              <a:ext cx="5778500" cy="533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950">
                  <a:solidFill>
                    <a:srgbClr val="2A1A0E"/>
                  </a:solidFill>
                  <a:latin typeface="Georgia" panose="02040502050405020303" pitchFamily="18" charset="0"/>
                </a:rPr>
                <a:t>Consumerism and waste: Hyper-materialistic lifestyles straining the planet's finite resources.</a:t>
              </a:r>
              <a:endParaRPr lang="en-ID" sz="9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D3ADFF94-38CD-BEC8-7BA1-98D4CB295AA3}"/>
              </a:ext>
            </a:extLst>
          </p:cNvPr>
          <p:cNvSpPr/>
          <p:nvPr/>
        </p:nvSpPr>
        <p:spPr>
          <a:xfrm>
            <a:off x="635000" y="6350000"/>
            <a:ext cx="10922000" cy="12700"/>
          </a:xfrm>
          <a:prstGeom prst="rect">
            <a:avLst/>
          </a:prstGeom>
          <a:solidFill>
            <a:srgbClr val="7A1F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A0FB4C9-9881-4F1B-8908-0E3CE8EEC6FA}"/>
              </a:ext>
            </a:extLst>
          </p:cNvPr>
          <p:cNvSpPr txBox="1"/>
          <p:nvPr/>
        </p:nvSpPr>
        <p:spPr>
          <a:xfrm>
            <a:off x="762000" y="6388100"/>
            <a:ext cx="3048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❖  GANDHI JAYANTI • II OCTOBER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8FDC475-FA89-B07B-6B95-17E67088BF01}"/>
              </a:ext>
            </a:extLst>
          </p:cNvPr>
          <p:cNvSpPr txBox="1"/>
          <p:nvPr/>
        </p:nvSpPr>
        <p:spPr>
          <a:xfrm>
            <a:off x="3683000" y="6388100"/>
            <a:ext cx="4826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TRUTH  •  NON-VIOLENCE  •  PEACE  •  DIGNITY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852FE8F-34A7-259F-421A-F4DC91FA3A8E}"/>
              </a:ext>
            </a:extLst>
          </p:cNvPr>
          <p:cNvSpPr txBox="1"/>
          <p:nvPr/>
        </p:nvSpPr>
        <p:spPr>
          <a:xfrm>
            <a:off x="9271000" y="6388100"/>
            <a:ext cx="2159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ID" sz="750" b="1">
                <a:solidFill>
                  <a:srgbClr val="4A3220"/>
                </a:solidFill>
                <a:latin typeface="Georgia" panose="02040502050405020303" pitchFamily="18" charset="0"/>
              </a:rPr>
              <a:t>FOLIO IV / X  ❖</a:t>
            </a:r>
          </a:p>
        </p:txBody>
      </p:sp>
    </p:spTree>
    <p:extLst>
      <p:ext uri="{BB962C8B-B14F-4D97-AF65-F5344CB8AC3E}">
        <p14:creationId xmlns:p14="http://schemas.microsoft.com/office/powerpoint/2010/main" val="1913393397"/>
      </p:ext>
    </p:extLst>
  </p:cSld>
  <p:clrMapOvr>
    <a:masterClrMapping/>
  </p:clrMapOvr>
  <p:transition spd="med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6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9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2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50"/>
                            </p:stCondLst>
                            <p:childTnLst>
                              <p:par>
                                <p:cTn id="2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8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AB130D0-5A61-AAA4-996D-EBA31FB6282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1A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5267CC2-2000-2F1D-3CDE-9AC3CDAEFE0C}"/>
              </a:ext>
            </a:extLst>
          </p:cNvPr>
          <p:cNvSpPr/>
          <p:nvPr/>
        </p:nvSpPr>
        <p:spPr>
          <a:xfrm>
            <a:off x="355600" y="203200"/>
            <a:ext cx="11480800" cy="6451600"/>
          </a:xfrm>
          <a:prstGeom prst="roundRect">
            <a:avLst/>
          </a:prstGeom>
          <a:solidFill>
            <a:srgbClr val="FAF4E6"/>
          </a:solidFill>
          <a:ln w="317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 useBgFill="1">
        <p:nvSpPr>
          <p:cNvPr id="4" name="Rectangle: Rounded Corners 3">
            <a:extLst>
              <a:ext uri="{FF2B5EF4-FFF2-40B4-BE49-F238E27FC236}">
                <a16:creationId xmlns:a16="http://schemas.microsoft.com/office/drawing/2014/main" id="{D82A1FB8-599D-9CE6-1BD1-EA1A816E5E0D}"/>
              </a:ext>
            </a:extLst>
          </p:cNvPr>
          <p:cNvSpPr/>
          <p:nvPr/>
        </p:nvSpPr>
        <p:spPr>
          <a:xfrm>
            <a:off x="419100" y="266700"/>
            <a:ext cx="11353800" cy="6324600"/>
          </a:xfrm>
          <a:prstGeom prst="roundRect">
            <a:avLst/>
          </a:prstGeom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E7CA49-9093-3A29-86F5-FA8FEE670A04}"/>
              </a:ext>
            </a:extLst>
          </p:cNvPr>
          <p:cNvSpPr txBox="1"/>
          <p:nvPr/>
        </p:nvSpPr>
        <p:spPr>
          <a:xfrm>
            <a:off x="4699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5D7162-392D-F11A-A8D2-17B59592F18B}"/>
              </a:ext>
            </a:extLst>
          </p:cNvPr>
          <p:cNvSpPr txBox="1"/>
          <p:nvPr/>
        </p:nvSpPr>
        <p:spPr>
          <a:xfrm>
            <a:off x="115697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D16CDF-3A7B-D2F3-6F4A-D64427805A43}"/>
              </a:ext>
            </a:extLst>
          </p:cNvPr>
          <p:cNvSpPr txBox="1"/>
          <p:nvPr/>
        </p:nvSpPr>
        <p:spPr>
          <a:xfrm>
            <a:off x="4699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55E291-D74C-D741-4E8B-3C21E442DFFD}"/>
              </a:ext>
            </a:extLst>
          </p:cNvPr>
          <p:cNvSpPr txBox="1"/>
          <p:nvPr/>
        </p:nvSpPr>
        <p:spPr>
          <a:xfrm>
            <a:off x="115697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6903D5-1062-7431-8800-3ECECA5A14B4}"/>
              </a:ext>
            </a:extLst>
          </p:cNvPr>
          <p:cNvSpPr txBox="1"/>
          <p:nvPr/>
        </p:nvSpPr>
        <p:spPr>
          <a:xfrm>
            <a:off x="635000" y="406400"/>
            <a:ext cx="76200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50" b="1">
                <a:solidFill>
                  <a:srgbClr val="7A1F1F"/>
                </a:solidFill>
                <a:latin typeface="Georgia" panose="02040502050405020303" pitchFamily="18" charset="0"/>
              </a:rPr>
              <a:t>❖  CHAPTER V • POWER OF NON-VIOLENCE</a:t>
            </a:r>
            <a:endParaRPr lang="en-ID" sz="950" b="1">
              <a:solidFill>
                <a:srgbClr val="7A1F1F"/>
              </a:solidFill>
              <a:latin typeface="Georgia" panose="02040502050405020303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0ACC50C-EDA0-DBCA-227E-ECD69B27ECCB}"/>
              </a:ext>
            </a:extLst>
          </p:cNvPr>
          <p:cNvSpPr/>
          <p:nvPr/>
        </p:nvSpPr>
        <p:spPr>
          <a:xfrm>
            <a:off x="9779000" y="381000"/>
            <a:ext cx="1778000" cy="254000"/>
          </a:xfrm>
          <a:prstGeom prst="roundRect">
            <a:avLst/>
          </a:prstGeom>
          <a:solidFill>
            <a:srgbClr val="F1E4C3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850" b="1">
                <a:solidFill>
                  <a:srgbClr val="4A3220"/>
                </a:solidFill>
                <a:latin typeface="Georgia" panose="02040502050405020303" pitchFamily="18" charset="0"/>
              </a:rPr>
              <a:t>FOLIO V DE 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E5B303-0F9D-58BD-4797-D2F831D3FB99}"/>
              </a:ext>
            </a:extLst>
          </p:cNvPr>
          <p:cNvSpPr txBox="1"/>
          <p:nvPr/>
        </p:nvSpPr>
        <p:spPr>
          <a:xfrm>
            <a:off x="635000" y="685800"/>
            <a:ext cx="1092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D" sz="2000" b="1">
                <a:solidFill>
                  <a:srgbClr val="2A1A0E"/>
                </a:solidFill>
                <a:latin typeface="Georgia" panose="02040502050405020303" pitchFamily="18" charset="0"/>
              </a:rPr>
              <a:t>AHIMSA IN ACTION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610535-ABC8-8117-F342-B8F0ABEB0A24}"/>
              </a:ext>
            </a:extLst>
          </p:cNvPr>
          <p:cNvSpPr/>
          <p:nvPr/>
        </p:nvSpPr>
        <p:spPr>
          <a:xfrm>
            <a:off x="635000" y="1143000"/>
            <a:ext cx="10922000" cy="12700"/>
          </a:xfrm>
          <a:prstGeom prst="rect">
            <a:avLst/>
          </a:prstGeom>
          <a:solidFill>
            <a:srgbClr val="B886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F48E14-6B1A-F412-963E-12BCF6EB458C}"/>
              </a:ext>
            </a:extLst>
          </p:cNvPr>
          <p:cNvSpPr txBox="1"/>
          <p:nvPr/>
        </p:nvSpPr>
        <p:spPr>
          <a:xfrm>
            <a:off x="635000" y="11938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 i="1">
                <a:solidFill>
                  <a:srgbClr val="4A3220"/>
                </a:solidFill>
                <a:latin typeface="Georgia" panose="02040502050405020303" pitchFamily="18" charset="0"/>
              </a:rPr>
              <a:t>How Non-Violent Resistance Transformed Global Civil Rights and History</a:t>
            </a:r>
            <a:endParaRPr lang="en-ID" sz="1050" i="1">
              <a:solidFill>
                <a:srgbClr val="4A3220"/>
              </a:solidFill>
              <a:latin typeface="Georgia" panose="02040502050405020303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094DDD0-1D32-AD7F-A114-04B4F32F0838}"/>
              </a:ext>
            </a:extLst>
          </p:cNvPr>
          <p:cNvSpPr/>
          <p:nvPr/>
        </p:nvSpPr>
        <p:spPr>
          <a:xfrm>
            <a:off x="7429500" y="1498600"/>
            <a:ext cx="4127500" cy="4368800"/>
          </a:xfrm>
          <a:prstGeom prst="roundRect">
            <a:avLst/>
          </a:prstGeom>
          <a:solidFill>
            <a:srgbClr val="2A1A0E"/>
          </a:solidFill>
          <a:ln w="1905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A0798BFC-7BB7-BD9F-B8DD-1D3FFE2A6081}"/>
              </a:ext>
            </a:extLst>
          </p:cNvPr>
          <p:cNvSpPr/>
          <p:nvPr/>
        </p:nvSpPr>
        <p:spPr>
          <a:xfrm>
            <a:off x="75057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8262ABC8-35A8-EF81-9ECA-6C8AF58A7B0D}"/>
              </a:ext>
            </a:extLst>
          </p:cNvPr>
          <p:cNvSpPr/>
          <p:nvPr/>
        </p:nvSpPr>
        <p:spPr>
          <a:xfrm>
            <a:off x="113919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0D9A9E90-3C73-4413-3411-BD188A387295}"/>
              </a:ext>
            </a:extLst>
          </p:cNvPr>
          <p:cNvSpPr/>
          <p:nvPr/>
        </p:nvSpPr>
        <p:spPr>
          <a:xfrm>
            <a:off x="75057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4E737868-747D-8545-6B98-ED62A648DF88}"/>
              </a:ext>
            </a:extLst>
          </p:cNvPr>
          <p:cNvSpPr/>
          <p:nvPr/>
        </p:nvSpPr>
        <p:spPr>
          <a:xfrm>
            <a:off x="113919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5C0AE988-D322-FEEC-734A-D3579500F92B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6500" y="1625600"/>
            <a:ext cx="3873500" cy="2032000"/>
          </a:xfrm>
          <a:prstGeom prst="rect">
            <a:avLst/>
          </a:prstGeom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324D517-0E2F-3A2B-37A5-F797DE7854B5}"/>
              </a:ext>
            </a:extLst>
          </p:cNvPr>
          <p:cNvSpPr/>
          <p:nvPr/>
        </p:nvSpPr>
        <p:spPr>
          <a:xfrm>
            <a:off x="7632700" y="1701800"/>
            <a:ext cx="1397000" cy="228600"/>
          </a:xfrm>
          <a:prstGeom prst="roundRect">
            <a:avLst/>
          </a:prstGeom>
          <a:solidFill>
            <a:srgbClr val="2A1A0E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750" b="1">
                <a:solidFill>
                  <a:srgbClr val="F1E4C3"/>
                </a:solidFill>
                <a:latin typeface="Georgia" panose="02040502050405020303" pitchFamily="18" charset="0"/>
              </a:rPr>
              <a:t>ARCHIVE • CH. V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99C706-35F4-2999-7874-5C3EB687C3E9}"/>
              </a:ext>
            </a:extLst>
          </p:cNvPr>
          <p:cNvSpPr txBox="1"/>
          <p:nvPr/>
        </p:nvSpPr>
        <p:spPr>
          <a:xfrm>
            <a:off x="7556500" y="3733800"/>
            <a:ext cx="38735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D" sz="900" i="1">
                <a:solidFill>
                  <a:srgbClr val="FAF4E6"/>
                </a:solidFill>
                <a:latin typeface="Georgia" panose="02040502050405020303" pitchFamily="18" charset="0"/>
              </a:rPr>
              <a:t>Gandhi with Abdul Ghaffar Khan, 1940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B0F953B-76B9-7221-01F9-AEB6E4DCC60B}"/>
              </a:ext>
            </a:extLst>
          </p:cNvPr>
          <p:cNvSpPr/>
          <p:nvPr/>
        </p:nvSpPr>
        <p:spPr>
          <a:xfrm>
            <a:off x="7556500" y="4648200"/>
            <a:ext cx="3873500" cy="1092200"/>
          </a:xfrm>
          <a:prstGeom prst="roundRect">
            <a:avLst/>
          </a:prstGeom>
          <a:solidFill>
            <a:srgbClr val="3D2717"/>
          </a:solidFill>
          <a:ln w="1270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50800" rtlCol="0" anchor="ctr"/>
          <a:lstStyle/>
          <a:p>
            <a:pPr algn="ctr"/>
            <a:r>
              <a:rPr lang="en-ID" sz="750" b="1">
                <a:solidFill>
                  <a:srgbClr val="D4AF37"/>
                </a:solidFill>
                <a:latin typeface="Georgia" panose="02040502050405020303" pitchFamily="18" charset="0"/>
              </a:rPr>
              <a:t>❝ DICTUM MAHATMA GANDHI
</a:t>
            </a:r>
            <a:r>
              <a:rPr lang="en-US" sz="950" b="1" i="1">
                <a:solidFill>
                  <a:srgbClr val="F1E4C3"/>
                </a:solidFill>
                <a:latin typeface="Georgia" panose="02040502050405020303" pitchFamily="18" charset="0"/>
              </a:rPr>
              <a:t>"Non-violence is the greatest force at the disposal of mankind. — Mahatma Gandhi"</a:t>
            </a:r>
            <a:endParaRPr lang="en-ID" sz="950" b="1" i="1">
              <a:solidFill>
                <a:srgbClr val="F1E4C3"/>
              </a:solidFill>
              <a:latin typeface="Georgia" panose="02040502050405020303" pitchFamily="18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3E7FBBC-0C9A-EC93-7422-C21A29C19004}"/>
              </a:ext>
            </a:extLst>
          </p:cNvPr>
          <p:cNvGrpSpPr/>
          <p:nvPr/>
        </p:nvGrpSpPr>
        <p:grpSpPr>
          <a:xfrm>
            <a:off x="635000" y="1498599"/>
            <a:ext cx="6540500" cy="736601"/>
            <a:chOff x="635000" y="1498599"/>
            <a:chExt cx="6540500" cy="736601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FB48A1B-ED54-02D1-7469-0C07EAB8870D}"/>
                </a:ext>
              </a:extLst>
            </p:cNvPr>
            <p:cNvSpPr/>
            <p:nvPr/>
          </p:nvSpPr>
          <p:spPr>
            <a:xfrm>
              <a:off x="635000" y="1498600"/>
              <a:ext cx="6540500" cy="7366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A8F5C4E7-D7B0-FFA5-D780-7C9A40D9C58D}"/>
                </a:ext>
              </a:extLst>
            </p:cNvPr>
            <p:cNvSpPr/>
            <p:nvPr/>
          </p:nvSpPr>
          <p:spPr>
            <a:xfrm>
              <a:off x="787400" y="17145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9BB9209-23CD-B4F1-B3A9-0EB1A229CE96}"/>
                </a:ext>
              </a:extLst>
            </p:cNvPr>
            <p:cNvSpPr txBox="1"/>
            <p:nvPr/>
          </p:nvSpPr>
          <p:spPr>
            <a:xfrm>
              <a:off x="1244600" y="1498599"/>
              <a:ext cx="5778500" cy="7366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50">
                  <a:solidFill>
                    <a:srgbClr val="2A1A0E"/>
                  </a:solidFill>
                  <a:latin typeface="Georgia" panose="02040502050405020303" pitchFamily="18" charset="0"/>
                </a:rPr>
                <a:t>The US civil rights movement (Martin Luther King Jr.) and South African anti-apartheid struggle (Nelson Mandela) drew deeply on Gandhian ideas.</a:t>
              </a:r>
              <a:endParaRPr lang="en-ID" sz="11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BC0609A-3D51-C43E-2494-B8FCBA1CC52B}"/>
              </a:ext>
            </a:extLst>
          </p:cNvPr>
          <p:cNvGrpSpPr/>
          <p:nvPr/>
        </p:nvGrpSpPr>
        <p:grpSpPr>
          <a:xfrm>
            <a:off x="635000" y="2412999"/>
            <a:ext cx="6540500" cy="736601"/>
            <a:chOff x="635000" y="2412999"/>
            <a:chExt cx="6540500" cy="73660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C0D0F1E2-8469-B3D1-3E2C-304E8CE4A9F5}"/>
                </a:ext>
              </a:extLst>
            </p:cNvPr>
            <p:cNvSpPr/>
            <p:nvPr/>
          </p:nvSpPr>
          <p:spPr>
            <a:xfrm>
              <a:off x="635000" y="2413000"/>
              <a:ext cx="6540500" cy="7366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F6E1313C-0D74-46F3-05B5-F8A53A594B91}"/>
                </a:ext>
              </a:extLst>
            </p:cNvPr>
            <p:cNvSpPr/>
            <p:nvPr/>
          </p:nvSpPr>
          <p:spPr>
            <a:xfrm>
              <a:off x="787400" y="26289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3EE21AF-EA26-C3BE-EF5F-6840B634742C}"/>
                </a:ext>
              </a:extLst>
            </p:cNvPr>
            <p:cNvSpPr txBox="1"/>
            <p:nvPr/>
          </p:nvSpPr>
          <p:spPr>
            <a:xfrm>
              <a:off x="1244600" y="2412999"/>
              <a:ext cx="5778500" cy="7366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50">
                  <a:solidFill>
                    <a:srgbClr val="2A1A0E"/>
                  </a:solidFill>
                  <a:latin typeface="Georgia" panose="02040502050405020303" pitchFamily="18" charset="0"/>
                </a:rPr>
                <a:t>Chenoweth and Stephan's study (analyzing 323 campaigns from 1900 to 2006) found non-violent campaigns succeeded more often than violent ones.</a:t>
              </a:r>
              <a:endParaRPr lang="en-ID" sz="11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212B292-A0EC-473A-A5CD-406F0B4A445C}"/>
              </a:ext>
            </a:extLst>
          </p:cNvPr>
          <p:cNvGrpSpPr/>
          <p:nvPr/>
        </p:nvGrpSpPr>
        <p:grpSpPr>
          <a:xfrm>
            <a:off x="635000" y="3327399"/>
            <a:ext cx="6540500" cy="736601"/>
            <a:chOff x="635000" y="3327399"/>
            <a:chExt cx="6540500" cy="736601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E9BCBF86-9EAF-2C45-42AA-B78F784064F8}"/>
                </a:ext>
              </a:extLst>
            </p:cNvPr>
            <p:cNvSpPr/>
            <p:nvPr/>
          </p:nvSpPr>
          <p:spPr>
            <a:xfrm>
              <a:off x="635000" y="3327400"/>
              <a:ext cx="6540500" cy="7366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DD092D54-7093-A3C9-1ED0-44D7D2A0FA66}"/>
                </a:ext>
              </a:extLst>
            </p:cNvPr>
            <p:cNvSpPr/>
            <p:nvPr/>
          </p:nvSpPr>
          <p:spPr>
            <a:xfrm>
              <a:off x="787400" y="35433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3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8D58A99-9340-1D67-528C-91C3C921A156}"/>
                </a:ext>
              </a:extLst>
            </p:cNvPr>
            <p:cNvSpPr txBox="1"/>
            <p:nvPr/>
          </p:nvSpPr>
          <p:spPr>
            <a:xfrm>
              <a:off x="1244600" y="3327399"/>
              <a:ext cx="5778500" cy="7366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50">
                  <a:solidFill>
                    <a:srgbClr val="2A1A0E"/>
                  </a:solidFill>
                  <a:latin typeface="Georgia" panose="02040502050405020303" pitchFamily="18" charset="0"/>
                </a:rPr>
                <a:t>2 October is recognized internationally by the United Nations as the International Day of Non-Violence.</a:t>
              </a:r>
              <a:endParaRPr lang="en-ID" sz="11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E4EF244A-9E31-1769-F0D0-30F9F89F2F44}"/>
              </a:ext>
            </a:extLst>
          </p:cNvPr>
          <p:cNvSpPr/>
          <p:nvPr/>
        </p:nvSpPr>
        <p:spPr>
          <a:xfrm>
            <a:off x="635000" y="6350000"/>
            <a:ext cx="10922000" cy="12700"/>
          </a:xfrm>
          <a:prstGeom prst="rect">
            <a:avLst/>
          </a:prstGeom>
          <a:solidFill>
            <a:srgbClr val="7A1F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BE67B60-5ADB-F9A2-A6D6-9B68E4D3DEE9}"/>
              </a:ext>
            </a:extLst>
          </p:cNvPr>
          <p:cNvSpPr txBox="1"/>
          <p:nvPr/>
        </p:nvSpPr>
        <p:spPr>
          <a:xfrm>
            <a:off x="762000" y="6388100"/>
            <a:ext cx="3048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❖  GANDHI JAYANTI • II OCTOBER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6909243-1516-9AB9-CFAE-A3F6E4444956}"/>
              </a:ext>
            </a:extLst>
          </p:cNvPr>
          <p:cNvSpPr txBox="1"/>
          <p:nvPr/>
        </p:nvSpPr>
        <p:spPr>
          <a:xfrm>
            <a:off x="3683000" y="6388100"/>
            <a:ext cx="4826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TRUTH  •  NON-VIOLENCE  •  PEACE  •  DIGNITY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4B5BB9B-3EF8-9A6A-7C78-62BF1DA4E69A}"/>
              </a:ext>
            </a:extLst>
          </p:cNvPr>
          <p:cNvSpPr txBox="1"/>
          <p:nvPr/>
        </p:nvSpPr>
        <p:spPr>
          <a:xfrm>
            <a:off x="9271000" y="6388100"/>
            <a:ext cx="2159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ID" sz="750" b="1">
                <a:solidFill>
                  <a:srgbClr val="4A3220"/>
                </a:solidFill>
                <a:latin typeface="Georgia" panose="02040502050405020303" pitchFamily="18" charset="0"/>
              </a:rPr>
              <a:t>FOLIO V / X  ❖</a:t>
            </a:r>
          </a:p>
        </p:txBody>
      </p:sp>
    </p:spTree>
    <p:extLst>
      <p:ext uri="{BB962C8B-B14F-4D97-AF65-F5344CB8AC3E}">
        <p14:creationId xmlns:p14="http://schemas.microsoft.com/office/powerpoint/2010/main" val="787379123"/>
      </p:ext>
    </p:extLst>
  </p:cSld>
  <p:clrMapOvr>
    <a:masterClrMapping/>
  </p:clrMapOvr>
  <p:transition spd="med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6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9AF13B3-263E-DA16-11FE-FDFDC4C41DB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1A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DED4313-9A6F-78E5-CF70-650F0414D32C}"/>
              </a:ext>
            </a:extLst>
          </p:cNvPr>
          <p:cNvSpPr/>
          <p:nvPr/>
        </p:nvSpPr>
        <p:spPr>
          <a:xfrm>
            <a:off x="355600" y="203200"/>
            <a:ext cx="11480800" cy="6451600"/>
          </a:xfrm>
          <a:prstGeom prst="roundRect">
            <a:avLst/>
          </a:prstGeom>
          <a:solidFill>
            <a:srgbClr val="FAF4E6"/>
          </a:solidFill>
          <a:ln w="317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 useBgFill="1">
        <p:nvSpPr>
          <p:cNvPr id="4" name="Rectangle: Rounded Corners 3">
            <a:extLst>
              <a:ext uri="{FF2B5EF4-FFF2-40B4-BE49-F238E27FC236}">
                <a16:creationId xmlns:a16="http://schemas.microsoft.com/office/drawing/2014/main" id="{F1619D68-0CD9-E913-0261-254E53B09A01}"/>
              </a:ext>
            </a:extLst>
          </p:cNvPr>
          <p:cNvSpPr/>
          <p:nvPr/>
        </p:nvSpPr>
        <p:spPr>
          <a:xfrm>
            <a:off x="419100" y="266700"/>
            <a:ext cx="11353800" cy="6324600"/>
          </a:xfrm>
          <a:prstGeom prst="roundRect">
            <a:avLst/>
          </a:prstGeom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F1D028-3B3C-E6B4-F6BE-0AE806EBAD13}"/>
              </a:ext>
            </a:extLst>
          </p:cNvPr>
          <p:cNvSpPr txBox="1"/>
          <p:nvPr/>
        </p:nvSpPr>
        <p:spPr>
          <a:xfrm>
            <a:off x="4699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2BBB9-57C2-CC8F-241A-947424771450}"/>
              </a:ext>
            </a:extLst>
          </p:cNvPr>
          <p:cNvSpPr txBox="1"/>
          <p:nvPr/>
        </p:nvSpPr>
        <p:spPr>
          <a:xfrm>
            <a:off x="115697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DCEADE5-691D-2F47-5736-7CF3BB7188E1}"/>
              </a:ext>
            </a:extLst>
          </p:cNvPr>
          <p:cNvSpPr txBox="1"/>
          <p:nvPr/>
        </p:nvSpPr>
        <p:spPr>
          <a:xfrm>
            <a:off x="4699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92AED4-42C5-8DD3-5883-3044747C42A7}"/>
              </a:ext>
            </a:extLst>
          </p:cNvPr>
          <p:cNvSpPr txBox="1"/>
          <p:nvPr/>
        </p:nvSpPr>
        <p:spPr>
          <a:xfrm>
            <a:off x="115697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60F1B2-282E-57E8-D95B-B248C3ED09B0}"/>
              </a:ext>
            </a:extLst>
          </p:cNvPr>
          <p:cNvSpPr txBox="1"/>
          <p:nvPr/>
        </p:nvSpPr>
        <p:spPr>
          <a:xfrm>
            <a:off x="635000" y="406400"/>
            <a:ext cx="76200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50" b="1">
                <a:solidFill>
                  <a:srgbClr val="7A1F1F"/>
                </a:solidFill>
                <a:latin typeface="Georgia" panose="02040502050405020303" pitchFamily="18" charset="0"/>
              </a:rPr>
              <a:t>❖  CHAPTER VI • TRUTH IN THE DIGITAL AGE</a:t>
            </a:r>
            <a:endParaRPr lang="en-ID" sz="950" b="1">
              <a:solidFill>
                <a:srgbClr val="7A1F1F"/>
              </a:solidFill>
              <a:latin typeface="Georgia" panose="02040502050405020303" pitchFamily="18" charset="0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9A8E6E-FC5C-54C6-614F-F07F0DE22D3B}"/>
              </a:ext>
            </a:extLst>
          </p:cNvPr>
          <p:cNvSpPr/>
          <p:nvPr/>
        </p:nvSpPr>
        <p:spPr>
          <a:xfrm>
            <a:off x="9779000" y="381000"/>
            <a:ext cx="1778000" cy="254000"/>
          </a:xfrm>
          <a:prstGeom prst="roundRect">
            <a:avLst/>
          </a:prstGeom>
          <a:solidFill>
            <a:srgbClr val="F1E4C3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850" b="1">
                <a:solidFill>
                  <a:srgbClr val="4A3220"/>
                </a:solidFill>
                <a:latin typeface="Georgia" panose="02040502050405020303" pitchFamily="18" charset="0"/>
              </a:rPr>
              <a:t>FOLIO VI DE 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EA1807-DF79-A5DE-6213-CC70751926E9}"/>
              </a:ext>
            </a:extLst>
          </p:cNvPr>
          <p:cNvSpPr txBox="1"/>
          <p:nvPr/>
        </p:nvSpPr>
        <p:spPr>
          <a:xfrm>
            <a:off x="635000" y="685800"/>
            <a:ext cx="1092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b="1">
                <a:solidFill>
                  <a:srgbClr val="2A1A0E"/>
                </a:solidFill>
                <a:latin typeface="Georgia" panose="02040502050405020303" pitchFamily="18" charset="0"/>
              </a:rPr>
              <a:t>SATYA IN THE AGE OF MISINFORMATION</a:t>
            </a:r>
            <a:endParaRPr lang="en-ID" b="1">
              <a:solidFill>
                <a:srgbClr val="2A1A0E"/>
              </a:solidFill>
              <a:latin typeface="Georgia" panose="02040502050405020303" pitchFamily="18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52189F1-8091-DF6B-89E6-B985C067C7C1}"/>
              </a:ext>
            </a:extLst>
          </p:cNvPr>
          <p:cNvSpPr/>
          <p:nvPr/>
        </p:nvSpPr>
        <p:spPr>
          <a:xfrm>
            <a:off x="635000" y="1143000"/>
            <a:ext cx="10922000" cy="12700"/>
          </a:xfrm>
          <a:prstGeom prst="rect">
            <a:avLst/>
          </a:prstGeom>
          <a:solidFill>
            <a:srgbClr val="B886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611E6E-FDE5-0004-8BBA-09D5B14F6131}"/>
              </a:ext>
            </a:extLst>
          </p:cNvPr>
          <p:cNvSpPr txBox="1"/>
          <p:nvPr/>
        </p:nvSpPr>
        <p:spPr>
          <a:xfrm>
            <a:off x="635000" y="11938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 i="1">
                <a:solidFill>
                  <a:srgbClr val="4A3220"/>
                </a:solidFill>
                <a:latin typeface="Georgia" panose="02040502050405020303" pitchFamily="18" charset="0"/>
              </a:rPr>
              <a:t>Practicing Discernment, Integrity, and Civil Dialogue in a Connected Society</a:t>
            </a:r>
            <a:endParaRPr lang="en-ID" sz="1050" i="1">
              <a:solidFill>
                <a:srgbClr val="4A3220"/>
              </a:solidFill>
              <a:latin typeface="Georgia" panose="02040502050405020303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3B6C9AA-2EE6-64B8-0123-39A256746D22}"/>
              </a:ext>
            </a:extLst>
          </p:cNvPr>
          <p:cNvSpPr/>
          <p:nvPr/>
        </p:nvSpPr>
        <p:spPr>
          <a:xfrm>
            <a:off x="635000" y="1498600"/>
            <a:ext cx="4127500" cy="4368800"/>
          </a:xfrm>
          <a:prstGeom prst="roundRect">
            <a:avLst/>
          </a:prstGeom>
          <a:solidFill>
            <a:srgbClr val="2A1A0E"/>
          </a:solidFill>
          <a:ln w="1905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1406F056-17DB-28B4-CEB0-158F2035808F}"/>
              </a:ext>
            </a:extLst>
          </p:cNvPr>
          <p:cNvSpPr/>
          <p:nvPr/>
        </p:nvSpPr>
        <p:spPr>
          <a:xfrm>
            <a:off x="7112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697678AF-8320-0EF7-D7C3-C0AD7471D363}"/>
              </a:ext>
            </a:extLst>
          </p:cNvPr>
          <p:cNvSpPr/>
          <p:nvPr/>
        </p:nvSpPr>
        <p:spPr>
          <a:xfrm>
            <a:off x="45974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461389CB-2036-D005-DCB6-6054BAFFE068}"/>
              </a:ext>
            </a:extLst>
          </p:cNvPr>
          <p:cNvSpPr/>
          <p:nvPr/>
        </p:nvSpPr>
        <p:spPr>
          <a:xfrm>
            <a:off x="7112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6440C5C6-7460-6267-67A3-795EE03B00BA}"/>
              </a:ext>
            </a:extLst>
          </p:cNvPr>
          <p:cNvSpPr/>
          <p:nvPr/>
        </p:nvSpPr>
        <p:spPr>
          <a:xfrm>
            <a:off x="45974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B9F79EF-0BDC-C386-B5BA-B395928F6B9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5600"/>
            <a:ext cx="3873500" cy="2032000"/>
          </a:xfrm>
          <a:prstGeom prst="rect">
            <a:avLst/>
          </a:prstGeom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BFD7441-BFAB-5FEF-5566-F94EF7E8F21D}"/>
              </a:ext>
            </a:extLst>
          </p:cNvPr>
          <p:cNvSpPr/>
          <p:nvPr/>
        </p:nvSpPr>
        <p:spPr>
          <a:xfrm>
            <a:off x="838200" y="1701800"/>
            <a:ext cx="1397000" cy="228600"/>
          </a:xfrm>
          <a:prstGeom prst="roundRect">
            <a:avLst/>
          </a:prstGeom>
          <a:solidFill>
            <a:srgbClr val="2A1A0E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750" b="1">
                <a:solidFill>
                  <a:srgbClr val="F1E4C3"/>
                </a:solidFill>
                <a:latin typeface="Georgia" panose="02040502050405020303" pitchFamily="18" charset="0"/>
              </a:rPr>
              <a:t>ARCHIVE • CH. VI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526394-8658-269B-719B-C1E05BC165BA}"/>
              </a:ext>
            </a:extLst>
          </p:cNvPr>
          <p:cNvSpPr txBox="1"/>
          <p:nvPr/>
        </p:nvSpPr>
        <p:spPr>
          <a:xfrm>
            <a:off x="762000" y="3733800"/>
            <a:ext cx="38735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D" sz="900" i="1">
                <a:solidFill>
                  <a:srgbClr val="FAF4E6"/>
                </a:solidFill>
                <a:latin typeface="Georgia" panose="02040502050405020303" pitchFamily="18" charset="0"/>
              </a:rPr>
              <a:t>The Salt March, 1930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F012678-E687-4FC5-01EB-0ABE8E412944}"/>
              </a:ext>
            </a:extLst>
          </p:cNvPr>
          <p:cNvSpPr/>
          <p:nvPr/>
        </p:nvSpPr>
        <p:spPr>
          <a:xfrm>
            <a:off x="762000" y="4648200"/>
            <a:ext cx="3873500" cy="1092200"/>
          </a:xfrm>
          <a:prstGeom prst="roundRect">
            <a:avLst/>
          </a:prstGeom>
          <a:solidFill>
            <a:srgbClr val="3D2717"/>
          </a:solidFill>
          <a:ln w="1270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50800" rtlCol="0" anchor="ctr"/>
          <a:lstStyle/>
          <a:p>
            <a:pPr algn="ctr"/>
            <a:r>
              <a:rPr lang="en-ID" sz="750" b="1">
                <a:solidFill>
                  <a:srgbClr val="D4AF37"/>
                </a:solidFill>
                <a:latin typeface="Georgia" panose="02040502050405020303" pitchFamily="18" charset="0"/>
              </a:rPr>
              <a:t>❝ DICTUM MAHATMA GANDHI
</a:t>
            </a:r>
            <a:r>
              <a:rPr lang="en-US" sz="950" b="1" i="1">
                <a:solidFill>
                  <a:srgbClr val="F1E4C3"/>
                </a:solidFill>
                <a:latin typeface="Georgia" panose="02040502050405020303" pitchFamily="18" charset="0"/>
              </a:rPr>
              <a:t>"Morality is the basis of things, and truth is the substance of all morality."</a:t>
            </a:r>
            <a:endParaRPr lang="en-ID" sz="950" b="1" i="1">
              <a:solidFill>
                <a:srgbClr val="F1E4C3"/>
              </a:solidFill>
              <a:latin typeface="Georgia" panose="02040502050405020303" pitchFamily="18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2668EA3-02CF-173D-7180-52B50D4A0F71}"/>
              </a:ext>
            </a:extLst>
          </p:cNvPr>
          <p:cNvGrpSpPr/>
          <p:nvPr/>
        </p:nvGrpSpPr>
        <p:grpSpPr>
          <a:xfrm>
            <a:off x="5016500" y="1498600"/>
            <a:ext cx="6540500" cy="660400"/>
            <a:chOff x="5016500" y="1498600"/>
            <a:chExt cx="6540500" cy="6604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DD8F001C-2915-B4D5-F1C2-B366116AF7D5}"/>
                </a:ext>
              </a:extLst>
            </p:cNvPr>
            <p:cNvSpPr/>
            <p:nvPr/>
          </p:nvSpPr>
          <p:spPr>
            <a:xfrm>
              <a:off x="5016500" y="1498600"/>
              <a:ext cx="6540500" cy="660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DB0A956-4B2B-449E-ED31-15A091BF0ADF}"/>
                </a:ext>
              </a:extLst>
            </p:cNvPr>
            <p:cNvSpPr/>
            <p:nvPr/>
          </p:nvSpPr>
          <p:spPr>
            <a:xfrm>
              <a:off x="5168900" y="16764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43ADAC4-EB73-1A6F-D68A-9CE70D957F2B}"/>
                </a:ext>
              </a:extLst>
            </p:cNvPr>
            <p:cNvSpPr txBox="1"/>
            <p:nvPr/>
          </p:nvSpPr>
          <p:spPr>
            <a:xfrm>
              <a:off x="5626100" y="1498600"/>
              <a:ext cx="5778500" cy="660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00">
                  <a:solidFill>
                    <a:srgbClr val="2A1A0E"/>
                  </a:solidFill>
                  <a:latin typeface="Georgia" panose="02040502050405020303" pitchFamily="18" charset="0"/>
                </a:rPr>
                <a:t>Fake news spreads fast: Digital algorithms amplify sensationalism and falsehoods at unprecedented speed.</a:t>
              </a:r>
              <a:endParaRPr lang="en-ID" sz="110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57848B0-DA15-F582-5CA8-497AC140FEF8}"/>
              </a:ext>
            </a:extLst>
          </p:cNvPr>
          <p:cNvGrpSpPr/>
          <p:nvPr/>
        </p:nvGrpSpPr>
        <p:grpSpPr>
          <a:xfrm>
            <a:off x="5016500" y="2286000"/>
            <a:ext cx="6540500" cy="660400"/>
            <a:chOff x="5016500" y="2286000"/>
            <a:chExt cx="6540500" cy="660400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2A802806-D66F-6B0A-F0DD-15C8692D89AC}"/>
                </a:ext>
              </a:extLst>
            </p:cNvPr>
            <p:cNvSpPr/>
            <p:nvPr/>
          </p:nvSpPr>
          <p:spPr>
            <a:xfrm>
              <a:off x="5016500" y="2286000"/>
              <a:ext cx="6540500" cy="660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40D8B171-7AF0-ADDC-0732-815FFF380E27}"/>
                </a:ext>
              </a:extLst>
            </p:cNvPr>
            <p:cNvSpPr/>
            <p:nvPr/>
          </p:nvSpPr>
          <p:spPr>
            <a:xfrm>
              <a:off x="5168900" y="24638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7A0561DE-9B96-F87A-7C51-A0E8BA6777D7}"/>
                </a:ext>
              </a:extLst>
            </p:cNvPr>
            <p:cNvSpPr txBox="1"/>
            <p:nvPr/>
          </p:nvSpPr>
          <p:spPr>
            <a:xfrm>
              <a:off x="5626100" y="2286000"/>
              <a:ext cx="5778500" cy="660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00">
                  <a:solidFill>
                    <a:srgbClr val="2A1A0E"/>
                  </a:solidFill>
                  <a:latin typeface="Georgia" panose="02040502050405020303" pitchFamily="18" charset="0"/>
                </a:rPr>
                <a:t>Verify before you speak or share: Upholding factual accuracy and critical thinking before disseminating information.</a:t>
              </a:r>
              <a:endParaRPr lang="en-ID" sz="110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BCE4EAB-E994-0F66-12BD-5F4BF446C0CE}"/>
              </a:ext>
            </a:extLst>
          </p:cNvPr>
          <p:cNvGrpSpPr/>
          <p:nvPr/>
        </p:nvGrpSpPr>
        <p:grpSpPr>
          <a:xfrm>
            <a:off x="5016500" y="3073399"/>
            <a:ext cx="6540500" cy="660401"/>
            <a:chOff x="5016500" y="3073399"/>
            <a:chExt cx="6540500" cy="660401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9689065D-50BA-9440-52D6-7CA0E37B5B67}"/>
                </a:ext>
              </a:extLst>
            </p:cNvPr>
            <p:cNvSpPr/>
            <p:nvPr/>
          </p:nvSpPr>
          <p:spPr>
            <a:xfrm>
              <a:off x="5016500" y="3073400"/>
              <a:ext cx="6540500" cy="660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03D4C762-3C9B-8980-7BC9-2BC54A03A1C0}"/>
                </a:ext>
              </a:extLst>
            </p:cNvPr>
            <p:cNvSpPr/>
            <p:nvPr/>
          </p:nvSpPr>
          <p:spPr>
            <a:xfrm>
              <a:off x="5168900" y="32512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3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FC4AC25-59AF-5254-72A1-B8A16D681342}"/>
                </a:ext>
              </a:extLst>
            </p:cNvPr>
            <p:cNvSpPr txBox="1"/>
            <p:nvPr/>
          </p:nvSpPr>
          <p:spPr>
            <a:xfrm>
              <a:off x="5626100" y="3073399"/>
              <a:ext cx="5778500" cy="660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00">
                  <a:solidFill>
                    <a:srgbClr val="2A1A0E"/>
                  </a:solidFill>
                  <a:latin typeface="Georgia" panose="02040502050405020303" pitchFamily="18" charset="0"/>
                </a:rPr>
                <a:t>Truth-telling as a daily discipline: Living with intellectual honesty and moral transparency.</a:t>
              </a:r>
              <a:endParaRPr lang="en-ID" sz="110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2641FC06-56D2-8E1F-D34E-25874574F5C0}"/>
              </a:ext>
            </a:extLst>
          </p:cNvPr>
          <p:cNvGrpSpPr/>
          <p:nvPr/>
        </p:nvGrpSpPr>
        <p:grpSpPr>
          <a:xfrm>
            <a:off x="5016500" y="3860800"/>
            <a:ext cx="6540500" cy="660400"/>
            <a:chOff x="5016500" y="3860800"/>
            <a:chExt cx="6540500" cy="66040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18F94242-D25E-B997-5043-BA20092352BB}"/>
                </a:ext>
              </a:extLst>
            </p:cNvPr>
            <p:cNvSpPr/>
            <p:nvPr/>
          </p:nvSpPr>
          <p:spPr>
            <a:xfrm>
              <a:off x="5016500" y="3860800"/>
              <a:ext cx="6540500" cy="660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7649813D-CA82-CA39-1B5E-CEA211DA719E}"/>
                </a:ext>
              </a:extLst>
            </p:cNvPr>
            <p:cNvSpPr/>
            <p:nvPr/>
          </p:nvSpPr>
          <p:spPr>
            <a:xfrm>
              <a:off x="5168900" y="40386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4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B9FA212-A737-77F2-4FE2-C6B140A42DC3}"/>
                </a:ext>
              </a:extLst>
            </p:cNvPr>
            <p:cNvSpPr txBox="1"/>
            <p:nvPr/>
          </p:nvSpPr>
          <p:spPr>
            <a:xfrm>
              <a:off x="5626100" y="3860800"/>
              <a:ext cx="5778500" cy="660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00">
                  <a:solidFill>
                    <a:srgbClr val="2A1A0E"/>
                  </a:solidFill>
                  <a:latin typeface="Georgia" panose="02040502050405020303" pitchFamily="18" charset="0"/>
                </a:rPr>
                <a:t>Dialogue instead of online outrage: Choosing constructive communication and empathy over reactionary anger.</a:t>
              </a:r>
              <a:endParaRPr lang="en-ID" sz="110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44DA07BE-304B-B8E7-577F-752FAFFCAD58}"/>
              </a:ext>
            </a:extLst>
          </p:cNvPr>
          <p:cNvSpPr/>
          <p:nvPr/>
        </p:nvSpPr>
        <p:spPr>
          <a:xfrm>
            <a:off x="635000" y="6350000"/>
            <a:ext cx="10922000" cy="12700"/>
          </a:xfrm>
          <a:prstGeom prst="rect">
            <a:avLst/>
          </a:prstGeom>
          <a:solidFill>
            <a:srgbClr val="7A1F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75CBF1-B093-D3A2-B0A7-E5F123100CAF}"/>
              </a:ext>
            </a:extLst>
          </p:cNvPr>
          <p:cNvSpPr txBox="1"/>
          <p:nvPr/>
        </p:nvSpPr>
        <p:spPr>
          <a:xfrm>
            <a:off x="762000" y="6388100"/>
            <a:ext cx="3048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❖  GANDHI JAYANTI • II OCTOBER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278923B-FC3C-B0E5-F858-4B47C1549298}"/>
              </a:ext>
            </a:extLst>
          </p:cNvPr>
          <p:cNvSpPr txBox="1"/>
          <p:nvPr/>
        </p:nvSpPr>
        <p:spPr>
          <a:xfrm>
            <a:off x="3683000" y="6388100"/>
            <a:ext cx="4826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TRUTH  •  NON-VIOLENCE  •  PEACE  •  DIGNITY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3F3FE58-0526-E0E4-FDF7-79877D80E55A}"/>
              </a:ext>
            </a:extLst>
          </p:cNvPr>
          <p:cNvSpPr txBox="1"/>
          <p:nvPr/>
        </p:nvSpPr>
        <p:spPr>
          <a:xfrm>
            <a:off x="9271000" y="6388100"/>
            <a:ext cx="2159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ID" sz="750" b="1">
                <a:solidFill>
                  <a:srgbClr val="4A3220"/>
                </a:solidFill>
                <a:latin typeface="Georgia" panose="02040502050405020303" pitchFamily="18" charset="0"/>
              </a:rPr>
              <a:t>FOLIO VI / X  ❖</a:t>
            </a:r>
          </a:p>
        </p:txBody>
      </p:sp>
    </p:spTree>
    <p:extLst>
      <p:ext uri="{BB962C8B-B14F-4D97-AF65-F5344CB8AC3E}">
        <p14:creationId xmlns:p14="http://schemas.microsoft.com/office/powerpoint/2010/main" val="2461527576"/>
      </p:ext>
    </p:extLst>
  </p:cSld>
  <p:clrMapOvr>
    <a:masterClrMapping/>
  </p:clrMapOvr>
  <p:transition spd="med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6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9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D9F3A1-9015-1DAC-A405-DBBC1BC231F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1A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17B4A86-5ABA-171D-DB42-542282A9FC68}"/>
              </a:ext>
            </a:extLst>
          </p:cNvPr>
          <p:cNvSpPr/>
          <p:nvPr/>
        </p:nvSpPr>
        <p:spPr>
          <a:xfrm>
            <a:off x="355600" y="203200"/>
            <a:ext cx="11480800" cy="6451600"/>
          </a:xfrm>
          <a:prstGeom prst="roundRect">
            <a:avLst/>
          </a:prstGeom>
          <a:solidFill>
            <a:srgbClr val="FAF4E6"/>
          </a:solidFill>
          <a:ln w="317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 useBgFill="1">
        <p:nvSpPr>
          <p:cNvPr id="4" name="Rectangle: Rounded Corners 3">
            <a:extLst>
              <a:ext uri="{FF2B5EF4-FFF2-40B4-BE49-F238E27FC236}">
                <a16:creationId xmlns:a16="http://schemas.microsoft.com/office/drawing/2014/main" id="{29C5D81E-6EF4-80C8-3802-55E6A4E5C855}"/>
              </a:ext>
            </a:extLst>
          </p:cNvPr>
          <p:cNvSpPr/>
          <p:nvPr/>
        </p:nvSpPr>
        <p:spPr>
          <a:xfrm>
            <a:off x="419100" y="266700"/>
            <a:ext cx="11353800" cy="6324600"/>
          </a:xfrm>
          <a:prstGeom prst="roundRect">
            <a:avLst/>
          </a:prstGeom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19669D-27B0-5F5A-6E76-9CFF598989A7}"/>
              </a:ext>
            </a:extLst>
          </p:cNvPr>
          <p:cNvSpPr txBox="1"/>
          <p:nvPr/>
        </p:nvSpPr>
        <p:spPr>
          <a:xfrm>
            <a:off x="4699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F2E649-B110-836A-4FF2-658362CA19BC}"/>
              </a:ext>
            </a:extLst>
          </p:cNvPr>
          <p:cNvSpPr txBox="1"/>
          <p:nvPr/>
        </p:nvSpPr>
        <p:spPr>
          <a:xfrm>
            <a:off x="115697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4E1C95-4DF5-9E49-3D73-4F8F3060DE6A}"/>
              </a:ext>
            </a:extLst>
          </p:cNvPr>
          <p:cNvSpPr txBox="1"/>
          <p:nvPr/>
        </p:nvSpPr>
        <p:spPr>
          <a:xfrm>
            <a:off x="4699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BCE93B-27C0-D833-095C-26B19489496E}"/>
              </a:ext>
            </a:extLst>
          </p:cNvPr>
          <p:cNvSpPr txBox="1"/>
          <p:nvPr/>
        </p:nvSpPr>
        <p:spPr>
          <a:xfrm>
            <a:off x="115697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E9A772-82F5-B443-10E9-5BF0B263588A}"/>
              </a:ext>
            </a:extLst>
          </p:cNvPr>
          <p:cNvSpPr txBox="1"/>
          <p:nvPr/>
        </p:nvSpPr>
        <p:spPr>
          <a:xfrm>
            <a:off x="635000" y="406400"/>
            <a:ext cx="76200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 b="1">
                <a:solidFill>
                  <a:srgbClr val="7A1F1F"/>
                </a:solidFill>
                <a:latin typeface="Georgia" panose="02040502050405020303" pitchFamily="18" charset="0"/>
              </a:rPr>
              <a:t>❖  CHAPTER VII • ECOLOGICAL WISDOM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B3FF37F-DA34-2FF5-715E-D57D9187B541}"/>
              </a:ext>
            </a:extLst>
          </p:cNvPr>
          <p:cNvSpPr/>
          <p:nvPr/>
        </p:nvSpPr>
        <p:spPr>
          <a:xfrm>
            <a:off x="9779000" y="381000"/>
            <a:ext cx="1778000" cy="254000"/>
          </a:xfrm>
          <a:prstGeom prst="roundRect">
            <a:avLst/>
          </a:prstGeom>
          <a:solidFill>
            <a:srgbClr val="F1E4C3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850" b="1">
                <a:solidFill>
                  <a:srgbClr val="4A3220"/>
                </a:solidFill>
                <a:latin typeface="Georgia" panose="02040502050405020303" pitchFamily="18" charset="0"/>
              </a:rPr>
              <a:t>FOLIO VII DE 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2CF7A3-F530-DEDD-A272-2E279694CCE4}"/>
              </a:ext>
            </a:extLst>
          </p:cNvPr>
          <p:cNvSpPr txBox="1"/>
          <p:nvPr/>
        </p:nvSpPr>
        <p:spPr>
          <a:xfrm>
            <a:off x="635000" y="685800"/>
            <a:ext cx="1092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000" b="1">
                <a:solidFill>
                  <a:srgbClr val="2A1A0E"/>
                </a:solidFill>
                <a:latin typeface="Georgia" panose="02040502050405020303" pitchFamily="18" charset="0"/>
              </a:rPr>
              <a:t>SIMPLE LIVING AND THE PLANET</a:t>
            </a:r>
            <a:endParaRPr lang="en-ID" sz="2000" b="1">
              <a:solidFill>
                <a:srgbClr val="2A1A0E"/>
              </a:solidFill>
              <a:latin typeface="Georgia" panose="02040502050405020303" pitchFamily="18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BAF4E3D-5B20-0C38-DB94-2045FA087273}"/>
              </a:ext>
            </a:extLst>
          </p:cNvPr>
          <p:cNvSpPr/>
          <p:nvPr/>
        </p:nvSpPr>
        <p:spPr>
          <a:xfrm>
            <a:off x="635000" y="1143000"/>
            <a:ext cx="10922000" cy="12700"/>
          </a:xfrm>
          <a:prstGeom prst="rect">
            <a:avLst/>
          </a:prstGeom>
          <a:solidFill>
            <a:srgbClr val="B886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758414-BA4E-2B24-F64A-5B9C425FA3BD}"/>
              </a:ext>
            </a:extLst>
          </p:cNvPr>
          <p:cNvSpPr txBox="1"/>
          <p:nvPr/>
        </p:nvSpPr>
        <p:spPr>
          <a:xfrm>
            <a:off x="635000" y="11938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 i="1">
                <a:solidFill>
                  <a:srgbClr val="4A3220"/>
                </a:solidFill>
                <a:latin typeface="Georgia" panose="02040502050405020303" pitchFamily="18" charset="0"/>
              </a:rPr>
              <a:t>Sustainable Living, Mindful Consumption, and Climate Responsibility</a:t>
            </a:r>
            <a:endParaRPr lang="en-ID" sz="1050" i="1">
              <a:solidFill>
                <a:srgbClr val="4A3220"/>
              </a:solidFill>
              <a:latin typeface="Georgia" panose="02040502050405020303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496C5A2-A42B-0670-4314-6BC783B51973}"/>
              </a:ext>
            </a:extLst>
          </p:cNvPr>
          <p:cNvSpPr/>
          <p:nvPr/>
        </p:nvSpPr>
        <p:spPr>
          <a:xfrm>
            <a:off x="7429500" y="1498600"/>
            <a:ext cx="4127500" cy="4368800"/>
          </a:xfrm>
          <a:prstGeom prst="roundRect">
            <a:avLst/>
          </a:prstGeom>
          <a:solidFill>
            <a:srgbClr val="2A1A0E"/>
          </a:solidFill>
          <a:ln w="1905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78AA2857-E3C4-26B1-CE2C-534F61489CC3}"/>
              </a:ext>
            </a:extLst>
          </p:cNvPr>
          <p:cNvSpPr/>
          <p:nvPr/>
        </p:nvSpPr>
        <p:spPr>
          <a:xfrm>
            <a:off x="75057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A04B34CD-B55A-B709-EDEC-EF354E8CD06C}"/>
              </a:ext>
            </a:extLst>
          </p:cNvPr>
          <p:cNvSpPr/>
          <p:nvPr/>
        </p:nvSpPr>
        <p:spPr>
          <a:xfrm>
            <a:off x="113919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D1956B1F-0EE8-4E67-5B6B-2D64EEBBA958}"/>
              </a:ext>
            </a:extLst>
          </p:cNvPr>
          <p:cNvSpPr/>
          <p:nvPr/>
        </p:nvSpPr>
        <p:spPr>
          <a:xfrm>
            <a:off x="75057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BE7533F7-D569-844C-1A5D-FE553A9E5E22}"/>
              </a:ext>
            </a:extLst>
          </p:cNvPr>
          <p:cNvSpPr/>
          <p:nvPr/>
        </p:nvSpPr>
        <p:spPr>
          <a:xfrm>
            <a:off x="113919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C405B0F-026C-FCBB-8A96-76EE99481B3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6500" y="1625600"/>
            <a:ext cx="3873500" cy="2032000"/>
          </a:xfrm>
          <a:prstGeom prst="rect">
            <a:avLst/>
          </a:prstGeom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15DF9D5-1FFD-FDB4-856B-6C8ED97D8326}"/>
              </a:ext>
            </a:extLst>
          </p:cNvPr>
          <p:cNvSpPr/>
          <p:nvPr/>
        </p:nvSpPr>
        <p:spPr>
          <a:xfrm>
            <a:off x="7632700" y="1701800"/>
            <a:ext cx="1397000" cy="228600"/>
          </a:xfrm>
          <a:prstGeom prst="roundRect">
            <a:avLst/>
          </a:prstGeom>
          <a:solidFill>
            <a:srgbClr val="2A1A0E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750" b="1">
                <a:solidFill>
                  <a:srgbClr val="F1E4C3"/>
                </a:solidFill>
                <a:latin typeface="Georgia" panose="02040502050405020303" pitchFamily="18" charset="0"/>
              </a:rPr>
              <a:t>ARCHIVE • CH. VII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8D4005-127A-BEFB-0A71-84AF2CF2F69B}"/>
              </a:ext>
            </a:extLst>
          </p:cNvPr>
          <p:cNvSpPr txBox="1"/>
          <p:nvPr/>
        </p:nvSpPr>
        <p:spPr>
          <a:xfrm>
            <a:off x="7556500" y="3733800"/>
            <a:ext cx="38735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da-DK" sz="900" i="1">
                <a:solidFill>
                  <a:srgbClr val="FAF4E6"/>
                </a:solidFill>
                <a:latin typeface="Georgia" panose="02040502050405020303" pitchFamily="18" charset="0"/>
              </a:rPr>
              <a:t>Gandhi at Dandi, 5 April 1930</a:t>
            </a:r>
            <a:endParaRPr lang="en-ID" sz="900" i="1">
              <a:solidFill>
                <a:srgbClr val="FAF4E6"/>
              </a:solidFill>
              <a:latin typeface="Georgia" panose="02040502050405020303" pitchFamily="18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FA79E4C-6043-8C8C-2D42-FECD96AD3BD4}"/>
              </a:ext>
            </a:extLst>
          </p:cNvPr>
          <p:cNvSpPr/>
          <p:nvPr/>
        </p:nvSpPr>
        <p:spPr>
          <a:xfrm>
            <a:off x="7556500" y="4648200"/>
            <a:ext cx="3873500" cy="1092200"/>
          </a:xfrm>
          <a:prstGeom prst="roundRect">
            <a:avLst/>
          </a:prstGeom>
          <a:solidFill>
            <a:srgbClr val="3D2717"/>
          </a:solidFill>
          <a:ln w="1270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50800" rtlCol="0" anchor="ctr"/>
          <a:lstStyle/>
          <a:p>
            <a:pPr algn="ctr"/>
            <a:r>
              <a:rPr lang="en-ID" sz="750" b="1">
                <a:solidFill>
                  <a:srgbClr val="D4AF37"/>
                </a:solidFill>
                <a:latin typeface="Georgia" panose="02040502050405020303" pitchFamily="18" charset="0"/>
              </a:rPr>
              <a:t>❝ DICTUM MAHATMA GANDHI
</a:t>
            </a:r>
            <a:r>
              <a:rPr lang="en-US" sz="950" b="1" i="1">
                <a:solidFill>
                  <a:srgbClr val="F1E4C3"/>
                </a:solidFill>
                <a:latin typeface="Georgia" panose="02040502050405020303" pitchFamily="18" charset="0"/>
              </a:rPr>
              <a:t>"The earth provides enough to satisfy every man's needs, but not every man's greed."</a:t>
            </a:r>
            <a:endParaRPr lang="en-ID" sz="950" b="1" i="1">
              <a:solidFill>
                <a:srgbClr val="F1E4C3"/>
              </a:solidFill>
              <a:latin typeface="Georgia" panose="02040502050405020303" pitchFamily="18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39AE680-62C0-3A51-95DF-BFEE4EF8D164}"/>
              </a:ext>
            </a:extLst>
          </p:cNvPr>
          <p:cNvGrpSpPr/>
          <p:nvPr/>
        </p:nvGrpSpPr>
        <p:grpSpPr>
          <a:xfrm>
            <a:off x="635000" y="1498599"/>
            <a:ext cx="6540500" cy="736601"/>
            <a:chOff x="635000" y="1498599"/>
            <a:chExt cx="6540500" cy="736601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9CD759B4-30B6-700C-A9A6-1A3D52DEFDE5}"/>
                </a:ext>
              </a:extLst>
            </p:cNvPr>
            <p:cNvSpPr/>
            <p:nvPr/>
          </p:nvSpPr>
          <p:spPr>
            <a:xfrm>
              <a:off x="635000" y="1498600"/>
              <a:ext cx="6540500" cy="7366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48E87906-4361-F0B6-AA25-73DB7D59C355}"/>
                </a:ext>
              </a:extLst>
            </p:cNvPr>
            <p:cNvSpPr/>
            <p:nvPr/>
          </p:nvSpPr>
          <p:spPr>
            <a:xfrm>
              <a:off x="787400" y="17145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E5F6A85-50E6-4112-AEFB-0DAA31D53E81}"/>
                </a:ext>
              </a:extLst>
            </p:cNvPr>
            <p:cNvSpPr txBox="1"/>
            <p:nvPr/>
          </p:nvSpPr>
          <p:spPr>
            <a:xfrm>
              <a:off x="1244600" y="1498599"/>
              <a:ext cx="5778500" cy="7366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50">
                  <a:solidFill>
                    <a:srgbClr val="2A1A0E"/>
                  </a:solidFill>
                  <a:latin typeface="Georgia" panose="02040502050405020303" pitchFamily="18" charset="0"/>
                </a:rPr>
                <a:t>'The earth provides enough for everyone's needs, but not everyone's greed' (attributed to Gandhi).</a:t>
              </a:r>
              <a:endParaRPr lang="en-ID" sz="11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C9FA3BC-3F97-D1E1-7EB3-1ADA7144E51E}"/>
              </a:ext>
            </a:extLst>
          </p:cNvPr>
          <p:cNvGrpSpPr/>
          <p:nvPr/>
        </p:nvGrpSpPr>
        <p:grpSpPr>
          <a:xfrm>
            <a:off x="635000" y="2413000"/>
            <a:ext cx="6540500" cy="736600"/>
            <a:chOff x="635000" y="2413000"/>
            <a:chExt cx="6540500" cy="736600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C29D464A-459E-8EF3-59B1-CBE323C75550}"/>
                </a:ext>
              </a:extLst>
            </p:cNvPr>
            <p:cNvSpPr/>
            <p:nvPr/>
          </p:nvSpPr>
          <p:spPr>
            <a:xfrm>
              <a:off x="635000" y="2413000"/>
              <a:ext cx="6540500" cy="7366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47D2AF82-BDFF-9B5F-C26D-7B3DA1ECCC64}"/>
                </a:ext>
              </a:extLst>
            </p:cNvPr>
            <p:cNvSpPr/>
            <p:nvPr/>
          </p:nvSpPr>
          <p:spPr>
            <a:xfrm>
              <a:off x="787400" y="26289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8D2AB49-4C0E-5990-E287-3685947F8852}"/>
                </a:ext>
              </a:extLst>
            </p:cNvPr>
            <p:cNvSpPr txBox="1"/>
            <p:nvPr/>
          </p:nvSpPr>
          <p:spPr>
            <a:xfrm>
              <a:off x="1244600" y="2413000"/>
              <a:ext cx="5778500" cy="7366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50">
                  <a:solidFill>
                    <a:srgbClr val="2A1A0E"/>
                  </a:solidFill>
                  <a:latin typeface="Georgia" panose="02040502050405020303" pitchFamily="18" charset="0"/>
                </a:rPr>
                <a:t>Direct links to modern sustainability, conscious minimalism, and circular resource use.</a:t>
              </a:r>
              <a:endParaRPr lang="en-ID" sz="11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1882FBE-3212-0813-9A10-64841761C535}"/>
              </a:ext>
            </a:extLst>
          </p:cNvPr>
          <p:cNvGrpSpPr/>
          <p:nvPr/>
        </p:nvGrpSpPr>
        <p:grpSpPr>
          <a:xfrm>
            <a:off x="635000" y="3327399"/>
            <a:ext cx="6540500" cy="736601"/>
            <a:chOff x="635000" y="3327399"/>
            <a:chExt cx="6540500" cy="736601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AF4B1764-707D-3611-662D-FADCF126B97A}"/>
                </a:ext>
              </a:extLst>
            </p:cNvPr>
            <p:cNvSpPr/>
            <p:nvPr/>
          </p:nvSpPr>
          <p:spPr>
            <a:xfrm>
              <a:off x="635000" y="3327400"/>
              <a:ext cx="6540500" cy="7366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C2E9D7AE-9450-4E18-298F-715A2D27423A}"/>
                </a:ext>
              </a:extLst>
            </p:cNvPr>
            <p:cNvSpPr/>
            <p:nvPr/>
          </p:nvSpPr>
          <p:spPr>
            <a:xfrm>
              <a:off x="787400" y="35433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3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99D081F-2C63-82EA-7EE9-9283D7CBD26A}"/>
                </a:ext>
              </a:extLst>
            </p:cNvPr>
            <p:cNvSpPr txBox="1"/>
            <p:nvPr/>
          </p:nvSpPr>
          <p:spPr>
            <a:xfrm>
              <a:off x="1244600" y="3327399"/>
              <a:ext cx="5778500" cy="7366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50">
                  <a:solidFill>
                    <a:srgbClr val="2A1A0E"/>
                  </a:solidFill>
                  <a:latin typeface="Georgia" panose="02040502050405020303" pitchFamily="18" charset="0"/>
                </a:rPr>
                <a:t>India's Mission LiFE (Lifestyle for Environment) actively promotes individual and community eco-friendly lifestyles.</a:t>
              </a:r>
              <a:endParaRPr lang="en-ID" sz="11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DE9BC-2C62-C335-07DC-F0CF2917739F}"/>
              </a:ext>
            </a:extLst>
          </p:cNvPr>
          <p:cNvSpPr/>
          <p:nvPr/>
        </p:nvSpPr>
        <p:spPr>
          <a:xfrm>
            <a:off x="635000" y="6350000"/>
            <a:ext cx="10922000" cy="12700"/>
          </a:xfrm>
          <a:prstGeom prst="rect">
            <a:avLst/>
          </a:prstGeom>
          <a:solidFill>
            <a:srgbClr val="7A1F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169C247-BBD8-0FC6-F916-D9CAFFF882A6}"/>
              </a:ext>
            </a:extLst>
          </p:cNvPr>
          <p:cNvSpPr txBox="1"/>
          <p:nvPr/>
        </p:nvSpPr>
        <p:spPr>
          <a:xfrm>
            <a:off x="762000" y="6388100"/>
            <a:ext cx="3048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❖  GANDHI JAYANTI • II OCTOBER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025A48-BC63-18BC-E07F-46DC6F59B5AC}"/>
              </a:ext>
            </a:extLst>
          </p:cNvPr>
          <p:cNvSpPr txBox="1"/>
          <p:nvPr/>
        </p:nvSpPr>
        <p:spPr>
          <a:xfrm>
            <a:off x="3683000" y="6388100"/>
            <a:ext cx="4826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TRUTH  •  NON-VIOLENCE  •  PEACE  •  DIGNITY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6EE616-F8B9-5972-E40E-16A3A5453BFB}"/>
              </a:ext>
            </a:extLst>
          </p:cNvPr>
          <p:cNvSpPr txBox="1"/>
          <p:nvPr/>
        </p:nvSpPr>
        <p:spPr>
          <a:xfrm>
            <a:off x="9271000" y="6388100"/>
            <a:ext cx="2159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ID" sz="750" b="1">
                <a:solidFill>
                  <a:srgbClr val="4A3220"/>
                </a:solidFill>
                <a:latin typeface="Georgia" panose="02040502050405020303" pitchFamily="18" charset="0"/>
              </a:rPr>
              <a:t>FOLIO VII / X  ❖</a:t>
            </a:r>
          </a:p>
        </p:txBody>
      </p:sp>
    </p:spTree>
    <p:extLst>
      <p:ext uri="{BB962C8B-B14F-4D97-AF65-F5344CB8AC3E}">
        <p14:creationId xmlns:p14="http://schemas.microsoft.com/office/powerpoint/2010/main" val="3362297244"/>
      </p:ext>
    </p:extLst>
  </p:cSld>
  <p:clrMapOvr>
    <a:masterClrMapping/>
  </p:clrMapOvr>
  <p:transition spd="med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6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90F33F-EE4C-C8AC-3809-F2E13FD6E5A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1A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170F5F8-6D38-55B7-B22B-71EFB78B41E6}"/>
              </a:ext>
            </a:extLst>
          </p:cNvPr>
          <p:cNvSpPr/>
          <p:nvPr/>
        </p:nvSpPr>
        <p:spPr>
          <a:xfrm>
            <a:off x="355600" y="203200"/>
            <a:ext cx="11480800" cy="6451600"/>
          </a:xfrm>
          <a:prstGeom prst="roundRect">
            <a:avLst/>
          </a:prstGeom>
          <a:solidFill>
            <a:srgbClr val="FAF4E6"/>
          </a:solidFill>
          <a:ln w="317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 useBgFill="1">
        <p:nvSpPr>
          <p:cNvPr id="4" name="Rectangle: Rounded Corners 3">
            <a:extLst>
              <a:ext uri="{FF2B5EF4-FFF2-40B4-BE49-F238E27FC236}">
                <a16:creationId xmlns:a16="http://schemas.microsoft.com/office/drawing/2014/main" id="{65ECE89E-26A4-81D1-9AED-3B63F9000D82}"/>
              </a:ext>
            </a:extLst>
          </p:cNvPr>
          <p:cNvSpPr/>
          <p:nvPr/>
        </p:nvSpPr>
        <p:spPr>
          <a:xfrm>
            <a:off x="419100" y="266700"/>
            <a:ext cx="11353800" cy="6324600"/>
          </a:xfrm>
          <a:prstGeom prst="roundRect">
            <a:avLst/>
          </a:prstGeom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D4DC1-F527-AFE0-FF49-443B229D6290}"/>
              </a:ext>
            </a:extLst>
          </p:cNvPr>
          <p:cNvSpPr txBox="1"/>
          <p:nvPr/>
        </p:nvSpPr>
        <p:spPr>
          <a:xfrm>
            <a:off x="4699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530300-9B44-0E70-A5FF-B05706283952}"/>
              </a:ext>
            </a:extLst>
          </p:cNvPr>
          <p:cNvSpPr txBox="1"/>
          <p:nvPr/>
        </p:nvSpPr>
        <p:spPr>
          <a:xfrm>
            <a:off x="115697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E29BE3-5377-DE22-A94D-225D0513AF49}"/>
              </a:ext>
            </a:extLst>
          </p:cNvPr>
          <p:cNvSpPr txBox="1"/>
          <p:nvPr/>
        </p:nvSpPr>
        <p:spPr>
          <a:xfrm>
            <a:off x="4699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44C1C9-D09C-CDA7-2AFB-51B390731820}"/>
              </a:ext>
            </a:extLst>
          </p:cNvPr>
          <p:cNvSpPr txBox="1"/>
          <p:nvPr/>
        </p:nvSpPr>
        <p:spPr>
          <a:xfrm>
            <a:off x="115697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C96EC6-D4E3-7C7F-EB40-708891863483}"/>
              </a:ext>
            </a:extLst>
          </p:cNvPr>
          <p:cNvSpPr txBox="1"/>
          <p:nvPr/>
        </p:nvSpPr>
        <p:spPr>
          <a:xfrm>
            <a:off x="635000" y="406400"/>
            <a:ext cx="76200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 b="1">
                <a:solidFill>
                  <a:srgbClr val="7A1F1F"/>
                </a:solidFill>
                <a:latin typeface="Georgia" panose="02040502050405020303" pitchFamily="18" charset="0"/>
              </a:rPr>
              <a:t>❖  CHAPTER VIII • LOCAL ECONOMIES &amp; DIGNITY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41C2928-3087-F633-2715-C9F77F7DC753}"/>
              </a:ext>
            </a:extLst>
          </p:cNvPr>
          <p:cNvSpPr/>
          <p:nvPr/>
        </p:nvSpPr>
        <p:spPr>
          <a:xfrm>
            <a:off x="9779000" y="381000"/>
            <a:ext cx="1778000" cy="254000"/>
          </a:xfrm>
          <a:prstGeom prst="roundRect">
            <a:avLst/>
          </a:prstGeom>
          <a:solidFill>
            <a:srgbClr val="F1E4C3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850" b="1">
                <a:solidFill>
                  <a:srgbClr val="4A3220"/>
                </a:solidFill>
                <a:latin typeface="Georgia" panose="02040502050405020303" pitchFamily="18" charset="0"/>
              </a:rPr>
              <a:t>FOLIO VIII DE 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128F297-BA16-2D94-191D-9E6701D8AEF3}"/>
              </a:ext>
            </a:extLst>
          </p:cNvPr>
          <p:cNvSpPr txBox="1"/>
          <p:nvPr/>
        </p:nvSpPr>
        <p:spPr>
          <a:xfrm>
            <a:off x="635000" y="685800"/>
            <a:ext cx="1092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D" sz="2000" b="1">
                <a:solidFill>
                  <a:srgbClr val="2A1A0E"/>
                </a:solidFill>
                <a:latin typeface="Georgia" panose="02040502050405020303" pitchFamily="18" charset="0"/>
              </a:rPr>
              <a:t>SWADESHI AND SARVODAYA TODAY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7AABB3-7EFE-F28F-D722-6DD0CE0E619B}"/>
              </a:ext>
            </a:extLst>
          </p:cNvPr>
          <p:cNvSpPr/>
          <p:nvPr/>
        </p:nvSpPr>
        <p:spPr>
          <a:xfrm>
            <a:off x="635000" y="1143000"/>
            <a:ext cx="10922000" cy="12700"/>
          </a:xfrm>
          <a:prstGeom prst="rect">
            <a:avLst/>
          </a:prstGeom>
          <a:solidFill>
            <a:srgbClr val="B886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F8E8F9-5708-B285-3022-5B53D0E8A55E}"/>
              </a:ext>
            </a:extLst>
          </p:cNvPr>
          <p:cNvSpPr txBox="1"/>
          <p:nvPr/>
        </p:nvSpPr>
        <p:spPr>
          <a:xfrm>
            <a:off x="635000" y="11938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 i="1">
                <a:solidFill>
                  <a:srgbClr val="4A3220"/>
                </a:solidFill>
                <a:latin typeface="Georgia" panose="02040502050405020303" pitchFamily="18" charset="0"/>
              </a:rPr>
              <a:t>Grassroots Empowerment, Inclusive Growth, and Universal Cleanliness</a:t>
            </a:r>
            <a:endParaRPr lang="en-ID" sz="1050" i="1">
              <a:solidFill>
                <a:srgbClr val="4A3220"/>
              </a:solidFill>
              <a:latin typeface="Georgia" panose="02040502050405020303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6D3D2FB-7729-CCBA-2CB7-510DED0D9193}"/>
              </a:ext>
            </a:extLst>
          </p:cNvPr>
          <p:cNvSpPr/>
          <p:nvPr/>
        </p:nvSpPr>
        <p:spPr>
          <a:xfrm>
            <a:off x="635000" y="1498600"/>
            <a:ext cx="4127500" cy="4368800"/>
          </a:xfrm>
          <a:prstGeom prst="roundRect">
            <a:avLst/>
          </a:prstGeom>
          <a:solidFill>
            <a:srgbClr val="2A1A0E"/>
          </a:solidFill>
          <a:ln w="1905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FC2AFC5F-E507-BDFC-77FE-ACC5AA306246}"/>
              </a:ext>
            </a:extLst>
          </p:cNvPr>
          <p:cNvSpPr/>
          <p:nvPr/>
        </p:nvSpPr>
        <p:spPr>
          <a:xfrm>
            <a:off x="7112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74D016EF-4951-6A1D-25CF-8C35864C955F}"/>
              </a:ext>
            </a:extLst>
          </p:cNvPr>
          <p:cNvSpPr/>
          <p:nvPr/>
        </p:nvSpPr>
        <p:spPr>
          <a:xfrm>
            <a:off x="45974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3BC86E9C-F0F8-A0CF-80A2-ADD2F73D88E6}"/>
              </a:ext>
            </a:extLst>
          </p:cNvPr>
          <p:cNvSpPr/>
          <p:nvPr/>
        </p:nvSpPr>
        <p:spPr>
          <a:xfrm>
            <a:off x="7112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C54FC23C-4C85-58BA-3673-31244DA3E937}"/>
              </a:ext>
            </a:extLst>
          </p:cNvPr>
          <p:cNvSpPr/>
          <p:nvPr/>
        </p:nvSpPr>
        <p:spPr>
          <a:xfrm>
            <a:off x="45974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AA43D81-FF66-1F5C-2F43-DDA9921A135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5600"/>
            <a:ext cx="3873500" cy="2032000"/>
          </a:xfrm>
          <a:prstGeom prst="rect">
            <a:avLst/>
          </a:prstGeom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E538ABE7-ECD4-4B9F-FEE4-06779D695902}"/>
              </a:ext>
            </a:extLst>
          </p:cNvPr>
          <p:cNvSpPr/>
          <p:nvPr/>
        </p:nvSpPr>
        <p:spPr>
          <a:xfrm>
            <a:off x="838200" y="1701800"/>
            <a:ext cx="1397000" cy="228600"/>
          </a:xfrm>
          <a:prstGeom prst="roundRect">
            <a:avLst/>
          </a:prstGeom>
          <a:solidFill>
            <a:srgbClr val="2A1A0E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750" b="1">
                <a:solidFill>
                  <a:srgbClr val="F1E4C3"/>
                </a:solidFill>
                <a:latin typeface="Georgia" panose="02040502050405020303" pitchFamily="18" charset="0"/>
              </a:rPr>
              <a:t>ARCHIVE • CH. VIII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A44139-5125-95C4-287E-9A1DF23076A5}"/>
              </a:ext>
            </a:extLst>
          </p:cNvPr>
          <p:cNvSpPr txBox="1"/>
          <p:nvPr/>
        </p:nvSpPr>
        <p:spPr>
          <a:xfrm>
            <a:off x="762000" y="3733800"/>
            <a:ext cx="38735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D" sz="900" i="1">
                <a:solidFill>
                  <a:srgbClr val="FAF4E6"/>
                </a:solidFill>
                <a:latin typeface="Georgia" panose="02040502050405020303" pitchFamily="18" charset="0"/>
              </a:rPr>
              <a:t>Gandhi and Nehru, Quit India session, 1942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B4ECA7B-CC74-D037-5587-23F43CEB44FE}"/>
              </a:ext>
            </a:extLst>
          </p:cNvPr>
          <p:cNvSpPr/>
          <p:nvPr/>
        </p:nvSpPr>
        <p:spPr>
          <a:xfrm>
            <a:off x="762000" y="4648200"/>
            <a:ext cx="3873500" cy="1092200"/>
          </a:xfrm>
          <a:prstGeom prst="roundRect">
            <a:avLst/>
          </a:prstGeom>
          <a:solidFill>
            <a:srgbClr val="3D2717"/>
          </a:solidFill>
          <a:ln w="1270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50800" rtlCol="0" anchor="ctr"/>
          <a:lstStyle/>
          <a:p>
            <a:pPr algn="ctr"/>
            <a:r>
              <a:rPr lang="en-ID" sz="750" b="1">
                <a:solidFill>
                  <a:srgbClr val="D4AF37"/>
                </a:solidFill>
                <a:latin typeface="Georgia" panose="02040502050405020303" pitchFamily="18" charset="0"/>
              </a:rPr>
              <a:t>❝ DICTUM MAHATMA GANDHI
</a:t>
            </a:r>
            <a:r>
              <a:rPr lang="en-US" sz="950" b="1" i="1">
                <a:solidFill>
                  <a:srgbClr val="F1E4C3"/>
                </a:solidFill>
                <a:latin typeface="Georgia" panose="02040502050405020303" pitchFamily="18" charset="0"/>
              </a:rPr>
              <a:t>"Recall the face of the poorest and the weakest person you have seen, and ask if your step will be of any use to them."</a:t>
            </a:r>
            <a:endParaRPr lang="en-ID" sz="950" b="1" i="1">
              <a:solidFill>
                <a:srgbClr val="F1E4C3"/>
              </a:solidFill>
              <a:latin typeface="Georgia" panose="02040502050405020303" pitchFamily="18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C184BE6-3E2F-96C0-5F51-B7DF01E37CD3}"/>
              </a:ext>
            </a:extLst>
          </p:cNvPr>
          <p:cNvGrpSpPr/>
          <p:nvPr/>
        </p:nvGrpSpPr>
        <p:grpSpPr>
          <a:xfrm>
            <a:off x="5016500" y="1498600"/>
            <a:ext cx="6540500" cy="660400"/>
            <a:chOff x="5016500" y="1498600"/>
            <a:chExt cx="6540500" cy="6604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30D6594E-1922-CABC-1365-C9CEE9C2C8DD}"/>
                </a:ext>
              </a:extLst>
            </p:cNvPr>
            <p:cNvSpPr/>
            <p:nvPr/>
          </p:nvSpPr>
          <p:spPr>
            <a:xfrm>
              <a:off x="5016500" y="1498600"/>
              <a:ext cx="6540500" cy="660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539DF804-D691-F818-994B-A97EF9B0D7CD}"/>
                </a:ext>
              </a:extLst>
            </p:cNvPr>
            <p:cNvSpPr/>
            <p:nvPr/>
          </p:nvSpPr>
          <p:spPr>
            <a:xfrm>
              <a:off x="5168900" y="16764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3AAAA6A-DFA1-BCF1-6EE7-F056F0018546}"/>
                </a:ext>
              </a:extLst>
            </p:cNvPr>
            <p:cNvSpPr txBox="1"/>
            <p:nvPr/>
          </p:nvSpPr>
          <p:spPr>
            <a:xfrm>
              <a:off x="5626100" y="1498600"/>
              <a:ext cx="5778500" cy="660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00">
                  <a:solidFill>
                    <a:srgbClr val="2A1A0E"/>
                  </a:solidFill>
                  <a:latin typeface="Georgia" panose="02040502050405020303" pitchFamily="18" charset="0"/>
                </a:rPr>
                <a:t>Local economies and self-reliance: Strengthening local supply networks and supporting homegrown enterprise.</a:t>
              </a:r>
              <a:endParaRPr lang="en-ID" sz="110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D58E1D8-F2CC-4396-4376-A8D3F0DF1EE0}"/>
              </a:ext>
            </a:extLst>
          </p:cNvPr>
          <p:cNvGrpSpPr/>
          <p:nvPr/>
        </p:nvGrpSpPr>
        <p:grpSpPr>
          <a:xfrm>
            <a:off x="5016500" y="2286000"/>
            <a:ext cx="6540500" cy="660400"/>
            <a:chOff x="5016500" y="2286000"/>
            <a:chExt cx="6540500" cy="660400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EE83CCDD-1252-CE54-E524-558EAC6406C2}"/>
                </a:ext>
              </a:extLst>
            </p:cNvPr>
            <p:cNvSpPr/>
            <p:nvPr/>
          </p:nvSpPr>
          <p:spPr>
            <a:xfrm>
              <a:off x="5016500" y="2286000"/>
              <a:ext cx="6540500" cy="660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45B60D92-72E0-AC60-E46D-8A49BB2FF7EB}"/>
                </a:ext>
              </a:extLst>
            </p:cNvPr>
            <p:cNvSpPr/>
            <p:nvPr/>
          </p:nvSpPr>
          <p:spPr>
            <a:xfrm>
              <a:off x="5168900" y="24638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AE08A22-0D83-1680-C3E6-F035354081A8}"/>
                </a:ext>
              </a:extLst>
            </p:cNvPr>
            <p:cNvSpPr txBox="1"/>
            <p:nvPr/>
          </p:nvSpPr>
          <p:spPr>
            <a:xfrm>
              <a:off x="5626100" y="2286000"/>
              <a:ext cx="5778500" cy="660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00">
                  <a:solidFill>
                    <a:srgbClr val="2A1A0E"/>
                  </a:solidFill>
                  <a:latin typeface="Georgia" panose="02040502050405020303" pitchFamily="18" charset="0"/>
                </a:rPr>
                <a:t>Khadi and village industries: Empowering rural artisans and promoting eco-conscious handloom textiles.</a:t>
              </a:r>
              <a:endParaRPr lang="en-ID" sz="110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6AED955-B628-CBA1-ADBE-BC013EAFAA0E}"/>
              </a:ext>
            </a:extLst>
          </p:cNvPr>
          <p:cNvGrpSpPr/>
          <p:nvPr/>
        </p:nvGrpSpPr>
        <p:grpSpPr>
          <a:xfrm>
            <a:off x="5016500" y="3073399"/>
            <a:ext cx="6540500" cy="660401"/>
            <a:chOff x="5016500" y="3073399"/>
            <a:chExt cx="6540500" cy="660401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8AD69129-991F-4D02-5B70-BFFA8B6C4DC8}"/>
                </a:ext>
              </a:extLst>
            </p:cNvPr>
            <p:cNvSpPr/>
            <p:nvPr/>
          </p:nvSpPr>
          <p:spPr>
            <a:xfrm>
              <a:off x="5016500" y="3073400"/>
              <a:ext cx="6540500" cy="660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F191823C-D44E-4D90-939E-9E7BC9F97684}"/>
                </a:ext>
              </a:extLst>
            </p:cNvPr>
            <p:cNvSpPr/>
            <p:nvPr/>
          </p:nvSpPr>
          <p:spPr>
            <a:xfrm>
              <a:off x="5168900" y="32512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3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16305A1-CD86-3061-4FD3-AB5E67E1E970}"/>
                </a:ext>
              </a:extLst>
            </p:cNvPr>
            <p:cNvSpPr txBox="1"/>
            <p:nvPr/>
          </p:nvSpPr>
          <p:spPr>
            <a:xfrm>
              <a:off x="5626100" y="3073399"/>
              <a:ext cx="5778500" cy="660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00">
                  <a:solidFill>
                    <a:srgbClr val="2A1A0E"/>
                  </a:solidFill>
                  <a:latin typeface="Georgia" panose="02040502050405020303" pitchFamily="18" charset="0"/>
                </a:rPr>
                <a:t>Inclusion and dignity for all: Ensuring that progress uplift the most disadvantaged in society.</a:t>
              </a:r>
              <a:endParaRPr lang="en-ID" sz="110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12586B2A-906D-FEC6-5A0F-C91F3D3AD25B}"/>
              </a:ext>
            </a:extLst>
          </p:cNvPr>
          <p:cNvGrpSpPr/>
          <p:nvPr/>
        </p:nvGrpSpPr>
        <p:grpSpPr>
          <a:xfrm>
            <a:off x="5016500" y="3860800"/>
            <a:ext cx="6540500" cy="660400"/>
            <a:chOff x="5016500" y="3860800"/>
            <a:chExt cx="6540500" cy="660400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3ABE9BDA-69B4-86FB-8D62-435F3E40818D}"/>
                </a:ext>
              </a:extLst>
            </p:cNvPr>
            <p:cNvSpPr/>
            <p:nvPr/>
          </p:nvSpPr>
          <p:spPr>
            <a:xfrm>
              <a:off x="5016500" y="3860800"/>
              <a:ext cx="6540500" cy="660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CAE737ED-432A-1153-05EF-81483A691325}"/>
                </a:ext>
              </a:extLst>
            </p:cNvPr>
            <p:cNvSpPr/>
            <p:nvPr/>
          </p:nvSpPr>
          <p:spPr>
            <a:xfrm>
              <a:off x="5168900" y="40386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4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4529CC1-8D44-BC37-A32E-6E4BCD1CA9D6}"/>
                </a:ext>
              </a:extLst>
            </p:cNvPr>
            <p:cNvSpPr txBox="1"/>
            <p:nvPr/>
          </p:nvSpPr>
          <p:spPr>
            <a:xfrm>
              <a:off x="5626100" y="3860800"/>
              <a:ext cx="5778500" cy="660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00">
                  <a:solidFill>
                    <a:srgbClr val="2A1A0E"/>
                  </a:solidFill>
                  <a:latin typeface="Georgia" panose="02040502050405020303" pitchFamily="18" charset="0"/>
                </a:rPr>
                <a:t>Swachh Bharat Abhiyan: A nationwide sanitation and cleanliness movement launched on Gandhi Jayanti (2 Oct 2014).</a:t>
              </a:r>
              <a:endParaRPr lang="en-ID" sz="110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75EF83B9-A7C6-A036-EBBB-1B3320297B4C}"/>
              </a:ext>
            </a:extLst>
          </p:cNvPr>
          <p:cNvSpPr/>
          <p:nvPr/>
        </p:nvSpPr>
        <p:spPr>
          <a:xfrm>
            <a:off x="635000" y="6350000"/>
            <a:ext cx="10922000" cy="12700"/>
          </a:xfrm>
          <a:prstGeom prst="rect">
            <a:avLst/>
          </a:prstGeom>
          <a:solidFill>
            <a:srgbClr val="7A1F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FF53B7E-0150-9481-7E62-51F9024D3465}"/>
              </a:ext>
            </a:extLst>
          </p:cNvPr>
          <p:cNvSpPr txBox="1"/>
          <p:nvPr/>
        </p:nvSpPr>
        <p:spPr>
          <a:xfrm>
            <a:off x="762000" y="6388100"/>
            <a:ext cx="3048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❖  GANDHI JAYANTI • II OCTOBER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662E388-CBB2-0DED-AC6A-91C9C5424C27}"/>
              </a:ext>
            </a:extLst>
          </p:cNvPr>
          <p:cNvSpPr txBox="1"/>
          <p:nvPr/>
        </p:nvSpPr>
        <p:spPr>
          <a:xfrm>
            <a:off x="3683000" y="6388100"/>
            <a:ext cx="4826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TRUTH  •  NON-VIOLENCE  •  PEACE  •  DIGNITY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2C28C9B-FFCA-BAD5-6DA9-0CD7E682E20C}"/>
              </a:ext>
            </a:extLst>
          </p:cNvPr>
          <p:cNvSpPr txBox="1"/>
          <p:nvPr/>
        </p:nvSpPr>
        <p:spPr>
          <a:xfrm>
            <a:off x="9271000" y="6388100"/>
            <a:ext cx="2159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ID" sz="750" b="1">
                <a:solidFill>
                  <a:srgbClr val="4A3220"/>
                </a:solidFill>
                <a:latin typeface="Georgia" panose="02040502050405020303" pitchFamily="18" charset="0"/>
              </a:rPr>
              <a:t>FOLIO VIII / X  ❖</a:t>
            </a:r>
          </a:p>
        </p:txBody>
      </p:sp>
    </p:spTree>
    <p:extLst>
      <p:ext uri="{BB962C8B-B14F-4D97-AF65-F5344CB8AC3E}">
        <p14:creationId xmlns:p14="http://schemas.microsoft.com/office/powerpoint/2010/main" val="1358393892"/>
      </p:ext>
    </p:extLst>
  </p:cSld>
  <p:clrMapOvr>
    <a:masterClrMapping/>
  </p:clrMapOvr>
  <p:transition spd="med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6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9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E78458-2C11-2F47-CE21-8DB7BB73692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1A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ACB4571-024E-96C1-B388-3641002DFDAC}"/>
              </a:ext>
            </a:extLst>
          </p:cNvPr>
          <p:cNvSpPr/>
          <p:nvPr/>
        </p:nvSpPr>
        <p:spPr>
          <a:xfrm>
            <a:off x="355600" y="203200"/>
            <a:ext cx="11480800" cy="6451600"/>
          </a:xfrm>
          <a:prstGeom prst="roundRect">
            <a:avLst/>
          </a:prstGeom>
          <a:solidFill>
            <a:srgbClr val="FAF4E6"/>
          </a:solidFill>
          <a:ln w="317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 useBgFill="1">
        <p:nvSpPr>
          <p:cNvPr id="4" name="Rectangle: Rounded Corners 3">
            <a:extLst>
              <a:ext uri="{FF2B5EF4-FFF2-40B4-BE49-F238E27FC236}">
                <a16:creationId xmlns:a16="http://schemas.microsoft.com/office/drawing/2014/main" id="{2AD8738E-CD2C-4F53-F231-E8985D1383FC}"/>
              </a:ext>
            </a:extLst>
          </p:cNvPr>
          <p:cNvSpPr/>
          <p:nvPr/>
        </p:nvSpPr>
        <p:spPr>
          <a:xfrm>
            <a:off x="419100" y="266700"/>
            <a:ext cx="11353800" cy="6324600"/>
          </a:xfrm>
          <a:prstGeom prst="roundRect">
            <a:avLst/>
          </a:prstGeom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CE1EBF-65B9-1CD8-07BE-974837BF10B2}"/>
              </a:ext>
            </a:extLst>
          </p:cNvPr>
          <p:cNvSpPr txBox="1"/>
          <p:nvPr/>
        </p:nvSpPr>
        <p:spPr>
          <a:xfrm>
            <a:off x="4699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58D256-8617-B727-74B0-D53AAAF6D6A1}"/>
              </a:ext>
            </a:extLst>
          </p:cNvPr>
          <p:cNvSpPr txBox="1"/>
          <p:nvPr/>
        </p:nvSpPr>
        <p:spPr>
          <a:xfrm>
            <a:off x="115697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BAD10C-3126-71D1-1781-0748326DF731}"/>
              </a:ext>
            </a:extLst>
          </p:cNvPr>
          <p:cNvSpPr txBox="1"/>
          <p:nvPr/>
        </p:nvSpPr>
        <p:spPr>
          <a:xfrm>
            <a:off x="4699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FD3B53-14BE-343A-1C16-63B6C1518055}"/>
              </a:ext>
            </a:extLst>
          </p:cNvPr>
          <p:cNvSpPr txBox="1"/>
          <p:nvPr/>
        </p:nvSpPr>
        <p:spPr>
          <a:xfrm>
            <a:off x="115697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D9226A-D5F2-B41B-9599-771B601B1AF4}"/>
              </a:ext>
            </a:extLst>
          </p:cNvPr>
          <p:cNvSpPr txBox="1"/>
          <p:nvPr/>
        </p:nvSpPr>
        <p:spPr>
          <a:xfrm>
            <a:off x="635000" y="406400"/>
            <a:ext cx="76200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 b="1">
                <a:solidFill>
                  <a:srgbClr val="7A1F1F"/>
                </a:solidFill>
                <a:latin typeface="Georgia" panose="02040502050405020303" pitchFamily="18" charset="0"/>
              </a:rPr>
              <a:t>❖  CHAPTER IX • CRITICAL PERSPECTIVE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FFC0B50-4CE1-9A30-D71A-0A154F2E38C8}"/>
              </a:ext>
            </a:extLst>
          </p:cNvPr>
          <p:cNvSpPr/>
          <p:nvPr/>
        </p:nvSpPr>
        <p:spPr>
          <a:xfrm>
            <a:off x="9779000" y="381000"/>
            <a:ext cx="1778000" cy="254000"/>
          </a:xfrm>
          <a:prstGeom prst="roundRect">
            <a:avLst/>
          </a:prstGeom>
          <a:solidFill>
            <a:srgbClr val="F1E4C3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850" b="1">
                <a:solidFill>
                  <a:srgbClr val="4A3220"/>
                </a:solidFill>
                <a:latin typeface="Georgia" panose="02040502050405020303" pitchFamily="18" charset="0"/>
              </a:rPr>
              <a:t>FOLIO IX DE 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ED4A69-8388-D9D8-0D5C-A78C5F9353E3}"/>
              </a:ext>
            </a:extLst>
          </p:cNvPr>
          <p:cNvSpPr txBox="1"/>
          <p:nvPr/>
        </p:nvSpPr>
        <p:spPr>
          <a:xfrm>
            <a:off x="635000" y="685800"/>
            <a:ext cx="1092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D" sz="2000" b="1">
                <a:solidFill>
                  <a:srgbClr val="2A1A0E"/>
                </a:solidFill>
                <a:latin typeface="Georgia" panose="02040502050405020303" pitchFamily="18" charset="0"/>
              </a:rPr>
              <a:t>LIMITS AND CRITICISMS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C3B0924-E7F5-E8DE-9723-8B5AFCC5D437}"/>
              </a:ext>
            </a:extLst>
          </p:cNvPr>
          <p:cNvSpPr/>
          <p:nvPr/>
        </p:nvSpPr>
        <p:spPr>
          <a:xfrm>
            <a:off x="635000" y="1143000"/>
            <a:ext cx="10922000" cy="12700"/>
          </a:xfrm>
          <a:prstGeom prst="rect">
            <a:avLst/>
          </a:prstGeom>
          <a:solidFill>
            <a:srgbClr val="B886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B6E344-F79A-644F-890E-87C1AE7F5DE5}"/>
              </a:ext>
            </a:extLst>
          </p:cNvPr>
          <p:cNvSpPr txBox="1"/>
          <p:nvPr/>
        </p:nvSpPr>
        <p:spPr>
          <a:xfrm>
            <a:off x="635000" y="11938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 i="1">
                <a:solidFill>
                  <a:srgbClr val="4A3220"/>
                </a:solidFill>
                <a:latin typeface="Georgia" panose="02040502050405020303" pitchFamily="18" charset="0"/>
              </a:rPr>
              <a:t>Nuance, Context, and Thoughtful Adaptation in the Modern Era</a:t>
            </a:r>
            <a:endParaRPr lang="en-ID" sz="1050" i="1">
              <a:solidFill>
                <a:srgbClr val="4A3220"/>
              </a:solidFill>
              <a:latin typeface="Georgia" panose="02040502050405020303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D89F54A-396A-33A6-BC77-286BB4685E1B}"/>
              </a:ext>
            </a:extLst>
          </p:cNvPr>
          <p:cNvSpPr/>
          <p:nvPr/>
        </p:nvSpPr>
        <p:spPr>
          <a:xfrm>
            <a:off x="7429500" y="1498600"/>
            <a:ext cx="4127500" cy="4368800"/>
          </a:xfrm>
          <a:prstGeom prst="roundRect">
            <a:avLst/>
          </a:prstGeom>
          <a:solidFill>
            <a:srgbClr val="2A1A0E"/>
          </a:solidFill>
          <a:ln w="1905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8FB1A6DF-AC61-4C88-F36F-D748BEFDE8F6}"/>
              </a:ext>
            </a:extLst>
          </p:cNvPr>
          <p:cNvSpPr/>
          <p:nvPr/>
        </p:nvSpPr>
        <p:spPr>
          <a:xfrm>
            <a:off x="75057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2EC31EFE-A93C-6D42-9D14-EB35CBA66FA4}"/>
              </a:ext>
            </a:extLst>
          </p:cNvPr>
          <p:cNvSpPr/>
          <p:nvPr/>
        </p:nvSpPr>
        <p:spPr>
          <a:xfrm>
            <a:off x="113919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4DDDF5FD-822C-2C38-2297-9148A7C33487}"/>
              </a:ext>
            </a:extLst>
          </p:cNvPr>
          <p:cNvSpPr/>
          <p:nvPr/>
        </p:nvSpPr>
        <p:spPr>
          <a:xfrm>
            <a:off x="75057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7155E85C-D332-0667-CA25-299202ADB156}"/>
              </a:ext>
            </a:extLst>
          </p:cNvPr>
          <p:cNvSpPr/>
          <p:nvPr/>
        </p:nvSpPr>
        <p:spPr>
          <a:xfrm>
            <a:off x="113919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FDC865E-163A-F8F2-F35A-61B5E8620A4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6500" y="1625600"/>
            <a:ext cx="3873500" cy="2032000"/>
          </a:xfrm>
          <a:prstGeom prst="rect">
            <a:avLst/>
          </a:prstGeom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2CC56BA-B07B-ABE8-3D26-61552D32271E}"/>
              </a:ext>
            </a:extLst>
          </p:cNvPr>
          <p:cNvSpPr/>
          <p:nvPr/>
        </p:nvSpPr>
        <p:spPr>
          <a:xfrm>
            <a:off x="7632700" y="1701800"/>
            <a:ext cx="1397000" cy="228600"/>
          </a:xfrm>
          <a:prstGeom prst="roundRect">
            <a:avLst/>
          </a:prstGeom>
          <a:solidFill>
            <a:srgbClr val="2A1A0E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750" b="1">
                <a:solidFill>
                  <a:srgbClr val="F1E4C3"/>
                </a:solidFill>
                <a:latin typeface="Georgia" panose="02040502050405020303" pitchFamily="18" charset="0"/>
              </a:rPr>
              <a:t>ARCHIVE • CH. IX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BE72059-E6F0-0464-A236-BEAD6BF44C1E}"/>
              </a:ext>
            </a:extLst>
          </p:cNvPr>
          <p:cNvSpPr txBox="1"/>
          <p:nvPr/>
        </p:nvSpPr>
        <p:spPr>
          <a:xfrm>
            <a:off x="7556500" y="3733800"/>
            <a:ext cx="38735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D" sz="900" i="1">
                <a:solidFill>
                  <a:srgbClr val="FAF4E6"/>
                </a:solidFill>
                <a:latin typeface="Georgia" panose="02040502050405020303" pitchFamily="18" charset="0"/>
              </a:rPr>
              <a:t>Portrait, late 1930s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14797DA-0490-B894-6DB8-5428A2EA3F7C}"/>
              </a:ext>
            </a:extLst>
          </p:cNvPr>
          <p:cNvSpPr/>
          <p:nvPr/>
        </p:nvSpPr>
        <p:spPr>
          <a:xfrm>
            <a:off x="7556500" y="4648200"/>
            <a:ext cx="3873500" cy="1092200"/>
          </a:xfrm>
          <a:prstGeom prst="roundRect">
            <a:avLst/>
          </a:prstGeom>
          <a:solidFill>
            <a:srgbClr val="3D2717"/>
          </a:solidFill>
          <a:ln w="1270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50800" rtlCol="0" anchor="ctr"/>
          <a:lstStyle/>
          <a:p>
            <a:pPr algn="ctr"/>
            <a:r>
              <a:rPr lang="en-ID" sz="750" b="1">
                <a:solidFill>
                  <a:srgbClr val="D4AF37"/>
                </a:solidFill>
                <a:latin typeface="Georgia" panose="02040502050405020303" pitchFamily="18" charset="0"/>
              </a:rPr>
              <a:t>❝ DICTUM MAHATMA GANDHI
</a:t>
            </a:r>
            <a:r>
              <a:rPr lang="en-US" sz="950" b="1" i="1">
                <a:solidFill>
                  <a:srgbClr val="F1E4C3"/>
                </a:solidFill>
                <a:latin typeface="Georgia" panose="02040502050405020303" pitchFamily="18" charset="0"/>
              </a:rPr>
              <a:t>"I want the cultures of all lands to be blown about my house as freely as possible, but I refuse to be blown off my feet."</a:t>
            </a:r>
            <a:endParaRPr lang="en-ID" sz="950" b="1" i="1">
              <a:solidFill>
                <a:srgbClr val="F1E4C3"/>
              </a:solidFill>
              <a:latin typeface="Georgia" panose="02040502050405020303" pitchFamily="18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6B74432-061C-1877-0A6D-B3A42D214331}"/>
              </a:ext>
            </a:extLst>
          </p:cNvPr>
          <p:cNvGrpSpPr/>
          <p:nvPr/>
        </p:nvGrpSpPr>
        <p:grpSpPr>
          <a:xfrm>
            <a:off x="635000" y="1498599"/>
            <a:ext cx="6540500" cy="736601"/>
            <a:chOff x="635000" y="1498599"/>
            <a:chExt cx="6540500" cy="736601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39470109-6A8B-6423-7005-078E1A5F3E1D}"/>
                </a:ext>
              </a:extLst>
            </p:cNvPr>
            <p:cNvSpPr/>
            <p:nvPr/>
          </p:nvSpPr>
          <p:spPr>
            <a:xfrm>
              <a:off x="635000" y="1498600"/>
              <a:ext cx="6540500" cy="7366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7EB1FCB0-DD96-38F9-324E-31B0EE6EACAA}"/>
                </a:ext>
              </a:extLst>
            </p:cNvPr>
            <p:cNvSpPr/>
            <p:nvPr/>
          </p:nvSpPr>
          <p:spPr>
            <a:xfrm>
              <a:off x="787400" y="17145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6F031FA-460A-24F0-936D-432643B4FD46}"/>
                </a:ext>
              </a:extLst>
            </p:cNvPr>
            <p:cNvSpPr txBox="1"/>
            <p:nvPr/>
          </p:nvSpPr>
          <p:spPr>
            <a:xfrm>
              <a:off x="1244600" y="1498599"/>
              <a:ext cx="5778500" cy="7366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50">
                  <a:solidFill>
                    <a:srgbClr val="2A1A0E"/>
                  </a:solidFill>
                  <a:latin typeface="Georgia" panose="02040502050405020303" pitchFamily="18" charset="0"/>
                </a:rPr>
                <a:t>Non-violence alone may not be enough when confronting extreme violence and ruthless authoritarian regimes.</a:t>
              </a:r>
              <a:endParaRPr lang="en-ID" sz="11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3AD7BAD-367A-EB9C-E159-037E43F30F7A}"/>
              </a:ext>
            </a:extLst>
          </p:cNvPr>
          <p:cNvGrpSpPr/>
          <p:nvPr/>
        </p:nvGrpSpPr>
        <p:grpSpPr>
          <a:xfrm>
            <a:off x="635000" y="2412999"/>
            <a:ext cx="6540500" cy="736601"/>
            <a:chOff x="635000" y="2412999"/>
            <a:chExt cx="6540500" cy="73660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9B389802-5D73-1F44-179A-F3DDF9C76786}"/>
                </a:ext>
              </a:extLst>
            </p:cNvPr>
            <p:cNvSpPr/>
            <p:nvPr/>
          </p:nvSpPr>
          <p:spPr>
            <a:xfrm>
              <a:off x="635000" y="2413000"/>
              <a:ext cx="6540500" cy="7366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27447B4E-1FC7-A9C1-AF38-344CD6EA3B26}"/>
                </a:ext>
              </a:extLst>
            </p:cNvPr>
            <p:cNvSpPr/>
            <p:nvPr/>
          </p:nvSpPr>
          <p:spPr>
            <a:xfrm>
              <a:off x="787400" y="26289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EA2931B-46BD-0865-5EA8-940A55DD7F65}"/>
                </a:ext>
              </a:extLst>
            </p:cNvPr>
            <p:cNvSpPr txBox="1"/>
            <p:nvPr/>
          </p:nvSpPr>
          <p:spPr>
            <a:xfrm>
              <a:off x="1244600" y="2412999"/>
              <a:ext cx="5778500" cy="7366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50">
                  <a:solidFill>
                    <a:srgbClr val="2A1A0E"/>
                  </a:solidFill>
                  <a:latin typeface="Georgia" panose="02040502050405020303" pitchFamily="18" charset="0"/>
                </a:rPr>
                <a:t>Some of Gandhi's views (on caste and race during his early South Africa years) are legitimately criticised.</a:t>
              </a:r>
              <a:endParaRPr lang="en-ID" sz="11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B00ED497-CD75-F184-E0A5-18D1C5CBDB68}"/>
              </a:ext>
            </a:extLst>
          </p:cNvPr>
          <p:cNvGrpSpPr/>
          <p:nvPr/>
        </p:nvGrpSpPr>
        <p:grpSpPr>
          <a:xfrm>
            <a:off x="635000" y="3327400"/>
            <a:ext cx="6540500" cy="736600"/>
            <a:chOff x="635000" y="3327400"/>
            <a:chExt cx="6540500" cy="736600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4F8A83E8-4500-C799-FCDB-F4E19F3E41DB}"/>
                </a:ext>
              </a:extLst>
            </p:cNvPr>
            <p:cNvSpPr/>
            <p:nvPr/>
          </p:nvSpPr>
          <p:spPr>
            <a:xfrm>
              <a:off x="635000" y="3327400"/>
              <a:ext cx="6540500" cy="7366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54011E15-36EF-7658-BCA4-93CACC387950}"/>
                </a:ext>
              </a:extLst>
            </p:cNvPr>
            <p:cNvSpPr/>
            <p:nvPr/>
          </p:nvSpPr>
          <p:spPr>
            <a:xfrm>
              <a:off x="787400" y="35433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3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8408222-1984-B889-A904-F92DB1741A6C}"/>
                </a:ext>
              </a:extLst>
            </p:cNvPr>
            <p:cNvSpPr txBox="1"/>
            <p:nvPr/>
          </p:nvSpPr>
          <p:spPr>
            <a:xfrm>
              <a:off x="1244600" y="3327400"/>
              <a:ext cx="5778500" cy="7366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50">
                  <a:solidFill>
                    <a:srgbClr val="2A1A0E"/>
                  </a:solidFill>
                  <a:latin typeface="Georgia" panose="02040502050405020303" pitchFamily="18" charset="0"/>
                </a:rPr>
                <a:t>Ideas need thoughtful application and dynamic adaptation, not rigid or blind copying.</a:t>
              </a:r>
              <a:endParaRPr lang="en-ID" sz="115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9C21B2E1-1137-234C-7C3C-375A6359091F}"/>
              </a:ext>
            </a:extLst>
          </p:cNvPr>
          <p:cNvSpPr/>
          <p:nvPr/>
        </p:nvSpPr>
        <p:spPr>
          <a:xfrm>
            <a:off x="635000" y="6350000"/>
            <a:ext cx="10922000" cy="12700"/>
          </a:xfrm>
          <a:prstGeom prst="rect">
            <a:avLst/>
          </a:prstGeom>
          <a:solidFill>
            <a:srgbClr val="7A1F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B33B981-E6A4-ACC0-B00F-3CD209A3AEE1}"/>
              </a:ext>
            </a:extLst>
          </p:cNvPr>
          <p:cNvSpPr txBox="1"/>
          <p:nvPr/>
        </p:nvSpPr>
        <p:spPr>
          <a:xfrm>
            <a:off x="762000" y="6388100"/>
            <a:ext cx="3048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❖  GANDHI JAYANTI • II OCTOBER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C92F06-11D0-A8F8-A247-62F544F23754}"/>
              </a:ext>
            </a:extLst>
          </p:cNvPr>
          <p:cNvSpPr txBox="1"/>
          <p:nvPr/>
        </p:nvSpPr>
        <p:spPr>
          <a:xfrm>
            <a:off x="3683000" y="6388100"/>
            <a:ext cx="4826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TRUTH  •  NON-VIOLENCE  •  PEACE  •  DIGNITY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02551C-2541-63F6-9001-DD4010440522}"/>
              </a:ext>
            </a:extLst>
          </p:cNvPr>
          <p:cNvSpPr txBox="1"/>
          <p:nvPr/>
        </p:nvSpPr>
        <p:spPr>
          <a:xfrm>
            <a:off x="9271000" y="6388100"/>
            <a:ext cx="2159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ID" sz="750" b="1">
                <a:solidFill>
                  <a:srgbClr val="4A3220"/>
                </a:solidFill>
                <a:latin typeface="Georgia" panose="02040502050405020303" pitchFamily="18" charset="0"/>
              </a:rPr>
              <a:t>FOLIO IX / X  ❖</a:t>
            </a:r>
          </a:p>
        </p:txBody>
      </p:sp>
    </p:spTree>
    <p:extLst>
      <p:ext uri="{BB962C8B-B14F-4D97-AF65-F5344CB8AC3E}">
        <p14:creationId xmlns:p14="http://schemas.microsoft.com/office/powerpoint/2010/main" val="2972630314"/>
      </p:ext>
    </p:extLst>
  </p:cSld>
  <p:clrMapOvr>
    <a:masterClrMapping/>
  </p:clrMapOvr>
  <p:transition spd="med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6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9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8D7F4CF-48D6-A0F2-795F-C0FA5461814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1A0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50C719A-3475-E21E-B645-A121353C5D8D}"/>
              </a:ext>
            </a:extLst>
          </p:cNvPr>
          <p:cNvSpPr/>
          <p:nvPr/>
        </p:nvSpPr>
        <p:spPr>
          <a:xfrm>
            <a:off x="355600" y="203200"/>
            <a:ext cx="11480800" cy="6451600"/>
          </a:xfrm>
          <a:prstGeom prst="roundRect">
            <a:avLst/>
          </a:prstGeom>
          <a:solidFill>
            <a:srgbClr val="FAF4E6"/>
          </a:solidFill>
          <a:ln w="317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 useBgFill="1">
        <p:nvSpPr>
          <p:cNvPr id="4" name="Rectangle: Rounded Corners 3">
            <a:extLst>
              <a:ext uri="{FF2B5EF4-FFF2-40B4-BE49-F238E27FC236}">
                <a16:creationId xmlns:a16="http://schemas.microsoft.com/office/drawing/2014/main" id="{E54E49CA-44C4-9FBD-49C5-7773D8FD12F7}"/>
              </a:ext>
            </a:extLst>
          </p:cNvPr>
          <p:cNvSpPr/>
          <p:nvPr/>
        </p:nvSpPr>
        <p:spPr>
          <a:xfrm>
            <a:off x="419100" y="266700"/>
            <a:ext cx="11353800" cy="6324600"/>
          </a:xfrm>
          <a:prstGeom prst="roundRect">
            <a:avLst/>
          </a:prstGeom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75E792-E2C2-D0ED-3E8D-C53DDE55EC02}"/>
              </a:ext>
            </a:extLst>
          </p:cNvPr>
          <p:cNvSpPr txBox="1"/>
          <p:nvPr/>
        </p:nvSpPr>
        <p:spPr>
          <a:xfrm>
            <a:off x="4699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C64E33-B58C-97D8-8F78-64EC0C1056D1}"/>
              </a:ext>
            </a:extLst>
          </p:cNvPr>
          <p:cNvSpPr txBox="1"/>
          <p:nvPr/>
        </p:nvSpPr>
        <p:spPr>
          <a:xfrm>
            <a:off x="11569700" y="2921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0A11CE-F159-2768-1176-774F8C1A7DE5}"/>
              </a:ext>
            </a:extLst>
          </p:cNvPr>
          <p:cNvSpPr txBox="1"/>
          <p:nvPr/>
        </p:nvSpPr>
        <p:spPr>
          <a:xfrm>
            <a:off x="4699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4959A7-8C3A-3130-4ACF-275EBE5D4FDA}"/>
              </a:ext>
            </a:extLst>
          </p:cNvPr>
          <p:cNvSpPr txBox="1"/>
          <p:nvPr/>
        </p:nvSpPr>
        <p:spPr>
          <a:xfrm>
            <a:off x="11569700" y="6362700"/>
            <a:ext cx="2032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>
                <a:solidFill>
                  <a:srgbClr val="B8862B"/>
                </a:solidFill>
                <a:latin typeface="Georgia" panose="02040502050405020303" pitchFamily="18" charset="0"/>
              </a:rPr>
              <a:t>❖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A19F7B-2200-F4CB-2473-A4738AE1C2A6}"/>
              </a:ext>
            </a:extLst>
          </p:cNvPr>
          <p:cNvSpPr txBox="1"/>
          <p:nvPr/>
        </p:nvSpPr>
        <p:spPr>
          <a:xfrm>
            <a:off x="635000" y="406400"/>
            <a:ext cx="7620000" cy="14619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950" b="1">
                <a:solidFill>
                  <a:srgbClr val="7A1F1F"/>
                </a:solidFill>
                <a:latin typeface="Georgia" panose="02040502050405020303" pitchFamily="18" charset="0"/>
              </a:rPr>
              <a:t>❖  CHAPTER X • LIVING RELEVANCE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B09267C-7BBC-B874-F825-B4CA567E8653}"/>
              </a:ext>
            </a:extLst>
          </p:cNvPr>
          <p:cNvSpPr/>
          <p:nvPr/>
        </p:nvSpPr>
        <p:spPr>
          <a:xfrm>
            <a:off x="9779000" y="381000"/>
            <a:ext cx="1778000" cy="254000"/>
          </a:xfrm>
          <a:prstGeom prst="roundRect">
            <a:avLst/>
          </a:prstGeom>
          <a:solidFill>
            <a:srgbClr val="F1E4C3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850" b="1">
                <a:solidFill>
                  <a:srgbClr val="4A3220"/>
                </a:solidFill>
                <a:latin typeface="Georgia" panose="02040502050405020303" pitchFamily="18" charset="0"/>
              </a:rPr>
              <a:t>FOLIO X DE 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C65362-3417-9230-5553-A40264572223}"/>
              </a:ext>
            </a:extLst>
          </p:cNvPr>
          <p:cNvSpPr txBox="1"/>
          <p:nvPr/>
        </p:nvSpPr>
        <p:spPr>
          <a:xfrm>
            <a:off x="635000" y="685800"/>
            <a:ext cx="10922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D" sz="2000" b="1">
                <a:solidFill>
                  <a:srgbClr val="2A1A0E"/>
                </a:solidFill>
                <a:latin typeface="Georgia" panose="02040502050405020303" pitchFamily="18" charset="0"/>
              </a:rPr>
              <a:t>THE VERDICT: STILL RELEVANT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425395-D6DF-C95D-F2B7-F65CE7DECA79}"/>
              </a:ext>
            </a:extLst>
          </p:cNvPr>
          <p:cNvSpPr/>
          <p:nvPr/>
        </p:nvSpPr>
        <p:spPr>
          <a:xfrm>
            <a:off x="635000" y="1143000"/>
            <a:ext cx="10922000" cy="12700"/>
          </a:xfrm>
          <a:prstGeom prst="rect">
            <a:avLst/>
          </a:prstGeom>
          <a:solidFill>
            <a:srgbClr val="B886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A7209E-AFC5-141A-50A4-852589684D89}"/>
              </a:ext>
            </a:extLst>
          </p:cNvPr>
          <p:cNvSpPr txBox="1"/>
          <p:nvPr/>
        </p:nvSpPr>
        <p:spPr>
          <a:xfrm>
            <a:off x="635000" y="1193800"/>
            <a:ext cx="10922000" cy="1615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50" i="1">
                <a:solidFill>
                  <a:srgbClr val="4A3220"/>
                </a:solidFill>
                <a:latin typeface="Georgia" panose="02040502050405020303" pitchFamily="18" charset="0"/>
              </a:rPr>
              <a:t>A Living Ethical Compass for Contemporary Life and Global Citizenship</a:t>
            </a:r>
            <a:endParaRPr lang="en-ID" sz="1050" i="1">
              <a:solidFill>
                <a:srgbClr val="4A3220"/>
              </a:solidFill>
              <a:latin typeface="Georgia" panose="02040502050405020303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81115F9-03C8-A30C-5BD8-A2DB2A3FA298}"/>
              </a:ext>
            </a:extLst>
          </p:cNvPr>
          <p:cNvSpPr/>
          <p:nvPr/>
        </p:nvSpPr>
        <p:spPr>
          <a:xfrm>
            <a:off x="635000" y="1498600"/>
            <a:ext cx="4127500" cy="4368800"/>
          </a:xfrm>
          <a:prstGeom prst="roundRect">
            <a:avLst/>
          </a:prstGeom>
          <a:solidFill>
            <a:srgbClr val="2A1A0E"/>
          </a:solidFill>
          <a:ln w="1905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Pentagon 14">
            <a:extLst>
              <a:ext uri="{FF2B5EF4-FFF2-40B4-BE49-F238E27FC236}">
                <a16:creationId xmlns:a16="http://schemas.microsoft.com/office/drawing/2014/main" id="{ACF67706-A543-24F1-381B-EC20F7EBC829}"/>
              </a:ext>
            </a:extLst>
          </p:cNvPr>
          <p:cNvSpPr/>
          <p:nvPr/>
        </p:nvSpPr>
        <p:spPr>
          <a:xfrm>
            <a:off x="7112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6" name="Pentagon 15">
            <a:extLst>
              <a:ext uri="{FF2B5EF4-FFF2-40B4-BE49-F238E27FC236}">
                <a16:creationId xmlns:a16="http://schemas.microsoft.com/office/drawing/2014/main" id="{207A7BAE-AF37-06C9-34C9-79AB3324AA08}"/>
              </a:ext>
            </a:extLst>
          </p:cNvPr>
          <p:cNvSpPr/>
          <p:nvPr/>
        </p:nvSpPr>
        <p:spPr>
          <a:xfrm>
            <a:off x="4597400" y="15748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725F5862-B618-B262-FCD1-5F0FF6BAEC50}"/>
              </a:ext>
            </a:extLst>
          </p:cNvPr>
          <p:cNvSpPr/>
          <p:nvPr/>
        </p:nvSpPr>
        <p:spPr>
          <a:xfrm>
            <a:off x="7112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Pentagon 17">
            <a:extLst>
              <a:ext uri="{FF2B5EF4-FFF2-40B4-BE49-F238E27FC236}">
                <a16:creationId xmlns:a16="http://schemas.microsoft.com/office/drawing/2014/main" id="{F801065A-E75E-D2C9-3509-F6019A850228}"/>
              </a:ext>
            </a:extLst>
          </p:cNvPr>
          <p:cNvSpPr/>
          <p:nvPr/>
        </p:nvSpPr>
        <p:spPr>
          <a:xfrm>
            <a:off x="4597400" y="5702300"/>
            <a:ext cx="88900" cy="88900"/>
          </a:xfrm>
          <a:prstGeom prst="pentagon">
            <a:avLst/>
          </a:prstGeom>
          <a:solidFill>
            <a:srgbClr val="D4AF37"/>
          </a:solidFill>
          <a:ln w="6350">
            <a:solidFill>
              <a:srgbClr val="7A1F1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FB45753-2588-8877-9221-43DEEB6A04C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5600"/>
            <a:ext cx="3873500" cy="2032000"/>
          </a:xfrm>
          <a:prstGeom prst="rect">
            <a:avLst/>
          </a:prstGeom>
        </p:spPr>
      </p:pic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FB51CCAF-AEF3-F57F-98C4-036ADE69F5E1}"/>
              </a:ext>
            </a:extLst>
          </p:cNvPr>
          <p:cNvSpPr/>
          <p:nvPr/>
        </p:nvSpPr>
        <p:spPr>
          <a:xfrm>
            <a:off x="838200" y="1701800"/>
            <a:ext cx="1397000" cy="228600"/>
          </a:xfrm>
          <a:prstGeom prst="roundRect">
            <a:avLst/>
          </a:prstGeom>
          <a:solidFill>
            <a:srgbClr val="2A1A0E"/>
          </a:solidFill>
          <a:ln w="9525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sz="750" b="1">
                <a:solidFill>
                  <a:srgbClr val="F1E4C3"/>
                </a:solidFill>
                <a:latin typeface="Georgia" panose="02040502050405020303" pitchFamily="18" charset="0"/>
              </a:rPr>
              <a:t>ARCHIVE • CH. X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3BE1C7-7A54-E409-74A2-6828D2EBCEC2}"/>
              </a:ext>
            </a:extLst>
          </p:cNvPr>
          <p:cNvSpPr txBox="1"/>
          <p:nvPr/>
        </p:nvSpPr>
        <p:spPr>
          <a:xfrm>
            <a:off x="762000" y="3733800"/>
            <a:ext cx="3873500" cy="2616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D" sz="900" i="1">
                <a:solidFill>
                  <a:srgbClr val="FAF4E6"/>
                </a:solidFill>
                <a:latin typeface="Georgia" panose="02040502050405020303" pitchFamily="18" charset="0"/>
              </a:rPr>
              <a:t>Gandhi, London, 1931</a:t>
            </a:r>
            <a:r>
              <a:rPr lang="en-US" sz="800" i="1">
                <a:solidFill>
                  <a:srgbClr val="D4BE88"/>
                </a:solidFill>
                <a:latin typeface="Georgia" panose="02040502050405020303" pitchFamily="18" charset="0"/>
              </a:rPr>
              <a:t>
• Photos: Wikimedia Commons (public domain)</a:t>
            </a:r>
            <a:endParaRPr lang="en-ID" sz="800" i="1">
              <a:solidFill>
                <a:srgbClr val="D4BE88"/>
              </a:solidFill>
              <a:latin typeface="Georgia" panose="02040502050405020303" pitchFamily="18" charset="0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275FA7D-588A-73BC-38AE-2FAFF06E5296}"/>
              </a:ext>
            </a:extLst>
          </p:cNvPr>
          <p:cNvSpPr/>
          <p:nvPr/>
        </p:nvSpPr>
        <p:spPr>
          <a:xfrm>
            <a:off x="762000" y="4648200"/>
            <a:ext cx="3873500" cy="1092200"/>
          </a:xfrm>
          <a:prstGeom prst="roundRect">
            <a:avLst/>
          </a:prstGeom>
          <a:solidFill>
            <a:srgbClr val="3D2717"/>
          </a:solidFill>
          <a:ln w="1270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76200" rIns="101600" bIns="50800" rtlCol="0" anchor="ctr"/>
          <a:lstStyle/>
          <a:p>
            <a:pPr algn="ctr"/>
            <a:r>
              <a:rPr lang="en-ID" sz="750" b="1">
                <a:solidFill>
                  <a:srgbClr val="D4AF37"/>
                </a:solidFill>
                <a:latin typeface="Georgia" panose="02040502050405020303" pitchFamily="18" charset="0"/>
              </a:rPr>
              <a:t>❝ DICTUM MAHATMA GANDHI
</a:t>
            </a:r>
            <a:r>
              <a:rPr lang="en-US" sz="950" b="1" i="1">
                <a:solidFill>
                  <a:srgbClr val="F1E4C3"/>
                </a:solidFill>
                <a:latin typeface="Georgia" panose="02040502050405020303" pitchFamily="18" charset="0"/>
              </a:rPr>
              <a:t>"You must be the change you wish to see in the world."</a:t>
            </a:r>
            <a:endParaRPr lang="en-ID" sz="950" b="1" i="1">
              <a:solidFill>
                <a:srgbClr val="F1E4C3"/>
              </a:solidFill>
              <a:latin typeface="Georgia" panose="02040502050405020303" pitchFamily="18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063A72A-2F30-89E3-3170-E5F0B08AC05C}"/>
              </a:ext>
            </a:extLst>
          </p:cNvPr>
          <p:cNvGrpSpPr/>
          <p:nvPr/>
        </p:nvGrpSpPr>
        <p:grpSpPr>
          <a:xfrm>
            <a:off x="5016500" y="1498600"/>
            <a:ext cx="6540500" cy="660400"/>
            <a:chOff x="5016500" y="1498600"/>
            <a:chExt cx="6540500" cy="660400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63304C5-A89D-4D9A-7194-1D73D2CE9777}"/>
                </a:ext>
              </a:extLst>
            </p:cNvPr>
            <p:cNvSpPr/>
            <p:nvPr/>
          </p:nvSpPr>
          <p:spPr>
            <a:xfrm>
              <a:off x="5016500" y="1498600"/>
              <a:ext cx="6540500" cy="660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D64DB76-7FF8-167A-5673-3D9C655A832E}"/>
                </a:ext>
              </a:extLst>
            </p:cNvPr>
            <p:cNvSpPr/>
            <p:nvPr/>
          </p:nvSpPr>
          <p:spPr>
            <a:xfrm>
              <a:off x="5168900" y="16764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1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47B5E7E-5E8F-9213-C522-5CA2A999FC81}"/>
                </a:ext>
              </a:extLst>
            </p:cNvPr>
            <p:cNvSpPr txBox="1"/>
            <p:nvPr/>
          </p:nvSpPr>
          <p:spPr>
            <a:xfrm>
              <a:off x="5626100" y="1498600"/>
              <a:ext cx="5778500" cy="660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00">
                  <a:solidFill>
                    <a:srgbClr val="2A1A0E"/>
                  </a:solidFill>
                  <a:latin typeface="Georgia" panose="02040502050405020303" pitchFamily="18" charset="0"/>
                </a:rPr>
                <a:t>A compass, not a rulebook: An enduring framework for moral decision-making in personal and public affairs.</a:t>
              </a:r>
              <a:endParaRPr lang="en-ID" sz="110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C91D737-562D-F151-4181-FDBD6E0D83B6}"/>
              </a:ext>
            </a:extLst>
          </p:cNvPr>
          <p:cNvGrpSpPr/>
          <p:nvPr/>
        </p:nvGrpSpPr>
        <p:grpSpPr>
          <a:xfrm>
            <a:off x="5016500" y="2285999"/>
            <a:ext cx="6540500" cy="660401"/>
            <a:chOff x="5016500" y="2285999"/>
            <a:chExt cx="6540500" cy="660401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A69A03F0-B3C2-7503-9E5C-0822996E1C74}"/>
                </a:ext>
              </a:extLst>
            </p:cNvPr>
            <p:cNvSpPr/>
            <p:nvPr/>
          </p:nvSpPr>
          <p:spPr>
            <a:xfrm>
              <a:off x="5016500" y="2286000"/>
              <a:ext cx="6540500" cy="660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F36D2991-A7FC-17E6-9924-6750D5D0574E}"/>
                </a:ext>
              </a:extLst>
            </p:cNvPr>
            <p:cNvSpPr/>
            <p:nvPr/>
          </p:nvSpPr>
          <p:spPr>
            <a:xfrm>
              <a:off x="5168900" y="24638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2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AFAA6B0B-37D2-9FB3-E3E1-C4FB420106F5}"/>
                </a:ext>
              </a:extLst>
            </p:cNvPr>
            <p:cNvSpPr txBox="1"/>
            <p:nvPr/>
          </p:nvSpPr>
          <p:spPr>
            <a:xfrm>
              <a:off x="5626100" y="2285999"/>
              <a:ext cx="5778500" cy="660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00">
                  <a:solidFill>
                    <a:srgbClr val="2A1A0E"/>
                  </a:solidFill>
                  <a:latin typeface="Georgia" panose="02040502050405020303" pitchFamily="18" charset="0"/>
                </a:rPr>
                <a:t>Choose peace, truth, and simplicity in everyday choices, leadership, and community action.</a:t>
              </a:r>
              <a:endParaRPr lang="en-ID" sz="110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F799987-A0C7-8941-87F4-FC7430C4503C}"/>
              </a:ext>
            </a:extLst>
          </p:cNvPr>
          <p:cNvGrpSpPr/>
          <p:nvPr/>
        </p:nvGrpSpPr>
        <p:grpSpPr>
          <a:xfrm>
            <a:off x="5016500" y="3073400"/>
            <a:ext cx="6540500" cy="660400"/>
            <a:chOff x="5016500" y="3073400"/>
            <a:chExt cx="6540500" cy="660400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6AE74480-A015-4C60-22FB-0663678F3396}"/>
                </a:ext>
              </a:extLst>
            </p:cNvPr>
            <p:cNvSpPr/>
            <p:nvPr/>
          </p:nvSpPr>
          <p:spPr>
            <a:xfrm>
              <a:off x="5016500" y="3073400"/>
              <a:ext cx="6540500" cy="660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BC91D760-C380-FD4E-C5C5-FD3A3708AB43}"/>
                </a:ext>
              </a:extLst>
            </p:cNvPr>
            <p:cNvSpPr/>
            <p:nvPr/>
          </p:nvSpPr>
          <p:spPr>
            <a:xfrm>
              <a:off x="5168900" y="32512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3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FF1FC5A5-35A2-835D-975C-4AE57BD3A3F3}"/>
                </a:ext>
              </a:extLst>
            </p:cNvPr>
            <p:cNvSpPr txBox="1"/>
            <p:nvPr/>
          </p:nvSpPr>
          <p:spPr>
            <a:xfrm>
              <a:off x="5626100" y="3073400"/>
              <a:ext cx="5778500" cy="660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US" sz="1100">
                  <a:solidFill>
                    <a:srgbClr val="2A1A0E"/>
                  </a:solidFill>
                  <a:latin typeface="Georgia" panose="02040502050405020303" pitchFamily="18" charset="0"/>
                </a:rPr>
                <a:t>"Be the change you wish to see in the world" (attributed to Gandhi) — Individual integrity inspires collective transformation.</a:t>
              </a:r>
              <a:endParaRPr lang="en-ID" sz="1100">
                <a:solidFill>
                  <a:srgbClr val="2A1A0E"/>
                </a:solidFill>
                <a:latin typeface="Georgia" panose="02040502050405020303" pitchFamily="18" charset="0"/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E840687-EADD-7568-CED3-41935A2DBFB9}"/>
              </a:ext>
            </a:extLst>
          </p:cNvPr>
          <p:cNvGrpSpPr/>
          <p:nvPr/>
        </p:nvGrpSpPr>
        <p:grpSpPr>
          <a:xfrm>
            <a:off x="5016500" y="3860799"/>
            <a:ext cx="6540500" cy="660401"/>
            <a:chOff x="5016500" y="3860799"/>
            <a:chExt cx="6540500" cy="660401"/>
          </a:xfrm>
        </p:grpSpPr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0E802B9C-C2D1-412E-14B2-7EC8E5329284}"/>
                </a:ext>
              </a:extLst>
            </p:cNvPr>
            <p:cNvSpPr/>
            <p:nvPr/>
          </p:nvSpPr>
          <p:spPr>
            <a:xfrm>
              <a:off x="5016500" y="3860800"/>
              <a:ext cx="6540500" cy="660400"/>
            </a:xfrm>
            <a:prstGeom prst="roundRect">
              <a:avLst/>
            </a:prstGeom>
            <a:solidFill>
              <a:srgbClr val="F1E4C3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D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DB378F32-4440-C8D7-5BF8-DB5E2C36EA13}"/>
                </a:ext>
              </a:extLst>
            </p:cNvPr>
            <p:cNvSpPr/>
            <p:nvPr/>
          </p:nvSpPr>
          <p:spPr>
            <a:xfrm>
              <a:off x="5168900" y="4038600"/>
              <a:ext cx="304800" cy="304800"/>
            </a:xfrm>
            <a:prstGeom prst="roundRect">
              <a:avLst/>
            </a:prstGeom>
            <a:solidFill>
              <a:srgbClr val="7A1F1F"/>
            </a:solidFill>
            <a:ln w="9525">
              <a:solidFill>
                <a:srgbClr val="B8862B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ID" sz="950" b="1">
                  <a:solidFill>
                    <a:srgbClr val="F1E4C3"/>
                  </a:solidFill>
                  <a:latin typeface="Georgia" panose="02040502050405020303" pitchFamily="18" charset="0"/>
                </a:rPr>
                <a:t>4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149C80D-4AD2-3E05-2D80-53BA9AAE6609}"/>
                </a:ext>
              </a:extLst>
            </p:cNvPr>
            <p:cNvSpPr txBox="1"/>
            <p:nvPr/>
          </p:nvSpPr>
          <p:spPr>
            <a:xfrm>
              <a:off x="5626100" y="3860799"/>
              <a:ext cx="5778500" cy="660400"/>
            </a:xfrm>
            <a:prstGeom prst="rect">
              <a:avLst/>
            </a:prstGeom>
            <a:noFill/>
          </p:spPr>
          <p:txBody>
            <a:bodyPr vert="horz" wrap="square" lIns="0" tIns="0" rIns="0" bIns="0" rtlCol="0" anchor="ctr">
              <a:noAutofit/>
            </a:bodyPr>
            <a:lstStyle/>
            <a:p>
              <a:r>
                <a:rPr lang="en-ID" sz="1100">
                  <a:solidFill>
                    <a:srgbClr val="2A1A0E"/>
                  </a:solidFill>
                  <a:latin typeface="Georgia" panose="02040502050405020303" pitchFamily="18" charset="0"/>
                </a:rPr>
                <a:t>Thank you! Jai Hind!</a:t>
              </a:r>
            </a:p>
          </p:txBody>
        </p:sp>
      </p:grp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084B58D9-1D69-AEA3-5DD0-F66EA458DDDB}"/>
              </a:ext>
            </a:extLst>
          </p:cNvPr>
          <p:cNvSpPr/>
          <p:nvPr/>
        </p:nvSpPr>
        <p:spPr>
          <a:xfrm>
            <a:off x="5016500" y="5384800"/>
            <a:ext cx="6540500" cy="482600"/>
          </a:xfrm>
          <a:prstGeom prst="roundRect">
            <a:avLst/>
          </a:prstGeom>
          <a:solidFill>
            <a:srgbClr val="2A1A0E"/>
          </a:solidFill>
          <a:ln w="19050">
            <a:solidFill>
              <a:srgbClr val="B88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950" b="1">
                <a:solidFill>
                  <a:srgbClr val="D4AF37"/>
                </a:solidFill>
                <a:latin typeface="Georgia" panose="02040502050405020303" pitchFamily="18" charset="0"/>
              </a:rPr>
              <a:t>❖   THANK YOU! JAI HIND!       —       IN MEMORIAM MAHATMA GANDHI</a:t>
            </a:r>
            <a:endParaRPr lang="en-ID" sz="950" b="1">
              <a:solidFill>
                <a:srgbClr val="D4AF37"/>
              </a:solidFill>
              <a:latin typeface="Georgia" panose="02040502050405020303" pitchFamily="18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0A11934-20DC-5817-ED4A-1FBD1DBCEC42}"/>
              </a:ext>
            </a:extLst>
          </p:cNvPr>
          <p:cNvSpPr/>
          <p:nvPr/>
        </p:nvSpPr>
        <p:spPr>
          <a:xfrm>
            <a:off x="635000" y="6350000"/>
            <a:ext cx="10922000" cy="12700"/>
          </a:xfrm>
          <a:prstGeom prst="rect">
            <a:avLst/>
          </a:prstGeom>
          <a:solidFill>
            <a:srgbClr val="7A1F1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32A2CE-6FB7-F472-D6EF-05CB77473296}"/>
              </a:ext>
            </a:extLst>
          </p:cNvPr>
          <p:cNvSpPr txBox="1"/>
          <p:nvPr/>
        </p:nvSpPr>
        <p:spPr>
          <a:xfrm>
            <a:off x="762000" y="6388100"/>
            <a:ext cx="3048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❖  GANDHI JAYANTI • II OCTOBER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E2D7B7-FD2C-E64E-BE59-895E22F1392F}"/>
              </a:ext>
            </a:extLst>
          </p:cNvPr>
          <p:cNvSpPr txBox="1"/>
          <p:nvPr/>
        </p:nvSpPr>
        <p:spPr>
          <a:xfrm>
            <a:off x="3683000" y="6388100"/>
            <a:ext cx="4826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ID" sz="750" b="1">
                <a:solidFill>
                  <a:srgbClr val="7A1F1F"/>
                </a:solidFill>
                <a:latin typeface="Georgia" panose="02040502050405020303" pitchFamily="18" charset="0"/>
              </a:rPr>
              <a:t>TRUTH  •  NON-VIOLENCE  •  PEACE  •  DIGNITY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1C4D304-8C5B-FE87-1FFF-15C15AA994F5}"/>
              </a:ext>
            </a:extLst>
          </p:cNvPr>
          <p:cNvSpPr txBox="1"/>
          <p:nvPr/>
        </p:nvSpPr>
        <p:spPr>
          <a:xfrm>
            <a:off x="9271000" y="6388100"/>
            <a:ext cx="21590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r"/>
            <a:r>
              <a:rPr lang="en-ID" sz="750" b="1">
                <a:solidFill>
                  <a:srgbClr val="4A3220"/>
                </a:solidFill>
                <a:latin typeface="Georgia" panose="02040502050405020303" pitchFamily="18" charset="0"/>
              </a:rPr>
              <a:t>FOLIO X / X  ❖</a:t>
            </a:r>
          </a:p>
        </p:txBody>
      </p:sp>
    </p:spTree>
    <p:extLst>
      <p:ext uri="{BB962C8B-B14F-4D97-AF65-F5344CB8AC3E}">
        <p14:creationId xmlns:p14="http://schemas.microsoft.com/office/powerpoint/2010/main" val="1979771630"/>
      </p:ext>
    </p:extLst>
  </p:cSld>
  <p:clrMapOvr>
    <a:masterClrMapping/>
  </p:clrMapOvr>
  <p:transition spd="med"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3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6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9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2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4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1541</Words>
  <Application>Microsoft Office PowerPoint</Application>
  <PresentationFormat>Custom</PresentationFormat>
  <Paragraphs>224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dev vashisht</dc:creator>
  <cp:lastModifiedBy>dev vashisht</cp:lastModifiedBy>
  <cp:revision>1</cp:revision>
  <dcterms:created xsi:type="dcterms:W3CDTF">2026-09-30T16:49:22Z</dcterms:created>
  <dcterms:modified xsi:type="dcterms:W3CDTF">2026-09-30T16:49:22Z</dcterms:modified>
</cp:coreProperties>
</file>