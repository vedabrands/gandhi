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0E"/>
          </a:solidFill>
          <a:ln>
            <a:solidFill>
              <a:srgbClr val="2A1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60175" cy="6345936"/>
          </a:xfrm>
          <a:prstGeom prst="roundRect">
            <a:avLst/>
          </a:prstGeom>
          <a:solidFill>
            <a:srgbClr val="FAF4E6"/>
          </a:solidFill>
          <a:ln w="3810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" y="320040"/>
            <a:ext cx="11332159" cy="6217920"/>
          </a:xfrm>
          <a:prstGeom prst="roundRect">
            <a:avLst/>
          </a:prstGeom>
          <a:noFill/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3327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3327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"/>
            <a:ext cx="7772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7A1F1F"/>
                </a:solidFill>
                <a:latin typeface="Cinzel"/>
              </a:defRPr>
            </a:pPr>
            <a:r>
              <a:t>❖  CHAPTER I • 21ST CENTURY INQUIRY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9935" y="420624"/>
            <a:ext cx="2011680" cy="274320"/>
          </a:xfrm>
          <a:prstGeom prst="roundRect">
            <a:avLst/>
          </a:prstGeom>
          <a:solidFill>
            <a:srgbClr val="F1E4C3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4A3220"/>
                </a:solidFill>
                <a:latin typeface="Cinzel"/>
              </a:defRPr>
            </a:pPr>
            <a:r>
              <a:t>FOLIO I DE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115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A1A0E"/>
                </a:solidFill>
                <a:latin typeface="Cinzel Decorative"/>
              </a:defRPr>
            </a:pPr>
            <a:r>
              <a:t>IS GANDHIAN PHILOSOPHY STILL RELEVANT IN THE 21ST CENTURY?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44752"/>
            <a:ext cx="10911535" cy="13716"/>
          </a:xfrm>
          <a:prstGeom prst="rect">
            <a:avLst/>
          </a:prstGeom>
          <a:solidFill>
            <a:srgbClr val="B8862B"/>
          </a:solidFill>
          <a:ln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1527" y="1353312"/>
            <a:ext cx="5486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7A1F1F"/>
                </a:solidFill>
                <a:latin typeface="Georgia"/>
              </a:defRPr>
            </a:pPr>
            <a:r>
              <a:t>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36192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3D2717"/>
                </a:solidFill>
                <a:latin typeface="EB Garamond"/>
              </a:defRPr>
            </a:pPr>
            <a:r>
              <a:t>An Exploration of Truth, Non-Violence, and Moral Courage in the Modern 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20240"/>
            <a:ext cx="4099255" cy="3950208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7488936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1405311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7488936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11405311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2048256"/>
            <a:ext cx="3843223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653528" y="2121408"/>
            <a:ext cx="1554480" cy="219456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50" b="1">
                <a:solidFill>
                  <a:srgbClr val="F1E4C3"/>
                </a:solidFill>
                <a:latin typeface="Cinzel"/>
              </a:defRPr>
            </a:pPr>
            <a:r>
              <a:t>ARCHIVE • CH.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6" y="4178808"/>
            <a:ext cx="384322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i="1">
                <a:solidFill>
                  <a:srgbClr val="FAF4E6"/>
                </a:solidFill>
                <a:latin typeface="IM Fell English"/>
              </a:defRPr>
            </a:pPr>
            <a:r>
              <a:t>Mohandas Karamchand Gandhi (1869–1948) — Father of the Nation and apostle of non-violence.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0376" y="4754880"/>
            <a:ext cx="3843223" cy="100584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defRPr sz="850" b="1">
                <a:solidFill>
                  <a:srgbClr val="D4AF37"/>
                </a:solidFill>
                <a:latin typeface="Cinzel"/>
              </a:defRPr>
            </a:pPr>
            <a:r>
              <a:t>❝ DICTUM MAHATMA GANDHI</a:t>
            </a:r>
          </a:p>
          <a:p>
            <a:pPr>
              <a:defRPr sz="1050" i="1">
                <a:solidFill>
                  <a:srgbClr val="F1E4C3"/>
                </a:solidFill>
                <a:latin typeface="IM Fell English"/>
              </a:defRPr>
            </a:pPr>
            <a:r>
              <a:t>"My life is my message."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1920240"/>
            <a:ext cx="6492240" cy="100584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199339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1975104"/>
            <a:ext cx="5815584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Gandhi Jayanti, 2 October — Commemorating the global heritage of peace and truth.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017520"/>
            <a:ext cx="6492240" cy="100584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8" y="309067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3072384"/>
            <a:ext cx="5815584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Mohandas Karamchand Gandhi, 1869–1948 — Leader of India's non-violent freedom movement.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6492240" cy="100584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8" y="418795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169664"/>
            <a:ext cx="5815584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Presented by [Your Name] — Examining the enduring relevance of Gandhian ideals today.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367528"/>
            <a:ext cx="6492240" cy="50292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050" b="1">
                <a:solidFill>
                  <a:srgbClr val="D4AF37"/>
                </a:solidFill>
                <a:latin typeface="Cinzel"/>
              </a:defRPr>
            </a:pPr>
            <a:r>
              <a:t>❖  PRESENTED BY [YOUR NAME]       —       IN MEMORIAM MAHATMA GANDHI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163056"/>
            <a:ext cx="10911535" cy="13716"/>
          </a:xfrm>
          <a:prstGeom prst="rect">
            <a:avLst/>
          </a:prstGeom>
          <a:solidFill>
            <a:srgbClr val="7A1F1F"/>
          </a:solidFill>
          <a:ln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217920"/>
            <a:ext cx="3474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7A1F1F"/>
                </a:solidFill>
                <a:latin typeface="Cinzel"/>
              </a:defRPr>
            </a:pPr>
            <a:r>
              <a:t>❖  GANDHI JAYANTI • II OCTOBER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6217920"/>
            <a:ext cx="41148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7A1F1F"/>
                </a:solidFill>
                <a:latin typeface="Cinzel"/>
              </a:defRPr>
            </a:pPr>
            <a:r>
              <a:t>TRUTH  •  NON-VIOLENCE  •  PEACE  •  DIGNITY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9935" y="6217920"/>
            <a:ext cx="2011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A3220"/>
                </a:solidFill>
                <a:latin typeface="Cinzel"/>
              </a:defRPr>
            </a:pPr>
            <a:r>
              <a:t>FOLIO I / X  ❖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3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6" dur="35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35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0E"/>
          </a:solidFill>
          <a:ln>
            <a:solidFill>
              <a:srgbClr val="2A1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60175" cy="6345936"/>
          </a:xfrm>
          <a:prstGeom prst="roundRect">
            <a:avLst/>
          </a:prstGeom>
          <a:solidFill>
            <a:srgbClr val="FAF4E6"/>
          </a:solidFill>
          <a:ln w="3810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" y="320040"/>
            <a:ext cx="11332159" cy="6217920"/>
          </a:xfrm>
          <a:prstGeom prst="roundRect">
            <a:avLst/>
          </a:prstGeom>
          <a:noFill/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3327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3327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"/>
            <a:ext cx="7772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7A1F1F"/>
                </a:solidFill>
                <a:latin typeface="Cinzel"/>
              </a:defRPr>
            </a:pPr>
            <a:r>
              <a:t>❖  CHAPTER II • IDENTITY &amp; LEGACY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9935" y="420624"/>
            <a:ext cx="2011680" cy="274320"/>
          </a:xfrm>
          <a:prstGeom prst="roundRect">
            <a:avLst/>
          </a:prstGeom>
          <a:solidFill>
            <a:srgbClr val="F1E4C3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4A3220"/>
                </a:solidFill>
                <a:latin typeface="Cinzel"/>
              </a:defRPr>
            </a:pPr>
            <a:r>
              <a:t>FOLIO II DE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115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A1A0E"/>
                </a:solidFill>
                <a:latin typeface="Cinzel Decorative"/>
              </a:defRPr>
            </a:pPr>
            <a:r>
              <a:t>WHO WAS GANDHI?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44752"/>
            <a:ext cx="10911535" cy="13716"/>
          </a:xfrm>
          <a:prstGeom prst="rect">
            <a:avLst/>
          </a:prstGeom>
          <a:solidFill>
            <a:srgbClr val="B8862B"/>
          </a:solidFill>
          <a:ln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1527" y="1353312"/>
            <a:ext cx="5486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7A1F1F"/>
                </a:solidFill>
                <a:latin typeface="Georgia"/>
              </a:defRPr>
            </a:pPr>
            <a:r>
              <a:t>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36192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3D2717"/>
                </a:solidFill>
                <a:latin typeface="EB Garamond"/>
              </a:defRPr>
            </a:pPr>
            <a:r>
              <a:t>From a Young Barrister in London to the Leader of a Global Movement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920240"/>
            <a:ext cx="4099255" cy="3950208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676656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4593031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656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4593031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3843223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41248" y="2121408"/>
            <a:ext cx="1554480" cy="219456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50" b="1">
                <a:solidFill>
                  <a:srgbClr val="F1E4C3"/>
                </a:solidFill>
                <a:latin typeface="Cinzel"/>
              </a:defRPr>
            </a:pPr>
            <a:r>
              <a:t>ARCHIVE • CH. 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178808"/>
            <a:ext cx="384322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i="1">
                <a:solidFill>
                  <a:srgbClr val="FAF4E6"/>
                </a:solidFill>
                <a:latin typeface="IM Fell English"/>
              </a:defRPr>
            </a:pPr>
            <a:r>
              <a:t>Gandhi, London, 1931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4754880"/>
            <a:ext cx="3843223" cy="100584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defRPr sz="850" b="1">
                <a:solidFill>
                  <a:srgbClr val="D4AF37"/>
                </a:solidFill>
                <a:latin typeface="Cinzel"/>
              </a:defRPr>
            </a:pPr>
            <a:r>
              <a:t>❝ DICTUM MAHATMA GANDHI</a:t>
            </a:r>
          </a:p>
          <a:p>
            <a:pPr>
              <a:defRPr sz="1050" i="1">
                <a:solidFill>
                  <a:srgbClr val="F1E4C3"/>
                </a:solidFill>
                <a:latin typeface="IM Fell English"/>
              </a:defRPr>
            </a:pPr>
            <a:r>
              <a:t>"In a gentle way, you can shake the world."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59375" y="1920240"/>
            <a:ext cx="6492240" cy="716889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69103" y="199339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6303" y="1975104"/>
            <a:ext cx="5815584" cy="6071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A1A0E"/>
                </a:solidFill>
                <a:latin typeface="EB Garamond"/>
              </a:defRPr>
            </a:pPr>
            <a:r>
              <a:t>Born 2 October 1869 in Porbandar, Gujarat, India.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9375" y="2728569"/>
            <a:ext cx="6492240" cy="716889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69103" y="2801721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6303" y="2783433"/>
            <a:ext cx="5815584" cy="6071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A1A0E"/>
                </a:solidFill>
                <a:latin typeface="EB Garamond"/>
              </a:defRPr>
            </a:pPr>
            <a:r>
              <a:t>Trained as a lawyer in London at the Inner Temple.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9375" y="3536899"/>
            <a:ext cx="6492240" cy="716889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69103" y="3610051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6303" y="3591763"/>
            <a:ext cx="5815584" cy="6071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A1A0E"/>
                </a:solidFill>
                <a:latin typeface="EB Garamond"/>
              </a:defRPr>
            </a:pPr>
            <a:r>
              <a:t>Led India's historic non-violent freedom struggle against colonial rule.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9375" y="4345228"/>
            <a:ext cx="6492240" cy="716889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69103" y="4418380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6303" y="4400092"/>
            <a:ext cx="5815584" cy="6071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A1A0E"/>
                </a:solidFill>
                <a:latin typeface="EB Garamond"/>
              </a:defRPr>
            </a:pPr>
            <a:r>
              <a:t>Called Mahatma ('Great Soul') and affectionately revered as Bapu ('Father').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59375" y="5153558"/>
            <a:ext cx="6492240" cy="716889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169103" y="5226710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6303" y="5208422"/>
            <a:ext cx="5815584" cy="6071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2A1A0E"/>
                </a:solidFill>
                <a:latin typeface="EB Garamond"/>
              </a:defRPr>
            </a:pPr>
            <a:r>
              <a:t>The central question: do his ideas and methods still work in today's complex world?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163056"/>
            <a:ext cx="10911535" cy="13716"/>
          </a:xfrm>
          <a:prstGeom prst="rect">
            <a:avLst/>
          </a:prstGeom>
          <a:solidFill>
            <a:srgbClr val="7A1F1F"/>
          </a:solidFill>
          <a:ln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217920"/>
            <a:ext cx="3474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7A1F1F"/>
                </a:solidFill>
                <a:latin typeface="Cinzel"/>
              </a:defRPr>
            </a:pPr>
            <a:r>
              <a:t>❖  GANDHI JAYANTI • II OCTOBER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6217920"/>
            <a:ext cx="41148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7A1F1F"/>
                </a:solidFill>
                <a:latin typeface="Cinzel"/>
              </a:defRPr>
            </a:pPr>
            <a:r>
              <a:t>TRUTH  •  NON-VIOLENCE  •  PEACE  •  DIGNITY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39935" y="6217920"/>
            <a:ext cx="2011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A3220"/>
                </a:solidFill>
                <a:latin typeface="Cinzel"/>
              </a:defRPr>
            </a:pPr>
            <a:r>
              <a:t>FOLIO II / X  ❖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3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6" dur="35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35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" dur="35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35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0E"/>
          </a:solidFill>
          <a:ln>
            <a:solidFill>
              <a:srgbClr val="2A1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60175" cy="6345936"/>
          </a:xfrm>
          <a:prstGeom prst="roundRect">
            <a:avLst/>
          </a:prstGeom>
          <a:solidFill>
            <a:srgbClr val="FAF4E6"/>
          </a:solidFill>
          <a:ln w="3810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" y="320040"/>
            <a:ext cx="11332159" cy="6217920"/>
          </a:xfrm>
          <a:prstGeom prst="roundRect">
            <a:avLst/>
          </a:prstGeom>
          <a:noFill/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3327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3327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"/>
            <a:ext cx="7772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7A1F1F"/>
                </a:solidFill>
                <a:latin typeface="Cinzel"/>
              </a:defRPr>
            </a:pPr>
            <a:r>
              <a:t>❖  CHAPTER III • PHILOSOPHICAL PILLARS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9935" y="420624"/>
            <a:ext cx="2011680" cy="274320"/>
          </a:xfrm>
          <a:prstGeom prst="roundRect">
            <a:avLst/>
          </a:prstGeom>
          <a:solidFill>
            <a:srgbClr val="F1E4C3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4A3220"/>
                </a:solidFill>
                <a:latin typeface="Cinzel"/>
              </a:defRPr>
            </a:pPr>
            <a:r>
              <a:t>FOLIO III DE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115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A1A0E"/>
                </a:solidFill>
                <a:latin typeface="Cinzel Decorative"/>
              </a:defRPr>
            </a:pPr>
            <a:r>
              <a:t>THE CORE IDEAS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44752"/>
            <a:ext cx="10911535" cy="13716"/>
          </a:xfrm>
          <a:prstGeom prst="rect">
            <a:avLst/>
          </a:prstGeom>
          <a:solidFill>
            <a:srgbClr val="B8862B"/>
          </a:solidFill>
          <a:ln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1527" y="1353312"/>
            <a:ext cx="5486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7A1F1F"/>
                </a:solidFill>
                <a:latin typeface="Georgia"/>
              </a:defRPr>
            </a:pPr>
            <a:r>
              <a:t>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36192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3D2717"/>
                </a:solidFill>
                <a:latin typeface="EB Garamond"/>
              </a:defRPr>
            </a:pPr>
            <a:r>
              <a:t>The Timeless Foundations of Gandhian Philosophy and Ethics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20240"/>
            <a:ext cx="4099255" cy="3950208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7488936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1405311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7488936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11405311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2048256"/>
            <a:ext cx="3843223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653528" y="2121408"/>
            <a:ext cx="1554480" cy="219456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50" b="1">
                <a:solidFill>
                  <a:srgbClr val="F1E4C3"/>
                </a:solidFill>
                <a:latin typeface="Cinzel"/>
              </a:defRPr>
            </a:pPr>
            <a:r>
              <a:t>ARCHIVE • CH. III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6" y="4178808"/>
            <a:ext cx="384322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i="1">
                <a:solidFill>
                  <a:srgbClr val="FAF4E6"/>
                </a:solidFill>
                <a:latin typeface="IM Fell English"/>
              </a:defRPr>
            </a:pPr>
            <a:r>
              <a:t>Gandhi and Kasturba, South Africa, 1902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0376" y="4754880"/>
            <a:ext cx="3843223" cy="100584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defRPr sz="850" b="1">
                <a:solidFill>
                  <a:srgbClr val="D4AF37"/>
                </a:solidFill>
                <a:latin typeface="Cinzel"/>
              </a:defRPr>
            </a:pPr>
            <a:r>
              <a:t>❝ DICTUM MAHATMA GANDHI</a:t>
            </a:r>
          </a:p>
          <a:p>
            <a:pPr>
              <a:defRPr sz="1050" i="1">
                <a:solidFill>
                  <a:srgbClr val="F1E4C3"/>
                </a:solidFill>
                <a:latin typeface="IM Fell English"/>
              </a:defRPr>
            </a:pPr>
            <a:r>
              <a:t>"Truth is the sovereign principle, which includes numerous other principles."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1920240"/>
            <a:ext cx="6492240" cy="582168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199339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1975104"/>
            <a:ext cx="5815584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A1A0E"/>
                </a:solidFill>
                <a:latin typeface="EB Garamond"/>
              </a:defRPr>
            </a:pPr>
            <a:r>
              <a:t>Satya (Truth) — Absolute adherence to truth and honesty in thought, word, and deed.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593848"/>
            <a:ext cx="6492240" cy="582168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8" y="2667000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2648712"/>
            <a:ext cx="5815584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A1A0E"/>
                </a:solidFill>
                <a:latin typeface="EB Garamond"/>
              </a:defRPr>
            </a:pPr>
            <a:r>
              <a:t>Ahimsa (Non-violence) — Active love, compassion, and refraining from harm against any living being.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267456"/>
            <a:ext cx="6492240" cy="582168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8" y="3340608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3322320"/>
            <a:ext cx="5815584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A1A0E"/>
                </a:solidFill>
                <a:latin typeface="EB Garamond"/>
              </a:defRPr>
            </a:pPr>
            <a:r>
              <a:t>Satyagraha (Peaceful resistance) — Fearless soul-force standing firm against injustice without malice.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941064"/>
            <a:ext cx="6492240" cy="582168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9808" y="4014216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3995928"/>
            <a:ext cx="5815584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A1A0E"/>
                </a:solidFill>
                <a:latin typeface="EB Garamond"/>
              </a:defRPr>
            </a:pPr>
            <a:r>
              <a:t>Sarvodaya (Welfare of all) — Universal upliftment prioritizing the most vulnerable and marginalized.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614672"/>
            <a:ext cx="6492240" cy="582168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9808" y="4687824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07008" y="4669536"/>
            <a:ext cx="5815584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A1A0E"/>
                </a:solidFill>
                <a:latin typeface="EB Garamond"/>
              </a:defRPr>
            </a:pPr>
            <a:r>
              <a:t>Swadeshi (Self-reliance) — Fostering local production, community strength, and economic independence.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288280"/>
            <a:ext cx="6492240" cy="582168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9808" y="536143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8" y="5343144"/>
            <a:ext cx="5815584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A1A0E"/>
                </a:solidFill>
                <a:latin typeface="EB Garamond"/>
              </a:defRPr>
            </a:pPr>
            <a:r>
              <a:t>Simple living — Voluntary simplicity, mindful consumption, and harmony with the natural world.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163056"/>
            <a:ext cx="10911535" cy="13716"/>
          </a:xfrm>
          <a:prstGeom prst="rect">
            <a:avLst/>
          </a:prstGeom>
          <a:solidFill>
            <a:srgbClr val="7A1F1F"/>
          </a:solidFill>
          <a:ln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217920"/>
            <a:ext cx="3474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7A1F1F"/>
                </a:solidFill>
                <a:latin typeface="Cinzel"/>
              </a:defRPr>
            </a:pPr>
            <a:r>
              <a:t>❖  GANDHI JAYANTI • II OCTOBER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6217920"/>
            <a:ext cx="41148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7A1F1F"/>
                </a:solidFill>
                <a:latin typeface="Cinzel"/>
              </a:defRPr>
            </a:pPr>
            <a:r>
              <a:t>TRUTH  •  NON-VIOLENCE  •  PEACE  •  DIGNITY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9935" y="6217920"/>
            <a:ext cx="2011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A3220"/>
                </a:solidFill>
                <a:latin typeface="Cinzel"/>
              </a:defRPr>
            </a:pPr>
            <a:r>
              <a:t>FOLIO III / X  ❖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3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6" dur="35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35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" dur="35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35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4" dur="35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0E"/>
          </a:solidFill>
          <a:ln>
            <a:solidFill>
              <a:srgbClr val="2A1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60175" cy="6345936"/>
          </a:xfrm>
          <a:prstGeom prst="roundRect">
            <a:avLst/>
          </a:prstGeom>
          <a:solidFill>
            <a:srgbClr val="FAF4E6"/>
          </a:solidFill>
          <a:ln w="3810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" y="320040"/>
            <a:ext cx="11332159" cy="6217920"/>
          </a:xfrm>
          <a:prstGeom prst="roundRect">
            <a:avLst/>
          </a:prstGeom>
          <a:noFill/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3327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3327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"/>
            <a:ext cx="7772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7A1F1F"/>
                </a:solidFill>
                <a:latin typeface="Cinzel"/>
              </a:defRPr>
            </a:pPr>
            <a:r>
              <a:t>❖  CHAPTER IV • 21ST CENTURY REALITIES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9935" y="420624"/>
            <a:ext cx="2011680" cy="274320"/>
          </a:xfrm>
          <a:prstGeom prst="roundRect">
            <a:avLst/>
          </a:prstGeom>
          <a:solidFill>
            <a:srgbClr val="F1E4C3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4A3220"/>
                </a:solidFill>
                <a:latin typeface="Cinzel"/>
              </a:defRPr>
            </a:pPr>
            <a:r>
              <a:t>FOLIO IV DE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115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A1A0E"/>
                </a:solidFill>
                <a:latin typeface="Cinzel Decorative"/>
              </a:defRPr>
            </a:pPr>
            <a:r>
              <a:t>THE WORLD WE LIVE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44752"/>
            <a:ext cx="10911535" cy="13716"/>
          </a:xfrm>
          <a:prstGeom prst="rect">
            <a:avLst/>
          </a:prstGeom>
          <a:solidFill>
            <a:srgbClr val="B8862B"/>
          </a:solidFill>
          <a:ln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1527" y="1353312"/>
            <a:ext cx="5486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7A1F1F"/>
                </a:solidFill>
                <a:latin typeface="Georgia"/>
              </a:defRPr>
            </a:pPr>
            <a:r>
              <a:t>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36192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3D2717"/>
                </a:solidFill>
                <a:latin typeface="EB Garamond"/>
              </a:defRPr>
            </a:pPr>
            <a:r>
              <a:t>The Urgent Humanitarian, Social, and Ecological Crises of Our 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920240"/>
            <a:ext cx="4099255" cy="3950208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676656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4593031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656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4593031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3843223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41248" y="2121408"/>
            <a:ext cx="1554480" cy="219456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50" b="1">
                <a:solidFill>
                  <a:srgbClr val="F1E4C3"/>
                </a:solidFill>
                <a:latin typeface="Cinzel"/>
              </a:defRPr>
            </a:pPr>
            <a:r>
              <a:t>ARCHIVE • CH. IV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178808"/>
            <a:ext cx="384322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i="1">
                <a:solidFill>
                  <a:srgbClr val="FAF4E6"/>
                </a:solidFill>
                <a:latin typeface="IM Fell English"/>
              </a:defRPr>
            </a:pPr>
            <a:r>
              <a:t>Gandhi and Nehru, Mumbai, 1946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4754880"/>
            <a:ext cx="3843223" cy="100584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defRPr sz="850" b="1">
                <a:solidFill>
                  <a:srgbClr val="D4AF37"/>
                </a:solidFill>
                <a:latin typeface="Cinzel"/>
              </a:defRPr>
            </a:pPr>
            <a:r>
              <a:t>❝ DICTUM MAHATMA GANDHI</a:t>
            </a:r>
          </a:p>
          <a:p>
            <a:pPr>
              <a:defRPr sz="1050" i="1">
                <a:solidFill>
                  <a:srgbClr val="F1E4C3"/>
                </a:solidFill>
                <a:latin typeface="IM Fell English"/>
              </a:defRPr>
            </a:pPr>
            <a:r>
              <a:t>"The world will live in peace only when the individuals composing it make up their minds to do so."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59375" y="1920240"/>
            <a:ext cx="6492240" cy="582168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69103" y="199339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6303" y="1975104"/>
            <a:ext cx="5815584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A1A0E"/>
                </a:solidFill>
                <a:latin typeface="EB Garamond"/>
              </a:defRPr>
            </a:pPr>
            <a:r>
              <a:t>Wars and conflict: Escalating geopolitical hostilities, armed warfare, and global instability.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9375" y="2593848"/>
            <a:ext cx="6492240" cy="582168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69103" y="2667000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6303" y="2648712"/>
            <a:ext cx="5815584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A1A0E"/>
                </a:solidFill>
                <a:latin typeface="EB Garamond"/>
              </a:defRPr>
            </a:pPr>
            <a:r>
              <a:t>Polarisation and hate online: Digital echo chambers, social fragmentation, and rising hostility.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9375" y="3267456"/>
            <a:ext cx="6492240" cy="582168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69103" y="3340608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6303" y="3322320"/>
            <a:ext cx="5815584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A1A0E"/>
                </a:solidFill>
                <a:latin typeface="EB Garamond"/>
              </a:defRPr>
            </a:pPr>
            <a:r>
              <a:t>Climate crisis: Global environmental degradation, extreme weather, and resource depletion.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9375" y="3941064"/>
            <a:ext cx="6492240" cy="582168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69103" y="4014216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6303" y="3995928"/>
            <a:ext cx="5815584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A1A0E"/>
                </a:solidFill>
                <a:latin typeface="EB Garamond"/>
              </a:defRPr>
            </a:pPr>
            <a:r>
              <a:t>Inequality: Widening socio-economic divides and unequal access to essential opportunities.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59375" y="4614672"/>
            <a:ext cx="6492240" cy="582168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169103" y="4687824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6303" y="4669536"/>
            <a:ext cx="5815584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A1A0E"/>
                </a:solidFill>
                <a:latin typeface="EB Garamond"/>
              </a:defRPr>
            </a:pPr>
            <a:r>
              <a:t>Misinformation: Rapid algorithmic dissemination of falsehoods eroding public trust.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59375" y="5288280"/>
            <a:ext cx="6492240" cy="582168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169103" y="536143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6303" y="5343144"/>
            <a:ext cx="5815584" cy="472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A1A0E"/>
                </a:solidFill>
                <a:latin typeface="EB Garamond"/>
              </a:defRPr>
            </a:pPr>
            <a:r>
              <a:t>Consumerism and waste: Hyper-materialistic lifestyles straining the planet's finite resources.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163056"/>
            <a:ext cx="10911535" cy="13716"/>
          </a:xfrm>
          <a:prstGeom prst="rect">
            <a:avLst/>
          </a:prstGeom>
          <a:solidFill>
            <a:srgbClr val="7A1F1F"/>
          </a:solidFill>
          <a:ln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217920"/>
            <a:ext cx="3474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7A1F1F"/>
                </a:solidFill>
                <a:latin typeface="Cinzel"/>
              </a:defRPr>
            </a:pPr>
            <a:r>
              <a:t>❖  GANDHI JAYANTI • II OCTOBER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6217920"/>
            <a:ext cx="41148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7A1F1F"/>
                </a:solidFill>
                <a:latin typeface="Cinzel"/>
              </a:defRPr>
            </a:pPr>
            <a:r>
              <a:t>TRUTH  •  NON-VIOLENCE  •  PEACE  •  DIGNITY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9935" y="6217920"/>
            <a:ext cx="2011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A3220"/>
                </a:solidFill>
                <a:latin typeface="Cinzel"/>
              </a:defRPr>
            </a:pPr>
            <a:r>
              <a:t>FOLIO IV / X  ❖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3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6" dur="35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35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" dur="35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35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4" dur="35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0E"/>
          </a:solidFill>
          <a:ln>
            <a:solidFill>
              <a:srgbClr val="2A1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60175" cy="6345936"/>
          </a:xfrm>
          <a:prstGeom prst="roundRect">
            <a:avLst/>
          </a:prstGeom>
          <a:solidFill>
            <a:srgbClr val="FAF4E6"/>
          </a:solidFill>
          <a:ln w="3810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" y="320040"/>
            <a:ext cx="11332159" cy="6217920"/>
          </a:xfrm>
          <a:prstGeom prst="roundRect">
            <a:avLst/>
          </a:prstGeom>
          <a:noFill/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3327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3327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"/>
            <a:ext cx="7772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7A1F1F"/>
                </a:solidFill>
                <a:latin typeface="Cinzel"/>
              </a:defRPr>
            </a:pPr>
            <a:r>
              <a:t>❖  CHAPTER V • POWER OF NON-VIOLENCE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9935" y="420624"/>
            <a:ext cx="2011680" cy="274320"/>
          </a:xfrm>
          <a:prstGeom prst="roundRect">
            <a:avLst/>
          </a:prstGeom>
          <a:solidFill>
            <a:srgbClr val="F1E4C3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4A3220"/>
                </a:solidFill>
                <a:latin typeface="Cinzel"/>
              </a:defRPr>
            </a:pPr>
            <a:r>
              <a:t>FOLIO V DE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115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A1A0E"/>
                </a:solidFill>
                <a:latin typeface="Cinzel Decorative"/>
              </a:defRPr>
            </a:pPr>
            <a:r>
              <a:t>AHIMSA IN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44752"/>
            <a:ext cx="10911535" cy="13716"/>
          </a:xfrm>
          <a:prstGeom prst="rect">
            <a:avLst/>
          </a:prstGeom>
          <a:solidFill>
            <a:srgbClr val="B8862B"/>
          </a:solidFill>
          <a:ln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1527" y="1353312"/>
            <a:ext cx="5486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7A1F1F"/>
                </a:solidFill>
                <a:latin typeface="Georgia"/>
              </a:defRPr>
            </a:pPr>
            <a:r>
              <a:t>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36192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3D2717"/>
                </a:solidFill>
                <a:latin typeface="EB Garamond"/>
              </a:defRPr>
            </a:pPr>
            <a:r>
              <a:t>How Non-Violent Resistance Transformed Global Civil Rights and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20240"/>
            <a:ext cx="4099255" cy="3950208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7488936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1405311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7488936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11405311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2048256"/>
            <a:ext cx="3843223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653528" y="2121408"/>
            <a:ext cx="1554480" cy="219456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50" b="1">
                <a:solidFill>
                  <a:srgbClr val="F1E4C3"/>
                </a:solidFill>
                <a:latin typeface="Cinzel"/>
              </a:defRPr>
            </a:pPr>
            <a:r>
              <a:t>ARCHIVE • CH. 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6" y="4178808"/>
            <a:ext cx="384322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i="1">
                <a:solidFill>
                  <a:srgbClr val="FAF4E6"/>
                </a:solidFill>
                <a:latin typeface="IM Fell English"/>
              </a:defRPr>
            </a:pPr>
            <a:r>
              <a:t>Gandhi with Abdul Ghaffar Khan, 1940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0376" y="4754880"/>
            <a:ext cx="3843223" cy="100584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defRPr sz="850" b="1">
                <a:solidFill>
                  <a:srgbClr val="D4AF37"/>
                </a:solidFill>
                <a:latin typeface="Cinzel"/>
              </a:defRPr>
            </a:pPr>
            <a:r>
              <a:t>❝ DICTUM MAHATMA GANDHI</a:t>
            </a:r>
          </a:p>
          <a:p>
            <a:pPr>
              <a:defRPr sz="1050" i="1">
                <a:solidFill>
                  <a:srgbClr val="F1E4C3"/>
                </a:solidFill>
                <a:latin typeface="IM Fell English"/>
              </a:defRPr>
            </a:pPr>
            <a:r>
              <a:t>"Non-violence is the greatest force at the disposal of mankind. — Mahatma Gandhi"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1920240"/>
            <a:ext cx="6492240" cy="100584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199339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1975104"/>
            <a:ext cx="5815584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The US civil rights movement (Martin Luther King Jr.) and South African anti-apartheid struggle (Nelson Mandela) drew deeply on Gandhian ideas.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017520"/>
            <a:ext cx="6492240" cy="100584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8" y="309067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3072384"/>
            <a:ext cx="5815584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Chenoweth and Stephan's study (analyzing 323 campaigns from 1900 to 2006) found non-violent campaigns succeeded more often than violent ones.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6492240" cy="100584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8" y="418795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169664"/>
            <a:ext cx="5815584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2 October is recognized internationally by the United Nations as the International Day of Non-Violence.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163056"/>
            <a:ext cx="10911535" cy="13716"/>
          </a:xfrm>
          <a:prstGeom prst="rect">
            <a:avLst/>
          </a:prstGeom>
          <a:solidFill>
            <a:srgbClr val="7A1F1F"/>
          </a:solidFill>
          <a:ln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217920"/>
            <a:ext cx="3474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7A1F1F"/>
                </a:solidFill>
                <a:latin typeface="Cinzel"/>
              </a:defRPr>
            </a:pPr>
            <a:r>
              <a:t>❖  GANDHI JAYANTI • II OCTOBER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6217920"/>
            <a:ext cx="41148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7A1F1F"/>
                </a:solidFill>
                <a:latin typeface="Cinzel"/>
              </a:defRPr>
            </a:pPr>
            <a:r>
              <a:t>TRUTH  •  NON-VIOLENCE  •  PEACE  •  DIGNITY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9935" y="6217920"/>
            <a:ext cx="2011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A3220"/>
                </a:solidFill>
                <a:latin typeface="Cinzel"/>
              </a:defRPr>
            </a:pPr>
            <a:r>
              <a:t>FOLIO V / X  ❖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3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6" dur="35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35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0E"/>
          </a:solidFill>
          <a:ln>
            <a:solidFill>
              <a:srgbClr val="2A1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60175" cy="6345936"/>
          </a:xfrm>
          <a:prstGeom prst="roundRect">
            <a:avLst/>
          </a:prstGeom>
          <a:solidFill>
            <a:srgbClr val="FAF4E6"/>
          </a:solidFill>
          <a:ln w="3810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" y="320040"/>
            <a:ext cx="11332159" cy="6217920"/>
          </a:xfrm>
          <a:prstGeom prst="roundRect">
            <a:avLst/>
          </a:prstGeom>
          <a:noFill/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3327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3327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"/>
            <a:ext cx="7772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7A1F1F"/>
                </a:solidFill>
                <a:latin typeface="Cinzel"/>
              </a:defRPr>
            </a:pPr>
            <a:r>
              <a:t>❖  CHAPTER VI • TRUTH IN THE DIGITAL 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9935" y="420624"/>
            <a:ext cx="2011680" cy="274320"/>
          </a:xfrm>
          <a:prstGeom prst="roundRect">
            <a:avLst/>
          </a:prstGeom>
          <a:solidFill>
            <a:srgbClr val="F1E4C3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4A3220"/>
                </a:solidFill>
                <a:latin typeface="Cinzel"/>
              </a:defRPr>
            </a:pPr>
            <a:r>
              <a:t>FOLIO VI DE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115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2A1A0E"/>
                </a:solidFill>
                <a:latin typeface="Cinzel Decorative"/>
              </a:defRPr>
            </a:pPr>
            <a:r>
              <a:t>SATYA IN THE AGE OF MISINFORMATION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44752"/>
            <a:ext cx="10911535" cy="13716"/>
          </a:xfrm>
          <a:prstGeom prst="rect">
            <a:avLst/>
          </a:prstGeom>
          <a:solidFill>
            <a:srgbClr val="B8862B"/>
          </a:solidFill>
          <a:ln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1527" y="1353312"/>
            <a:ext cx="5486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7A1F1F"/>
                </a:solidFill>
                <a:latin typeface="Georgia"/>
              </a:defRPr>
            </a:pPr>
            <a:r>
              <a:t>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36192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3D2717"/>
                </a:solidFill>
                <a:latin typeface="EB Garamond"/>
              </a:defRPr>
            </a:pPr>
            <a:r>
              <a:t>Practicing Discernment, Integrity, and Civil Dialogue in a Connected Society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920240"/>
            <a:ext cx="4099255" cy="3950208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676656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4593031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656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4593031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3843223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41248" y="2121408"/>
            <a:ext cx="1554480" cy="219456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50" b="1">
                <a:solidFill>
                  <a:srgbClr val="F1E4C3"/>
                </a:solidFill>
                <a:latin typeface="Cinzel"/>
              </a:defRPr>
            </a:pPr>
            <a:r>
              <a:t>ARCHIVE • CH. VI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178808"/>
            <a:ext cx="384322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i="1">
                <a:solidFill>
                  <a:srgbClr val="FAF4E6"/>
                </a:solidFill>
                <a:latin typeface="IM Fell English"/>
              </a:defRPr>
            </a:pPr>
            <a:r>
              <a:t>The Salt March, 1930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4754880"/>
            <a:ext cx="3843223" cy="100584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defRPr sz="850" b="1">
                <a:solidFill>
                  <a:srgbClr val="D4AF37"/>
                </a:solidFill>
                <a:latin typeface="Cinzel"/>
              </a:defRPr>
            </a:pPr>
            <a:r>
              <a:t>❝ DICTUM MAHATMA GANDHI</a:t>
            </a:r>
          </a:p>
          <a:p>
            <a:pPr>
              <a:defRPr sz="1050" i="1">
                <a:solidFill>
                  <a:srgbClr val="F1E4C3"/>
                </a:solidFill>
                <a:latin typeface="IM Fell English"/>
              </a:defRPr>
            </a:pPr>
            <a:r>
              <a:t>"Morality is the basis of things, and truth is the substance of all morality."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59375" y="1920240"/>
            <a:ext cx="6492240" cy="918972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69103" y="199339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6303" y="1975104"/>
            <a:ext cx="5815584" cy="809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Fake news spreads fast: Digital algorithms amplify sensationalism and falsehoods at unprecedented speed.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9375" y="2930652"/>
            <a:ext cx="6492240" cy="918972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69103" y="3003804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6303" y="2985516"/>
            <a:ext cx="5815584" cy="809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Verify before you speak or share: Upholding factual accuracy and critical thinking before disseminating information.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9375" y="3941064"/>
            <a:ext cx="6492240" cy="918972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69103" y="4014216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6303" y="3995928"/>
            <a:ext cx="5815584" cy="809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Truth-telling as a daily discipline: Living with intellectual honesty and moral transparency.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9375" y="4951476"/>
            <a:ext cx="6492240" cy="918972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69103" y="5024628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6303" y="5006340"/>
            <a:ext cx="5815584" cy="809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Dialogue instead of online outrage: Choosing constructive communication and empathy over reactionary anger.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163056"/>
            <a:ext cx="10911535" cy="13716"/>
          </a:xfrm>
          <a:prstGeom prst="rect">
            <a:avLst/>
          </a:prstGeom>
          <a:solidFill>
            <a:srgbClr val="7A1F1F"/>
          </a:solidFill>
          <a:ln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217920"/>
            <a:ext cx="3474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7A1F1F"/>
                </a:solidFill>
                <a:latin typeface="Cinzel"/>
              </a:defRPr>
            </a:pPr>
            <a:r>
              <a:t>❖  GANDHI JAYANTI • II OCTOBER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6217920"/>
            <a:ext cx="41148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7A1F1F"/>
                </a:solidFill>
                <a:latin typeface="Cinzel"/>
              </a:defRPr>
            </a:pPr>
            <a:r>
              <a:t>TRUTH  •  NON-VIOLENCE  •  PEACE  •  DIGNITY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39935" y="6217920"/>
            <a:ext cx="2011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A3220"/>
                </a:solidFill>
                <a:latin typeface="Cinzel"/>
              </a:defRPr>
            </a:pPr>
            <a:r>
              <a:t>FOLIO VI / X  ❖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3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6" dur="35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35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" dur="35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0E"/>
          </a:solidFill>
          <a:ln>
            <a:solidFill>
              <a:srgbClr val="2A1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60175" cy="6345936"/>
          </a:xfrm>
          <a:prstGeom prst="roundRect">
            <a:avLst/>
          </a:prstGeom>
          <a:solidFill>
            <a:srgbClr val="FAF4E6"/>
          </a:solidFill>
          <a:ln w="3810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" y="320040"/>
            <a:ext cx="11332159" cy="6217920"/>
          </a:xfrm>
          <a:prstGeom prst="roundRect">
            <a:avLst/>
          </a:prstGeom>
          <a:noFill/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3327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3327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"/>
            <a:ext cx="7772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7A1F1F"/>
                </a:solidFill>
                <a:latin typeface="Cinzel"/>
              </a:defRPr>
            </a:pPr>
            <a:r>
              <a:t>❖  CHAPTER VII • ECOLOGICAL WISDOM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9935" y="420624"/>
            <a:ext cx="2011680" cy="274320"/>
          </a:xfrm>
          <a:prstGeom prst="roundRect">
            <a:avLst/>
          </a:prstGeom>
          <a:solidFill>
            <a:srgbClr val="F1E4C3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4A3220"/>
                </a:solidFill>
                <a:latin typeface="Cinzel"/>
              </a:defRPr>
            </a:pPr>
            <a:r>
              <a:t>FOLIO VII DE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115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A1A0E"/>
                </a:solidFill>
                <a:latin typeface="Cinzel Decorative"/>
              </a:defRPr>
            </a:pPr>
            <a:r>
              <a:t>SIMPLE LIVING AND THE PLANET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44752"/>
            <a:ext cx="10911535" cy="13716"/>
          </a:xfrm>
          <a:prstGeom prst="rect">
            <a:avLst/>
          </a:prstGeom>
          <a:solidFill>
            <a:srgbClr val="B8862B"/>
          </a:solidFill>
          <a:ln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1527" y="1353312"/>
            <a:ext cx="5486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7A1F1F"/>
                </a:solidFill>
                <a:latin typeface="Georgia"/>
              </a:defRPr>
            </a:pPr>
            <a:r>
              <a:t>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36192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3D2717"/>
                </a:solidFill>
                <a:latin typeface="EB Garamond"/>
              </a:defRPr>
            </a:pPr>
            <a:r>
              <a:t>Sustainable Living, Mindful Consumption, and Climate Responsibility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20240"/>
            <a:ext cx="4099255" cy="3950208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7488936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1405311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7488936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11405311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2048256"/>
            <a:ext cx="3843223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653528" y="2121408"/>
            <a:ext cx="1554480" cy="219456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50" b="1">
                <a:solidFill>
                  <a:srgbClr val="F1E4C3"/>
                </a:solidFill>
                <a:latin typeface="Cinzel"/>
              </a:defRPr>
            </a:pPr>
            <a:r>
              <a:t>ARCHIVE • CH. VII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6" y="4178808"/>
            <a:ext cx="384322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i="1">
                <a:solidFill>
                  <a:srgbClr val="FAF4E6"/>
                </a:solidFill>
                <a:latin typeface="IM Fell English"/>
              </a:defRPr>
            </a:pPr>
            <a:r>
              <a:t>Gandhi at Dandi, 5 April 1930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0376" y="4754880"/>
            <a:ext cx="3843223" cy="100584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defRPr sz="850" b="1">
                <a:solidFill>
                  <a:srgbClr val="D4AF37"/>
                </a:solidFill>
                <a:latin typeface="Cinzel"/>
              </a:defRPr>
            </a:pPr>
            <a:r>
              <a:t>❝ DICTUM MAHATMA GANDHI</a:t>
            </a:r>
          </a:p>
          <a:p>
            <a:pPr>
              <a:defRPr sz="1050" i="1">
                <a:solidFill>
                  <a:srgbClr val="F1E4C3"/>
                </a:solidFill>
                <a:latin typeface="IM Fell English"/>
              </a:defRPr>
            </a:pPr>
            <a:r>
              <a:t>"The earth provides enough to satisfy every man's needs, but not every man's greed."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1920240"/>
            <a:ext cx="6492240" cy="100584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199339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1975104"/>
            <a:ext cx="5815584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'The earth provides enough for everyone's needs, but not everyone's greed' (attributed to Gandhi).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017520"/>
            <a:ext cx="6492240" cy="100584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8" y="309067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3072384"/>
            <a:ext cx="5815584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Direct links to modern sustainability, conscious minimalism, and circular resource use.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6492240" cy="100584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8" y="418795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169664"/>
            <a:ext cx="5815584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India's Mission LiFE (Lifestyle for Environment) actively promotes individual and community eco-friendly lifestyles.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163056"/>
            <a:ext cx="10911535" cy="13716"/>
          </a:xfrm>
          <a:prstGeom prst="rect">
            <a:avLst/>
          </a:prstGeom>
          <a:solidFill>
            <a:srgbClr val="7A1F1F"/>
          </a:solidFill>
          <a:ln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217920"/>
            <a:ext cx="3474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7A1F1F"/>
                </a:solidFill>
                <a:latin typeface="Cinzel"/>
              </a:defRPr>
            </a:pPr>
            <a:r>
              <a:t>❖  GANDHI JAYANTI • II OCTOBER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6217920"/>
            <a:ext cx="41148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7A1F1F"/>
                </a:solidFill>
                <a:latin typeface="Cinzel"/>
              </a:defRPr>
            </a:pPr>
            <a:r>
              <a:t>TRUTH  •  NON-VIOLENCE  •  PEACE  •  DIGNITY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9935" y="6217920"/>
            <a:ext cx="2011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A3220"/>
                </a:solidFill>
                <a:latin typeface="Cinzel"/>
              </a:defRPr>
            </a:pPr>
            <a:r>
              <a:t>FOLIO VII / X  ❖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3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6" dur="35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35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0E"/>
          </a:solidFill>
          <a:ln>
            <a:solidFill>
              <a:srgbClr val="2A1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60175" cy="6345936"/>
          </a:xfrm>
          <a:prstGeom prst="roundRect">
            <a:avLst/>
          </a:prstGeom>
          <a:solidFill>
            <a:srgbClr val="FAF4E6"/>
          </a:solidFill>
          <a:ln w="3810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" y="320040"/>
            <a:ext cx="11332159" cy="6217920"/>
          </a:xfrm>
          <a:prstGeom prst="roundRect">
            <a:avLst/>
          </a:prstGeom>
          <a:noFill/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3327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3327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"/>
            <a:ext cx="7772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7A1F1F"/>
                </a:solidFill>
                <a:latin typeface="Cinzel"/>
              </a:defRPr>
            </a:pPr>
            <a:r>
              <a:t>❖  CHAPTER VIII • LOCAL ECONOMIES &amp; DIGNITY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9935" y="420624"/>
            <a:ext cx="2011680" cy="274320"/>
          </a:xfrm>
          <a:prstGeom prst="roundRect">
            <a:avLst/>
          </a:prstGeom>
          <a:solidFill>
            <a:srgbClr val="F1E4C3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4A3220"/>
                </a:solidFill>
                <a:latin typeface="Cinzel"/>
              </a:defRPr>
            </a:pPr>
            <a:r>
              <a:t>FOLIO VIII DE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115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A1A0E"/>
                </a:solidFill>
                <a:latin typeface="Cinzel Decorative"/>
              </a:defRPr>
            </a:pPr>
            <a:r>
              <a:t>SWADESHI AND SARVODAYA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44752"/>
            <a:ext cx="10911535" cy="13716"/>
          </a:xfrm>
          <a:prstGeom prst="rect">
            <a:avLst/>
          </a:prstGeom>
          <a:solidFill>
            <a:srgbClr val="B8862B"/>
          </a:solidFill>
          <a:ln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1527" y="1353312"/>
            <a:ext cx="5486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7A1F1F"/>
                </a:solidFill>
                <a:latin typeface="Georgia"/>
              </a:defRPr>
            </a:pPr>
            <a:r>
              <a:t>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36192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3D2717"/>
                </a:solidFill>
                <a:latin typeface="EB Garamond"/>
              </a:defRPr>
            </a:pPr>
            <a:r>
              <a:t>Grassroots Empowerment, Inclusive Growth, and Universal Cleanliness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920240"/>
            <a:ext cx="4099255" cy="3950208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676656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4593031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656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4593031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3843223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41248" y="2121408"/>
            <a:ext cx="1554480" cy="219456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50" b="1">
                <a:solidFill>
                  <a:srgbClr val="F1E4C3"/>
                </a:solidFill>
                <a:latin typeface="Cinzel"/>
              </a:defRPr>
            </a:pPr>
            <a:r>
              <a:t>ARCHIVE • CH. VIII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178808"/>
            <a:ext cx="384322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i="1">
                <a:solidFill>
                  <a:srgbClr val="FAF4E6"/>
                </a:solidFill>
                <a:latin typeface="IM Fell English"/>
              </a:defRPr>
            </a:pPr>
            <a:r>
              <a:t>Gandhi and Nehru, Quit India session, 1942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4754880"/>
            <a:ext cx="3843223" cy="100584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defRPr sz="850" b="1">
                <a:solidFill>
                  <a:srgbClr val="D4AF37"/>
                </a:solidFill>
                <a:latin typeface="Cinzel"/>
              </a:defRPr>
            </a:pPr>
            <a:r>
              <a:t>❝ DICTUM MAHATMA GANDHI</a:t>
            </a:r>
          </a:p>
          <a:p>
            <a:pPr>
              <a:defRPr sz="1050" i="1">
                <a:solidFill>
                  <a:srgbClr val="F1E4C3"/>
                </a:solidFill>
                <a:latin typeface="IM Fell English"/>
              </a:defRPr>
            </a:pPr>
            <a:r>
              <a:t>"Recall the face of the poorest and the weakest person you have seen, and ask if your step will be of any use to them."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59375" y="1920240"/>
            <a:ext cx="6492240" cy="918972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69103" y="199339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6303" y="1975104"/>
            <a:ext cx="5815584" cy="809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Local economies and self-reliance: Strengthening local supply networks and supporting homegrown enterprise.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9375" y="2930652"/>
            <a:ext cx="6492240" cy="918972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69103" y="3003804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6303" y="2985516"/>
            <a:ext cx="5815584" cy="809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Khadi and village industries: Empowering rural artisans and promoting eco-conscious handloom textiles.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9375" y="3941064"/>
            <a:ext cx="6492240" cy="918972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69103" y="4014216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6303" y="3995928"/>
            <a:ext cx="5815584" cy="809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Inclusion and dignity for all: Ensuring that progress uplift the most disadvantaged in society.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9375" y="4951476"/>
            <a:ext cx="6492240" cy="918972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69103" y="5024628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6303" y="5006340"/>
            <a:ext cx="5815584" cy="809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Swachh Bharat Abhiyan: A nationwide sanitation and cleanliness movement launched on Gandhi Jayanti (2 Oct 2014).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163056"/>
            <a:ext cx="10911535" cy="13716"/>
          </a:xfrm>
          <a:prstGeom prst="rect">
            <a:avLst/>
          </a:prstGeom>
          <a:solidFill>
            <a:srgbClr val="7A1F1F"/>
          </a:solidFill>
          <a:ln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217920"/>
            <a:ext cx="3474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7A1F1F"/>
                </a:solidFill>
                <a:latin typeface="Cinzel"/>
              </a:defRPr>
            </a:pPr>
            <a:r>
              <a:t>❖  GANDHI JAYANTI • II OCTOBER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6217920"/>
            <a:ext cx="41148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7A1F1F"/>
                </a:solidFill>
                <a:latin typeface="Cinzel"/>
              </a:defRPr>
            </a:pPr>
            <a:r>
              <a:t>TRUTH  •  NON-VIOLENCE  •  PEACE  •  DIGNITY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39935" y="6217920"/>
            <a:ext cx="2011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A3220"/>
                </a:solidFill>
                <a:latin typeface="Cinzel"/>
              </a:defRPr>
            </a:pPr>
            <a:r>
              <a:t>FOLIO VIII / X  ❖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3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6" dur="35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35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" dur="35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0E"/>
          </a:solidFill>
          <a:ln>
            <a:solidFill>
              <a:srgbClr val="2A1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60175" cy="6345936"/>
          </a:xfrm>
          <a:prstGeom prst="roundRect">
            <a:avLst/>
          </a:prstGeom>
          <a:solidFill>
            <a:srgbClr val="FAF4E6"/>
          </a:solidFill>
          <a:ln w="3810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" y="320040"/>
            <a:ext cx="11332159" cy="6217920"/>
          </a:xfrm>
          <a:prstGeom prst="roundRect">
            <a:avLst/>
          </a:prstGeom>
          <a:noFill/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3327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3327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"/>
            <a:ext cx="7772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7A1F1F"/>
                </a:solidFill>
                <a:latin typeface="Cinzel"/>
              </a:defRPr>
            </a:pPr>
            <a:r>
              <a:t>❖  CHAPTER IX • CRITICAL PERSPECTIVE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9935" y="420624"/>
            <a:ext cx="2011680" cy="274320"/>
          </a:xfrm>
          <a:prstGeom prst="roundRect">
            <a:avLst/>
          </a:prstGeom>
          <a:solidFill>
            <a:srgbClr val="F1E4C3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4A3220"/>
                </a:solidFill>
                <a:latin typeface="Cinzel"/>
              </a:defRPr>
            </a:pPr>
            <a:r>
              <a:t>FOLIO IX DE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115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A1A0E"/>
                </a:solidFill>
                <a:latin typeface="Cinzel Decorative"/>
              </a:defRPr>
            </a:pPr>
            <a:r>
              <a:t>LIMITS AND CRITICISMS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44752"/>
            <a:ext cx="10911535" cy="13716"/>
          </a:xfrm>
          <a:prstGeom prst="rect">
            <a:avLst/>
          </a:prstGeom>
          <a:solidFill>
            <a:srgbClr val="B8862B"/>
          </a:solidFill>
          <a:ln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1527" y="1353312"/>
            <a:ext cx="5486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7A1F1F"/>
                </a:solidFill>
                <a:latin typeface="Georgia"/>
              </a:defRPr>
            </a:pPr>
            <a:r>
              <a:t>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36192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3D2717"/>
                </a:solidFill>
                <a:latin typeface="EB Garamond"/>
              </a:defRPr>
            </a:pPr>
            <a:r>
              <a:t>Nuance, Context, and Thoughtful Adaptation in the Modern 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20240"/>
            <a:ext cx="4099255" cy="3950208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7488936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1405311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7488936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11405311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2048256"/>
            <a:ext cx="3843223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653528" y="2121408"/>
            <a:ext cx="1554480" cy="219456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50" b="1">
                <a:solidFill>
                  <a:srgbClr val="F1E4C3"/>
                </a:solidFill>
                <a:latin typeface="Cinzel"/>
              </a:defRPr>
            </a:pPr>
            <a:r>
              <a:t>ARCHIVE • CH. 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6" y="4178808"/>
            <a:ext cx="384322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i="1">
                <a:solidFill>
                  <a:srgbClr val="FAF4E6"/>
                </a:solidFill>
                <a:latin typeface="IM Fell English"/>
              </a:defRPr>
            </a:pPr>
            <a:r>
              <a:t>Portrait, late 1930s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0376" y="4754880"/>
            <a:ext cx="3843223" cy="100584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defRPr sz="850" b="1">
                <a:solidFill>
                  <a:srgbClr val="D4AF37"/>
                </a:solidFill>
                <a:latin typeface="Cinzel"/>
              </a:defRPr>
            </a:pPr>
            <a:r>
              <a:t>❝ DICTUM MAHATMA GANDHI</a:t>
            </a:r>
          </a:p>
          <a:p>
            <a:pPr>
              <a:defRPr sz="1050" i="1">
                <a:solidFill>
                  <a:srgbClr val="F1E4C3"/>
                </a:solidFill>
                <a:latin typeface="IM Fell English"/>
              </a:defRPr>
            </a:pPr>
            <a:r>
              <a:t>"I want the cultures of all lands to be blown about my house as freely as possible, but I refuse to be blown off my feet."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1920240"/>
            <a:ext cx="6492240" cy="100584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199339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1975104"/>
            <a:ext cx="5815584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Non-violence alone may not be enough when confronting extreme violence and ruthless authoritarian regimes.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017520"/>
            <a:ext cx="6492240" cy="100584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8" y="309067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3072384"/>
            <a:ext cx="5815584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Some of Gandhi's views (on caste and race during his early South Africa years) are legitimately criticised.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6492240" cy="100584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8" y="418795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169664"/>
            <a:ext cx="5815584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Ideas need thoughtful application and dynamic adaptation, not rigid or blind copying.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163056"/>
            <a:ext cx="10911535" cy="13716"/>
          </a:xfrm>
          <a:prstGeom prst="rect">
            <a:avLst/>
          </a:prstGeom>
          <a:solidFill>
            <a:srgbClr val="7A1F1F"/>
          </a:solidFill>
          <a:ln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217920"/>
            <a:ext cx="3474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7A1F1F"/>
                </a:solidFill>
                <a:latin typeface="Cinzel"/>
              </a:defRPr>
            </a:pPr>
            <a:r>
              <a:t>❖  GANDHI JAYANTI • II OCTOBER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6217920"/>
            <a:ext cx="41148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7A1F1F"/>
                </a:solidFill>
                <a:latin typeface="Cinzel"/>
              </a:defRPr>
            </a:pPr>
            <a:r>
              <a:t>TRUTH  •  NON-VIOLENCE  •  PEACE  •  DIGNITY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9935" y="6217920"/>
            <a:ext cx="2011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A3220"/>
                </a:solidFill>
                <a:latin typeface="Cinzel"/>
              </a:defRPr>
            </a:pPr>
            <a:r>
              <a:t>FOLIO IX / X  ❖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3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6" dur="35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35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0E"/>
          </a:solidFill>
          <a:ln>
            <a:solidFill>
              <a:srgbClr val="2A1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60175" cy="6345936"/>
          </a:xfrm>
          <a:prstGeom prst="roundRect">
            <a:avLst/>
          </a:prstGeom>
          <a:solidFill>
            <a:srgbClr val="FAF4E6"/>
          </a:solidFill>
          <a:ln w="3810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" y="320040"/>
            <a:ext cx="11332159" cy="6217920"/>
          </a:xfrm>
          <a:prstGeom prst="roundRect">
            <a:avLst/>
          </a:prstGeom>
          <a:noFill/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3327" y="347472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3327" y="6327648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B8862B"/>
                </a:solidFill>
                <a:latin typeface="Cinzel"/>
              </a:defRPr>
            </a:pPr>
            <a:r>
              <a:t>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"/>
            <a:ext cx="7772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7A1F1F"/>
                </a:solidFill>
                <a:latin typeface="Cinzel"/>
              </a:defRPr>
            </a:pPr>
            <a:r>
              <a:t>❖  CHAPTER X • LIVING RELEVANCE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9935" y="420624"/>
            <a:ext cx="2011680" cy="274320"/>
          </a:xfrm>
          <a:prstGeom prst="roundRect">
            <a:avLst/>
          </a:prstGeom>
          <a:solidFill>
            <a:srgbClr val="F1E4C3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4A3220"/>
                </a:solidFill>
                <a:latin typeface="Cinzel"/>
              </a:defRPr>
            </a:pPr>
            <a:r>
              <a:t>FOLIO X DE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115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A1A0E"/>
                </a:solidFill>
                <a:latin typeface="Cinzel Decorative"/>
              </a:defRPr>
            </a:pPr>
            <a:r>
              <a:t>THE VERDICT: STILL RELEVANT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44752"/>
            <a:ext cx="10911535" cy="13716"/>
          </a:xfrm>
          <a:prstGeom prst="rect">
            <a:avLst/>
          </a:prstGeom>
          <a:solidFill>
            <a:srgbClr val="B8862B"/>
          </a:solidFill>
          <a:ln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1527" y="1353312"/>
            <a:ext cx="5486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7A1F1F"/>
                </a:solidFill>
                <a:latin typeface="Georgia"/>
              </a:defRPr>
            </a:pPr>
            <a:r>
              <a:t>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36192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3D2717"/>
                </a:solidFill>
                <a:latin typeface="EB Garamond"/>
              </a:defRPr>
            </a:pPr>
            <a:r>
              <a:t>A Living Ethical Compass for Contemporary Life and Global Citizenship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920240"/>
            <a:ext cx="4099255" cy="3950208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676656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4593031" y="1956816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656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4593031" y="5724144"/>
            <a:ext cx="109728" cy="109728"/>
          </a:xfrm>
          <a:prstGeom prst="diamond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3843223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41248" y="2121408"/>
            <a:ext cx="1554480" cy="219456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50" b="1">
                <a:solidFill>
                  <a:srgbClr val="F1E4C3"/>
                </a:solidFill>
                <a:latin typeface="Cinzel"/>
              </a:defRPr>
            </a:pPr>
            <a:r>
              <a:t>ARCHIVE • CH. 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178808"/>
            <a:ext cx="384322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i="1">
                <a:solidFill>
                  <a:srgbClr val="FAF4E6"/>
                </a:solidFill>
                <a:latin typeface="IM Fell English"/>
              </a:defRPr>
            </a:pPr>
            <a:r>
              <a:t>Gandhi, London, 1931</a:t>
            </a:r>
          </a:p>
          <a:p>
            <a:pPr>
              <a:defRPr sz="850" i="1">
                <a:solidFill>
                  <a:srgbClr val="D4BE88"/>
                </a:solidFill>
                <a:latin typeface="IM Fell English"/>
              </a:defRPr>
            </a:pPr>
            <a:r>
              <a:t>❦ Photos: Wikimedia Commons (public domain)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4754880"/>
            <a:ext cx="3843223" cy="100584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defRPr sz="850" b="1">
                <a:solidFill>
                  <a:srgbClr val="D4AF37"/>
                </a:solidFill>
                <a:latin typeface="Cinzel"/>
              </a:defRPr>
            </a:pPr>
            <a:r>
              <a:t>❝ DICTUM MAHATMA GANDHI</a:t>
            </a:r>
          </a:p>
          <a:p>
            <a:pPr>
              <a:defRPr sz="1050" i="1">
                <a:solidFill>
                  <a:srgbClr val="F1E4C3"/>
                </a:solidFill>
                <a:latin typeface="IM Fell English"/>
              </a:defRPr>
            </a:pPr>
            <a:r>
              <a:t>"You must be the change you wish to see in the world."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59375" y="1920240"/>
            <a:ext cx="6492240" cy="758952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69103" y="1993392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6303" y="1975104"/>
            <a:ext cx="5815584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A compass, not a rulebook: An enduring framework for moral decision-making in personal and public affairs.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9375" y="2770632"/>
            <a:ext cx="6492240" cy="758952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69103" y="2843784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6303" y="2825496"/>
            <a:ext cx="5815584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Choose peace, truth, and simplicity in everyday choices, leadership, and community action.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9375" y="3621024"/>
            <a:ext cx="6492240" cy="758952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69103" y="3694176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6303" y="3675888"/>
            <a:ext cx="5815584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"Be the change you wish to see in the world" (attributed to Gandhi) — Individual integrity inspires collective transformation.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9375" y="4471416"/>
            <a:ext cx="6492240" cy="758952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69103" y="4544568"/>
            <a:ext cx="347472" cy="347472"/>
          </a:xfrm>
          <a:prstGeom prst="roundRect">
            <a:avLst/>
          </a:prstGeom>
          <a:solidFill>
            <a:srgbClr val="7A1F1F"/>
          </a:solidFill>
          <a:ln w="1270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1E4C3"/>
                </a:solidFill>
                <a:latin typeface="Cinzel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6303" y="4526280"/>
            <a:ext cx="5815584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2A1A0E"/>
                </a:solidFill>
                <a:latin typeface="EB Garamond"/>
              </a:defRPr>
            </a:pPr>
            <a:r>
              <a:t>Thank you! Jai Hind!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59375" y="5367528"/>
            <a:ext cx="6492240" cy="50292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050" b="1">
                <a:solidFill>
                  <a:srgbClr val="D4AF37"/>
                </a:solidFill>
                <a:latin typeface="Cinzel"/>
              </a:defRPr>
            </a:pPr>
            <a:r>
              <a:t>❖  THANK YOU! JAI HIND!       —       IN MEMORIAM MAHATMA GANDHI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163056"/>
            <a:ext cx="10911535" cy="13716"/>
          </a:xfrm>
          <a:prstGeom prst="rect">
            <a:avLst/>
          </a:prstGeom>
          <a:solidFill>
            <a:srgbClr val="7A1F1F"/>
          </a:solidFill>
          <a:ln>
            <a:solidFill>
              <a:srgbClr val="7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217920"/>
            <a:ext cx="3474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7A1F1F"/>
                </a:solidFill>
                <a:latin typeface="Cinzel"/>
              </a:defRPr>
            </a:pPr>
            <a:r>
              <a:t>❖  GANDHI JAYANTI • II OCTOBER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6217920"/>
            <a:ext cx="41148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7A1F1F"/>
                </a:solidFill>
                <a:latin typeface="Cinzel"/>
              </a:defRPr>
            </a:pPr>
            <a:r>
              <a:t>TRUTH  •  NON-VIOLENCE  •  PEACE  •  DIGNITY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9935" y="6217920"/>
            <a:ext cx="2011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4A3220"/>
                </a:solidFill>
                <a:latin typeface="Cinzel"/>
              </a:defRPr>
            </a:pPr>
            <a:r>
              <a:t>FOLIO X / X  ❖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3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6" dur="35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35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" dur="35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